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6" r:id="rId1"/>
  </p:sldMasterIdLst>
  <p:notesMasterIdLst>
    <p:notesMasterId r:id="rId48"/>
  </p:notesMasterIdLst>
  <p:handoutMasterIdLst>
    <p:handoutMasterId r:id="rId49"/>
  </p:handoutMasterIdLst>
  <p:sldIdLst>
    <p:sldId id="256" r:id="rId2"/>
    <p:sldId id="441" r:id="rId3"/>
    <p:sldId id="442" r:id="rId4"/>
    <p:sldId id="443" r:id="rId5"/>
    <p:sldId id="445" r:id="rId6"/>
    <p:sldId id="446" r:id="rId7"/>
    <p:sldId id="447" r:id="rId8"/>
    <p:sldId id="448" r:id="rId9"/>
    <p:sldId id="449" r:id="rId10"/>
    <p:sldId id="450" r:id="rId11"/>
    <p:sldId id="451" r:id="rId12"/>
    <p:sldId id="452" r:id="rId13"/>
    <p:sldId id="453" r:id="rId14"/>
    <p:sldId id="455" r:id="rId15"/>
    <p:sldId id="456" r:id="rId16"/>
    <p:sldId id="457" r:id="rId17"/>
    <p:sldId id="458" r:id="rId18"/>
    <p:sldId id="459" r:id="rId19"/>
    <p:sldId id="460" r:id="rId20"/>
    <p:sldId id="461" r:id="rId21"/>
    <p:sldId id="462" r:id="rId22"/>
    <p:sldId id="463" r:id="rId23"/>
    <p:sldId id="464" r:id="rId24"/>
    <p:sldId id="465" r:id="rId25"/>
    <p:sldId id="467" r:id="rId26"/>
    <p:sldId id="468" r:id="rId27"/>
    <p:sldId id="469" r:id="rId28"/>
    <p:sldId id="470" r:id="rId29"/>
    <p:sldId id="471" r:id="rId30"/>
    <p:sldId id="473" r:id="rId31"/>
    <p:sldId id="474" r:id="rId32"/>
    <p:sldId id="475" r:id="rId33"/>
    <p:sldId id="476" r:id="rId34"/>
    <p:sldId id="477" r:id="rId35"/>
    <p:sldId id="478" r:id="rId36"/>
    <p:sldId id="479" r:id="rId37"/>
    <p:sldId id="480" r:id="rId38"/>
    <p:sldId id="481" r:id="rId39"/>
    <p:sldId id="482" r:id="rId40"/>
    <p:sldId id="483" r:id="rId41"/>
    <p:sldId id="484" r:id="rId42"/>
    <p:sldId id="485" r:id="rId43"/>
    <p:sldId id="486" r:id="rId44"/>
    <p:sldId id="487" r:id="rId45"/>
    <p:sldId id="488" r:id="rId46"/>
    <p:sldId id="489" r:id="rId47"/>
  </p:sldIdLst>
  <p:sldSz cx="9144000" cy="6858000" type="screen4x3"/>
  <p:notesSz cx="6858000" cy="9067800"/>
  <p:defaultTextStyle>
    <a:defPPr>
      <a:defRPr lang="en-US"/>
    </a:defPPr>
    <a:lvl1pPr algn="l" rtl="0" eaLnBrk="0" fontAlgn="base" hangingPunct="0">
      <a:spcBef>
        <a:spcPct val="0"/>
      </a:spcBef>
      <a:spcAft>
        <a:spcPct val="0"/>
      </a:spcAft>
      <a:defRPr sz="1200" kern="1200">
        <a:solidFill>
          <a:schemeClr val="tx1"/>
        </a:solidFill>
        <a:latin typeface="Arial" charset="0"/>
        <a:ea typeface="+mn-ea"/>
        <a:cs typeface="+mn-cs"/>
      </a:defRPr>
    </a:lvl1pPr>
    <a:lvl2pPr marL="457200" algn="l" rtl="0" eaLnBrk="0" fontAlgn="base" hangingPunct="0">
      <a:spcBef>
        <a:spcPct val="0"/>
      </a:spcBef>
      <a:spcAft>
        <a:spcPct val="0"/>
      </a:spcAft>
      <a:defRPr sz="1200" kern="1200">
        <a:solidFill>
          <a:schemeClr val="tx1"/>
        </a:solidFill>
        <a:latin typeface="Arial" charset="0"/>
        <a:ea typeface="+mn-ea"/>
        <a:cs typeface="+mn-cs"/>
      </a:defRPr>
    </a:lvl2pPr>
    <a:lvl3pPr marL="914400" algn="l" rtl="0" eaLnBrk="0" fontAlgn="base" hangingPunct="0">
      <a:spcBef>
        <a:spcPct val="0"/>
      </a:spcBef>
      <a:spcAft>
        <a:spcPct val="0"/>
      </a:spcAft>
      <a:defRPr sz="1200" kern="1200">
        <a:solidFill>
          <a:schemeClr val="tx1"/>
        </a:solidFill>
        <a:latin typeface="Arial" charset="0"/>
        <a:ea typeface="+mn-ea"/>
        <a:cs typeface="+mn-cs"/>
      </a:defRPr>
    </a:lvl3pPr>
    <a:lvl4pPr marL="1371600" algn="l" rtl="0" eaLnBrk="0" fontAlgn="base" hangingPunct="0">
      <a:spcBef>
        <a:spcPct val="0"/>
      </a:spcBef>
      <a:spcAft>
        <a:spcPct val="0"/>
      </a:spcAft>
      <a:defRPr sz="1200" kern="1200">
        <a:solidFill>
          <a:schemeClr val="tx1"/>
        </a:solidFill>
        <a:latin typeface="Arial" charset="0"/>
        <a:ea typeface="+mn-ea"/>
        <a:cs typeface="+mn-cs"/>
      </a:defRPr>
    </a:lvl4pPr>
    <a:lvl5pPr marL="1828800" algn="l" rtl="0" eaLnBrk="0" fontAlgn="base" hangingPunct="0">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56">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66CCFF"/>
    <a:srgbClr val="FF9999"/>
    <a:srgbClr val="FF99CC"/>
    <a:srgbClr val="3366FF"/>
    <a:srgbClr val="D27D00"/>
    <a:srgbClr val="F0EA00"/>
    <a:srgbClr val="DDD800"/>
    <a:srgbClr val="FFFF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19" autoAdjust="0"/>
    <p:restoredTop sz="95083" autoAdjust="0"/>
  </p:normalViewPr>
  <p:slideViewPr>
    <p:cSldViewPr>
      <p:cViewPr varScale="1">
        <p:scale>
          <a:sx n="81" d="100"/>
          <a:sy n="81" d="100"/>
        </p:scale>
        <p:origin x="1406" y="72"/>
      </p:cViewPr>
      <p:guideLst>
        <p:guide orient="horz" pos="2160"/>
        <p:guide pos="2880"/>
      </p:guideLst>
    </p:cSldViewPr>
  </p:slideViewPr>
  <p:outlineViewPr>
    <p:cViewPr>
      <p:scale>
        <a:sx n="33" d="100"/>
        <a:sy n="33" d="100"/>
      </p:scale>
      <p:origin x="0" y="11952"/>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6" d="100"/>
          <a:sy n="56" d="100"/>
        </p:scale>
        <p:origin x="-2886" y="-96"/>
      </p:cViewPr>
      <p:guideLst>
        <p:guide orient="horz" pos="2856"/>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5847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6594" name="Rectangle 2"/>
          <p:cNvSpPr>
            <a:spLocks noGrp="1" noChangeArrowheads="1"/>
          </p:cNvSpPr>
          <p:nvPr>
            <p:ph type="hdr" sz="quarter"/>
          </p:nvPr>
        </p:nvSpPr>
        <p:spPr bwMode="auto">
          <a:xfrm>
            <a:off x="0" y="0"/>
            <a:ext cx="2971800" cy="454025"/>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defRPr>
                <a:latin typeface="Times New Roman" pitchFamily="18" charset="0"/>
              </a:defRPr>
            </a:lvl1pPr>
          </a:lstStyle>
          <a:p>
            <a:endParaRPr lang="en-US"/>
          </a:p>
        </p:txBody>
      </p:sp>
      <p:sp>
        <p:nvSpPr>
          <p:cNvPr id="366595" name="Rectangle 3"/>
          <p:cNvSpPr>
            <a:spLocks noGrp="1" noChangeArrowheads="1"/>
          </p:cNvSpPr>
          <p:nvPr>
            <p:ph type="dt" idx="1"/>
          </p:nvPr>
        </p:nvSpPr>
        <p:spPr bwMode="auto">
          <a:xfrm>
            <a:off x="3886200" y="0"/>
            <a:ext cx="2971800" cy="454025"/>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defRPr>
                <a:latin typeface="Times New Roman" pitchFamily="18" charset="0"/>
              </a:defRPr>
            </a:lvl1pPr>
          </a:lstStyle>
          <a:p>
            <a:endParaRPr lang="en-US"/>
          </a:p>
        </p:txBody>
      </p:sp>
      <p:sp>
        <p:nvSpPr>
          <p:cNvPr id="366596" name="Rectangle 4"/>
          <p:cNvSpPr>
            <a:spLocks noGrp="1" noRot="1" noChangeAspect="1" noChangeArrowheads="1" noTextEdit="1"/>
          </p:cNvSpPr>
          <p:nvPr>
            <p:ph type="sldImg" idx="2"/>
          </p:nvPr>
        </p:nvSpPr>
        <p:spPr bwMode="auto">
          <a:xfrm>
            <a:off x="1162050" y="679450"/>
            <a:ext cx="4533900" cy="3400425"/>
          </a:xfrm>
          <a:prstGeom prst="rect">
            <a:avLst/>
          </a:prstGeom>
          <a:noFill/>
          <a:ln w="9525">
            <a:solidFill>
              <a:srgbClr val="000000"/>
            </a:solidFill>
            <a:miter lim="800000"/>
            <a:headEnd/>
            <a:tailEnd/>
          </a:ln>
          <a:effectLst/>
        </p:spPr>
      </p:sp>
      <p:sp>
        <p:nvSpPr>
          <p:cNvPr id="366597" name="Rectangle 5"/>
          <p:cNvSpPr>
            <a:spLocks noGrp="1" noChangeArrowheads="1"/>
          </p:cNvSpPr>
          <p:nvPr>
            <p:ph type="body" sz="quarter" idx="3"/>
          </p:nvPr>
        </p:nvSpPr>
        <p:spPr bwMode="auto">
          <a:xfrm>
            <a:off x="914400" y="4306888"/>
            <a:ext cx="5029200" cy="4081462"/>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0"/>
            <a:r>
              <a:rPr lang="en-US"/>
              <a:t>Second level</a:t>
            </a:r>
          </a:p>
          <a:p>
            <a:pPr lvl="0"/>
            <a:r>
              <a:rPr lang="en-US"/>
              <a:t>Third level</a:t>
            </a:r>
          </a:p>
          <a:p>
            <a:pPr lvl="0"/>
            <a:r>
              <a:rPr lang="en-US"/>
              <a:t>Fourth level</a:t>
            </a:r>
          </a:p>
          <a:p>
            <a:pPr lvl="0"/>
            <a:r>
              <a:rPr lang="en-US"/>
              <a:t>Fifth level</a:t>
            </a:r>
          </a:p>
        </p:txBody>
      </p:sp>
      <p:sp>
        <p:nvSpPr>
          <p:cNvPr id="366598" name="Rectangle 6"/>
          <p:cNvSpPr>
            <a:spLocks noGrp="1" noChangeArrowheads="1"/>
          </p:cNvSpPr>
          <p:nvPr>
            <p:ph type="ftr" sz="quarter" idx="4"/>
          </p:nvPr>
        </p:nvSpPr>
        <p:spPr bwMode="auto">
          <a:xfrm>
            <a:off x="0" y="8613775"/>
            <a:ext cx="2971800" cy="454025"/>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defRPr>
                <a:latin typeface="Times New Roman" pitchFamily="18" charset="0"/>
              </a:defRPr>
            </a:lvl1pPr>
          </a:lstStyle>
          <a:p>
            <a:endParaRPr lang="en-US"/>
          </a:p>
        </p:txBody>
      </p:sp>
      <p:sp>
        <p:nvSpPr>
          <p:cNvPr id="366599" name="Rectangle 7"/>
          <p:cNvSpPr>
            <a:spLocks noGrp="1" noChangeArrowheads="1"/>
          </p:cNvSpPr>
          <p:nvPr>
            <p:ph type="sldNum" sz="quarter" idx="5"/>
          </p:nvPr>
        </p:nvSpPr>
        <p:spPr bwMode="auto">
          <a:xfrm>
            <a:off x="3886200" y="8613775"/>
            <a:ext cx="2971800" cy="454025"/>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a:defRPr>
                <a:latin typeface="Times New Roman" pitchFamily="18" charset="0"/>
              </a:defRPr>
            </a:lvl1pPr>
          </a:lstStyle>
          <a:p>
            <a:fld id="{B971F334-4792-474A-B3EC-5F694BAD8119}" type="slidenum">
              <a:rPr lang="en-US"/>
              <a:pPr/>
              <a:t>‹#›</a:t>
            </a:fld>
            <a:endParaRPr lang="en-US"/>
          </a:p>
        </p:txBody>
      </p:sp>
    </p:spTree>
    <p:extLst>
      <p:ext uri="{BB962C8B-B14F-4D97-AF65-F5344CB8AC3E}">
        <p14:creationId xmlns:p14="http://schemas.microsoft.com/office/powerpoint/2010/main" val="30955134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EB5D5F-856D-40C0-9AA2-C857437A6DCC}" type="slidenum">
              <a:rPr lang="en-US"/>
              <a:pPr/>
              <a:t>1</a:t>
            </a:fld>
            <a:endParaRPr lang="en-US"/>
          </a:p>
        </p:txBody>
      </p:sp>
      <p:sp>
        <p:nvSpPr>
          <p:cNvPr id="1123330" name="Rectangle 2"/>
          <p:cNvSpPr>
            <a:spLocks noGrp="1" noRot="1" noChangeAspect="1" noChangeArrowheads="1" noTextEdit="1"/>
          </p:cNvSpPr>
          <p:nvPr>
            <p:ph type="sldImg"/>
          </p:nvPr>
        </p:nvSpPr>
        <p:spPr>
          <a:ln/>
        </p:spPr>
      </p:sp>
      <p:sp>
        <p:nvSpPr>
          <p:cNvPr id="112333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262250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2</a:t>
            </a:fld>
            <a:endParaRPr lang="en-US"/>
          </a:p>
        </p:txBody>
      </p:sp>
    </p:spTree>
    <p:extLst>
      <p:ext uri="{BB962C8B-B14F-4D97-AF65-F5344CB8AC3E}">
        <p14:creationId xmlns:p14="http://schemas.microsoft.com/office/powerpoint/2010/main" val="3775656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3</a:t>
            </a:fld>
            <a:endParaRPr lang="en-US"/>
          </a:p>
        </p:txBody>
      </p:sp>
    </p:spTree>
    <p:extLst>
      <p:ext uri="{BB962C8B-B14F-4D97-AF65-F5344CB8AC3E}">
        <p14:creationId xmlns:p14="http://schemas.microsoft.com/office/powerpoint/2010/main" val="1699663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4</a:t>
            </a:fld>
            <a:endParaRPr lang="en-US"/>
          </a:p>
        </p:txBody>
      </p:sp>
    </p:spTree>
    <p:extLst>
      <p:ext uri="{BB962C8B-B14F-4D97-AF65-F5344CB8AC3E}">
        <p14:creationId xmlns:p14="http://schemas.microsoft.com/office/powerpoint/2010/main" val="2160821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5</a:t>
            </a:fld>
            <a:endParaRPr lang="en-US"/>
          </a:p>
        </p:txBody>
      </p:sp>
    </p:spTree>
    <p:extLst>
      <p:ext uri="{BB962C8B-B14F-4D97-AF65-F5344CB8AC3E}">
        <p14:creationId xmlns:p14="http://schemas.microsoft.com/office/powerpoint/2010/main" val="2743953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6</a:t>
            </a:fld>
            <a:endParaRPr lang="en-US"/>
          </a:p>
        </p:txBody>
      </p:sp>
    </p:spTree>
    <p:extLst>
      <p:ext uri="{BB962C8B-B14F-4D97-AF65-F5344CB8AC3E}">
        <p14:creationId xmlns:p14="http://schemas.microsoft.com/office/powerpoint/2010/main" val="115584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7</a:t>
            </a:fld>
            <a:endParaRPr lang="en-US"/>
          </a:p>
        </p:txBody>
      </p:sp>
    </p:spTree>
    <p:extLst>
      <p:ext uri="{BB962C8B-B14F-4D97-AF65-F5344CB8AC3E}">
        <p14:creationId xmlns:p14="http://schemas.microsoft.com/office/powerpoint/2010/main" val="5107182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8</a:t>
            </a:fld>
            <a:endParaRPr lang="en-US"/>
          </a:p>
        </p:txBody>
      </p:sp>
    </p:spTree>
    <p:extLst>
      <p:ext uri="{BB962C8B-B14F-4D97-AF65-F5344CB8AC3E}">
        <p14:creationId xmlns:p14="http://schemas.microsoft.com/office/powerpoint/2010/main" val="10734376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9</a:t>
            </a:fld>
            <a:endParaRPr lang="en-US"/>
          </a:p>
        </p:txBody>
      </p:sp>
    </p:spTree>
    <p:extLst>
      <p:ext uri="{BB962C8B-B14F-4D97-AF65-F5344CB8AC3E}">
        <p14:creationId xmlns:p14="http://schemas.microsoft.com/office/powerpoint/2010/main" val="42227774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10</a:t>
            </a:fld>
            <a:endParaRPr lang="en-US"/>
          </a:p>
        </p:txBody>
      </p:sp>
    </p:spTree>
    <p:extLst>
      <p:ext uri="{BB962C8B-B14F-4D97-AF65-F5344CB8AC3E}">
        <p14:creationId xmlns:p14="http://schemas.microsoft.com/office/powerpoint/2010/main" val="3827057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11</a:t>
            </a:fld>
            <a:endParaRPr lang="en-US"/>
          </a:p>
        </p:txBody>
      </p:sp>
    </p:spTree>
    <p:extLst>
      <p:ext uri="{BB962C8B-B14F-4D97-AF65-F5344CB8AC3E}">
        <p14:creationId xmlns:p14="http://schemas.microsoft.com/office/powerpoint/2010/main" val="33516818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12</a:t>
            </a:fld>
            <a:endParaRPr lang="en-US"/>
          </a:p>
        </p:txBody>
      </p:sp>
    </p:spTree>
    <p:extLst>
      <p:ext uri="{BB962C8B-B14F-4D97-AF65-F5344CB8AC3E}">
        <p14:creationId xmlns:p14="http://schemas.microsoft.com/office/powerpoint/2010/main" val="38923785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13</a:t>
            </a:fld>
            <a:endParaRPr lang="en-US"/>
          </a:p>
        </p:txBody>
      </p:sp>
    </p:spTree>
    <p:extLst>
      <p:ext uri="{BB962C8B-B14F-4D97-AF65-F5344CB8AC3E}">
        <p14:creationId xmlns:p14="http://schemas.microsoft.com/office/powerpoint/2010/main" val="14365055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14</a:t>
            </a:fld>
            <a:endParaRPr lang="en-US"/>
          </a:p>
        </p:txBody>
      </p:sp>
    </p:spTree>
    <p:extLst>
      <p:ext uri="{BB962C8B-B14F-4D97-AF65-F5344CB8AC3E}">
        <p14:creationId xmlns:p14="http://schemas.microsoft.com/office/powerpoint/2010/main" val="32520187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15</a:t>
            </a:fld>
            <a:endParaRPr lang="en-US"/>
          </a:p>
        </p:txBody>
      </p:sp>
    </p:spTree>
    <p:extLst>
      <p:ext uri="{BB962C8B-B14F-4D97-AF65-F5344CB8AC3E}">
        <p14:creationId xmlns:p14="http://schemas.microsoft.com/office/powerpoint/2010/main" val="34313001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16</a:t>
            </a:fld>
            <a:endParaRPr lang="en-US"/>
          </a:p>
        </p:txBody>
      </p:sp>
    </p:spTree>
    <p:extLst>
      <p:ext uri="{BB962C8B-B14F-4D97-AF65-F5344CB8AC3E}">
        <p14:creationId xmlns:p14="http://schemas.microsoft.com/office/powerpoint/2010/main" val="34862381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17</a:t>
            </a:fld>
            <a:endParaRPr lang="en-US"/>
          </a:p>
        </p:txBody>
      </p:sp>
    </p:spTree>
    <p:extLst>
      <p:ext uri="{BB962C8B-B14F-4D97-AF65-F5344CB8AC3E}">
        <p14:creationId xmlns:p14="http://schemas.microsoft.com/office/powerpoint/2010/main" val="14001592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18</a:t>
            </a:fld>
            <a:endParaRPr lang="en-US"/>
          </a:p>
        </p:txBody>
      </p:sp>
    </p:spTree>
    <p:extLst>
      <p:ext uri="{BB962C8B-B14F-4D97-AF65-F5344CB8AC3E}">
        <p14:creationId xmlns:p14="http://schemas.microsoft.com/office/powerpoint/2010/main" val="22232770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19</a:t>
            </a:fld>
            <a:endParaRPr lang="en-US"/>
          </a:p>
        </p:txBody>
      </p:sp>
    </p:spTree>
    <p:extLst>
      <p:ext uri="{BB962C8B-B14F-4D97-AF65-F5344CB8AC3E}">
        <p14:creationId xmlns:p14="http://schemas.microsoft.com/office/powerpoint/2010/main" val="22197408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20</a:t>
            </a:fld>
            <a:endParaRPr lang="en-US"/>
          </a:p>
        </p:txBody>
      </p:sp>
    </p:spTree>
    <p:extLst>
      <p:ext uri="{BB962C8B-B14F-4D97-AF65-F5344CB8AC3E}">
        <p14:creationId xmlns:p14="http://schemas.microsoft.com/office/powerpoint/2010/main" val="1490486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21</a:t>
            </a:fld>
            <a:endParaRPr lang="en-US"/>
          </a:p>
        </p:txBody>
      </p:sp>
    </p:spTree>
    <p:extLst>
      <p:ext uri="{BB962C8B-B14F-4D97-AF65-F5344CB8AC3E}">
        <p14:creationId xmlns:p14="http://schemas.microsoft.com/office/powerpoint/2010/main" val="22138755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22</a:t>
            </a:fld>
            <a:endParaRPr lang="en-US"/>
          </a:p>
        </p:txBody>
      </p:sp>
    </p:spTree>
    <p:extLst>
      <p:ext uri="{BB962C8B-B14F-4D97-AF65-F5344CB8AC3E}">
        <p14:creationId xmlns:p14="http://schemas.microsoft.com/office/powerpoint/2010/main" val="23554162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23</a:t>
            </a:fld>
            <a:endParaRPr lang="en-US"/>
          </a:p>
        </p:txBody>
      </p:sp>
    </p:spTree>
    <p:extLst>
      <p:ext uri="{BB962C8B-B14F-4D97-AF65-F5344CB8AC3E}">
        <p14:creationId xmlns:p14="http://schemas.microsoft.com/office/powerpoint/2010/main" val="30867628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24</a:t>
            </a:fld>
            <a:endParaRPr lang="en-US"/>
          </a:p>
        </p:txBody>
      </p:sp>
    </p:spTree>
    <p:extLst>
      <p:ext uri="{BB962C8B-B14F-4D97-AF65-F5344CB8AC3E}">
        <p14:creationId xmlns:p14="http://schemas.microsoft.com/office/powerpoint/2010/main" val="18791941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25</a:t>
            </a:fld>
            <a:endParaRPr lang="en-US"/>
          </a:p>
        </p:txBody>
      </p:sp>
    </p:spTree>
    <p:extLst>
      <p:ext uri="{BB962C8B-B14F-4D97-AF65-F5344CB8AC3E}">
        <p14:creationId xmlns:p14="http://schemas.microsoft.com/office/powerpoint/2010/main" val="4166872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26</a:t>
            </a:fld>
            <a:endParaRPr lang="en-US"/>
          </a:p>
        </p:txBody>
      </p:sp>
    </p:spTree>
    <p:extLst>
      <p:ext uri="{BB962C8B-B14F-4D97-AF65-F5344CB8AC3E}">
        <p14:creationId xmlns:p14="http://schemas.microsoft.com/office/powerpoint/2010/main" val="10606474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1F334-4792-474A-B3EC-5F694BAD8119}" type="slidenum">
              <a:rPr lang="en-US" smtClean="0"/>
              <a:pPr/>
              <a:t>27</a:t>
            </a:fld>
            <a:endParaRPr lang="en-US"/>
          </a:p>
        </p:txBody>
      </p:sp>
    </p:spTree>
    <p:extLst>
      <p:ext uri="{BB962C8B-B14F-4D97-AF65-F5344CB8AC3E}">
        <p14:creationId xmlns:p14="http://schemas.microsoft.com/office/powerpoint/2010/main" val="23715610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971F334-4792-474A-B3EC-5F694BAD8119}" type="slidenum">
              <a:rPr lang="en-US" smtClean="0"/>
              <a:pPr/>
              <a:t>28</a:t>
            </a:fld>
            <a:endParaRPr lang="en-US"/>
          </a:p>
        </p:txBody>
      </p:sp>
    </p:spTree>
    <p:extLst>
      <p:ext uri="{BB962C8B-B14F-4D97-AF65-F5344CB8AC3E}">
        <p14:creationId xmlns:p14="http://schemas.microsoft.com/office/powerpoint/2010/main" val="8913774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971F334-4792-474A-B3EC-5F694BAD8119}" type="slidenum">
              <a:rPr lang="en-US" smtClean="0"/>
              <a:pPr/>
              <a:t>29</a:t>
            </a:fld>
            <a:endParaRPr lang="en-US"/>
          </a:p>
        </p:txBody>
      </p:sp>
    </p:spTree>
    <p:extLst>
      <p:ext uri="{BB962C8B-B14F-4D97-AF65-F5344CB8AC3E}">
        <p14:creationId xmlns:p14="http://schemas.microsoft.com/office/powerpoint/2010/main" val="4554119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971F334-4792-474A-B3EC-5F694BAD8119}" type="slidenum">
              <a:rPr lang="en-US" smtClean="0"/>
              <a:pPr/>
              <a:t>30</a:t>
            </a:fld>
            <a:endParaRPr lang="en-US"/>
          </a:p>
        </p:txBody>
      </p:sp>
    </p:spTree>
    <p:extLst>
      <p:ext uri="{BB962C8B-B14F-4D97-AF65-F5344CB8AC3E}">
        <p14:creationId xmlns:p14="http://schemas.microsoft.com/office/powerpoint/2010/main" val="35391754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971F334-4792-474A-B3EC-5F694BAD8119}" type="slidenum">
              <a:rPr lang="en-US" smtClean="0"/>
              <a:pPr/>
              <a:t>31</a:t>
            </a:fld>
            <a:endParaRPr lang="en-US"/>
          </a:p>
        </p:txBody>
      </p:sp>
    </p:spTree>
    <p:extLst>
      <p:ext uri="{BB962C8B-B14F-4D97-AF65-F5344CB8AC3E}">
        <p14:creationId xmlns:p14="http://schemas.microsoft.com/office/powerpoint/2010/main" val="24864077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971F334-4792-474A-B3EC-5F694BAD8119}" type="slidenum">
              <a:rPr lang="en-US" smtClean="0"/>
              <a:pPr/>
              <a:t>32</a:t>
            </a:fld>
            <a:endParaRPr lang="en-US"/>
          </a:p>
        </p:txBody>
      </p:sp>
    </p:spTree>
    <p:extLst>
      <p:ext uri="{BB962C8B-B14F-4D97-AF65-F5344CB8AC3E}">
        <p14:creationId xmlns:p14="http://schemas.microsoft.com/office/powerpoint/2010/main" val="23903417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971F334-4792-474A-B3EC-5F694BAD8119}" type="slidenum">
              <a:rPr lang="en-US" smtClean="0"/>
              <a:pPr/>
              <a:t>33</a:t>
            </a:fld>
            <a:endParaRPr lang="en-US"/>
          </a:p>
        </p:txBody>
      </p:sp>
    </p:spTree>
    <p:extLst>
      <p:ext uri="{BB962C8B-B14F-4D97-AF65-F5344CB8AC3E}">
        <p14:creationId xmlns:p14="http://schemas.microsoft.com/office/powerpoint/2010/main" val="4200510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971F334-4792-474A-B3EC-5F694BAD8119}" type="slidenum">
              <a:rPr lang="en-US" smtClean="0"/>
              <a:pPr/>
              <a:t>34</a:t>
            </a:fld>
            <a:endParaRPr lang="en-US"/>
          </a:p>
        </p:txBody>
      </p:sp>
    </p:spTree>
    <p:extLst>
      <p:ext uri="{BB962C8B-B14F-4D97-AF65-F5344CB8AC3E}">
        <p14:creationId xmlns:p14="http://schemas.microsoft.com/office/powerpoint/2010/main" val="12485687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971F334-4792-474A-B3EC-5F694BAD8119}" type="slidenum">
              <a:rPr lang="en-US" smtClean="0"/>
              <a:pPr/>
              <a:t>35</a:t>
            </a:fld>
            <a:endParaRPr lang="en-US"/>
          </a:p>
        </p:txBody>
      </p:sp>
    </p:spTree>
    <p:extLst>
      <p:ext uri="{BB962C8B-B14F-4D97-AF65-F5344CB8AC3E}">
        <p14:creationId xmlns:p14="http://schemas.microsoft.com/office/powerpoint/2010/main" val="1598033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971F334-4792-474A-B3EC-5F694BAD8119}" type="slidenum">
              <a:rPr lang="en-US" smtClean="0"/>
              <a:pPr/>
              <a:t>36</a:t>
            </a:fld>
            <a:endParaRPr lang="en-US"/>
          </a:p>
        </p:txBody>
      </p:sp>
    </p:spTree>
    <p:extLst>
      <p:ext uri="{BB962C8B-B14F-4D97-AF65-F5344CB8AC3E}">
        <p14:creationId xmlns:p14="http://schemas.microsoft.com/office/powerpoint/2010/main" val="36734091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971F334-4792-474A-B3EC-5F694BAD8119}" type="slidenum">
              <a:rPr lang="en-US" smtClean="0"/>
              <a:pPr/>
              <a:t>37</a:t>
            </a:fld>
            <a:endParaRPr lang="en-US"/>
          </a:p>
        </p:txBody>
      </p:sp>
    </p:spTree>
    <p:extLst>
      <p:ext uri="{BB962C8B-B14F-4D97-AF65-F5344CB8AC3E}">
        <p14:creationId xmlns:p14="http://schemas.microsoft.com/office/powerpoint/2010/main" val="28301058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971F334-4792-474A-B3EC-5F694BAD8119}" type="slidenum">
              <a:rPr lang="en-US" smtClean="0"/>
              <a:pPr/>
              <a:t>38</a:t>
            </a:fld>
            <a:endParaRPr lang="en-US"/>
          </a:p>
        </p:txBody>
      </p:sp>
    </p:spTree>
    <p:extLst>
      <p:ext uri="{BB962C8B-B14F-4D97-AF65-F5344CB8AC3E}">
        <p14:creationId xmlns:p14="http://schemas.microsoft.com/office/powerpoint/2010/main" val="11504308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971F334-4792-474A-B3EC-5F694BAD8119}" type="slidenum">
              <a:rPr lang="en-US" smtClean="0"/>
              <a:pPr/>
              <a:t>39</a:t>
            </a:fld>
            <a:endParaRPr lang="en-US"/>
          </a:p>
        </p:txBody>
      </p:sp>
    </p:spTree>
    <p:extLst>
      <p:ext uri="{BB962C8B-B14F-4D97-AF65-F5344CB8AC3E}">
        <p14:creationId xmlns:p14="http://schemas.microsoft.com/office/powerpoint/2010/main" val="12842830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971F334-4792-474A-B3EC-5F694BAD8119}" type="slidenum">
              <a:rPr lang="en-US" smtClean="0"/>
              <a:pPr/>
              <a:t>40</a:t>
            </a:fld>
            <a:endParaRPr lang="en-US"/>
          </a:p>
        </p:txBody>
      </p:sp>
    </p:spTree>
    <p:extLst>
      <p:ext uri="{BB962C8B-B14F-4D97-AF65-F5344CB8AC3E}">
        <p14:creationId xmlns:p14="http://schemas.microsoft.com/office/powerpoint/2010/main" val="28173166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971F334-4792-474A-B3EC-5F694BAD8119}" type="slidenum">
              <a:rPr lang="en-US" smtClean="0"/>
              <a:pPr/>
              <a:t>41</a:t>
            </a:fld>
            <a:endParaRPr lang="en-US"/>
          </a:p>
        </p:txBody>
      </p:sp>
    </p:spTree>
    <p:extLst>
      <p:ext uri="{BB962C8B-B14F-4D97-AF65-F5344CB8AC3E}">
        <p14:creationId xmlns:p14="http://schemas.microsoft.com/office/powerpoint/2010/main" val="17163555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971F334-4792-474A-B3EC-5F694BAD8119}" type="slidenum">
              <a:rPr lang="en-US" smtClean="0"/>
              <a:pPr/>
              <a:t>42</a:t>
            </a:fld>
            <a:endParaRPr lang="en-US"/>
          </a:p>
        </p:txBody>
      </p:sp>
    </p:spTree>
    <p:extLst>
      <p:ext uri="{BB962C8B-B14F-4D97-AF65-F5344CB8AC3E}">
        <p14:creationId xmlns:p14="http://schemas.microsoft.com/office/powerpoint/2010/main" val="37724013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971F334-4792-474A-B3EC-5F694BAD8119}" type="slidenum">
              <a:rPr lang="en-US" smtClean="0"/>
              <a:pPr/>
              <a:t>43</a:t>
            </a:fld>
            <a:endParaRPr lang="en-US"/>
          </a:p>
        </p:txBody>
      </p:sp>
    </p:spTree>
    <p:extLst>
      <p:ext uri="{BB962C8B-B14F-4D97-AF65-F5344CB8AC3E}">
        <p14:creationId xmlns:p14="http://schemas.microsoft.com/office/powerpoint/2010/main" val="37718172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971F334-4792-474A-B3EC-5F694BAD8119}" type="slidenum">
              <a:rPr lang="en-US" smtClean="0"/>
              <a:pPr/>
              <a:t>44</a:t>
            </a:fld>
            <a:endParaRPr lang="en-US"/>
          </a:p>
        </p:txBody>
      </p:sp>
    </p:spTree>
    <p:extLst>
      <p:ext uri="{BB962C8B-B14F-4D97-AF65-F5344CB8AC3E}">
        <p14:creationId xmlns:p14="http://schemas.microsoft.com/office/powerpoint/2010/main" val="28911979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971F334-4792-474A-B3EC-5F694BAD8119}" type="slidenum">
              <a:rPr lang="en-US" smtClean="0"/>
              <a:pPr/>
              <a:t>45</a:t>
            </a:fld>
            <a:endParaRPr lang="en-US"/>
          </a:p>
        </p:txBody>
      </p:sp>
    </p:spTree>
    <p:extLst>
      <p:ext uri="{BB962C8B-B14F-4D97-AF65-F5344CB8AC3E}">
        <p14:creationId xmlns:p14="http://schemas.microsoft.com/office/powerpoint/2010/main" val="15379387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971F334-4792-474A-B3EC-5F694BAD8119}" type="slidenum">
              <a:rPr lang="en-US" smtClean="0"/>
              <a:pPr/>
              <a:t>46</a:t>
            </a:fld>
            <a:endParaRPr lang="en-US"/>
          </a:p>
        </p:txBody>
      </p:sp>
    </p:spTree>
    <p:extLst>
      <p:ext uri="{BB962C8B-B14F-4D97-AF65-F5344CB8AC3E}">
        <p14:creationId xmlns:p14="http://schemas.microsoft.com/office/powerpoint/2010/main" val="188159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r>
              <a:rPr lang="en-US" dirty="0"/>
              <a:t>EENG 514        Ch. 4: Sequential Circuits</a:t>
            </a:r>
          </a:p>
        </p:txBody>
      </p:sp>
      <p:sp>
        <p:nvSpPr>
          <p:cNvPr id="5" name="Footer Placeholder 4"/>
          <p:cNvSpPr>
            <a:spLocks noGrp="1"/>
          </p:cNvSpPr>
          <p:nvPr>
            <p:ph type="ftr" sz="quarter" idx="11"/>
          </p:nvPr>
        </p:nvSpPr>
        <p:spPr/>
        <p:txBody>
          <a:bodyPr/>
          <a:lstStyle>
            <a:lvl1pPr>
              <a:defRPr/>
            </a:lvl1pPr>
          </a:lstStyle>
          <a:p>
            <a:r>
              <a:rPr lang="en-US"/>
              <a:t>Dr. Abou-Auf</a:t>
            </a:r>
          </a:p>
        </p:txBody>
      </p:sp>
      <p:sp>
        <p:nvSpPr>
          <p:cNvPr id="6" name="Slide Number Placeholder 5"/>
          <p:cNvSpPr>
            <a:spLocks noGrp="1"/>
          </p:cNvSpPr>
          <p:nvPr>
            <p:ph type="sldNum" sz="quarter" idx="12"/>
          </p:nvPr>
        </p:nvSpPr>
        <p:spPr/>
        <p:txBody>
          <a:bodyPr/>
          <a:lstStyle>
            <a:lvl1pPr>
              <a:defRPr/>
            </a:lvl1pPr>
          </a:lstStyle>
          <a:p>
            <a:r>
              <a:rPr lang="en-US" dirty="0"/>
              <a:t> Fall 2017               Slide </a:t>
            </a:r>
            <a:fld id="{B742BF93-29A9-407A-ABC1-9FA7C6A109D2}"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r>
              <a:rPr lang="en-US" dirty="0"/>
              <a:t>EENG 514        Ch. 4: Sequential Circuits</a:t>
            </a:r>
          </a:p>
        </p:txBody>
      </p:sp>
      <p:sp>
        <p:nvSpPr>
          <p:cNvPr id="5" name="Footer Placeholder 4"/>
          <p:cNvSpPr>
            <a:spLocks noGrp="1"/>
          </p:cNvSpPr>
          <p:nvPr>
            <p:ph type="ftr" sz="quarter" idx="11"/>
          </p:nvPr>
        </p:nvSpPr>
        <p:spPr/>
        <p:txBody>
          <a:bodyPr/>
          <a:lstStyle>
            <a:lvl1pPr>
              <a:defRPr/>
            </a:lvl1pPr>
          </a:lstStyle>
          <a:p>
            <a:r>
              <a:rPr lang="en-US"/>
              <a:t>Dr. Abou-Auf</a:t>
            </a:r>
          </a:p>
        </p:txBody>
      </p:sp>
      <p:sp>
        <p:nvSpPr>
          <p:cNvPr id="6" name="Slide Number Placeholder 5"/>
          <p:cNvSpPr>
            <a:spLocks noGrp="1"/>
          </p:cNvSpPr>
          <p:nvPr>
            <p:ph type="sldNum" sz="quarter" idx="12"/>
          </p:nvPr>
        </p:nvSpPr>
        <p:spPr/>
        <p:txBody>
          <a:bodyPr/>
          <a:lstStyle>
            <a:lvl1pPr>
              <a:defRPr/>
            </a:lvl1pPr>
          </a:lstStyle>
          <a:p>
            <a:r>
              <a:rPr lang="en-US" dirty="0"/>
              <a:t> Fall 2017              Slide </a:t>
            </a:r>
            <a:fld id="{5CC4C93E-4874-49C6-953F-4E43A5161E1D}"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r>
              <a:rPr lang="en-US" dirty="0"/>
              <a:t>EENG 514        Ch. 4: Sequential Circuits</a:t>
            </a:r>
          </a:p>
        </p:txBody>
      </p:sp>
      <p:sp>
        <p:nvSpPr>
          <p:cNvPr id="5" name="Footer Placeholder 4"/>
          <p:cNvSpPr>
            <a:spLocks noGrp="1"/>
          </p:cNvSpPr>
          <p:nvPr>
            <p:ph type="ftr" sz="quarter" idx="11"/>
          </p:nvPr>
        </p:nvSpPr>
        <p:spPr/>
        <p:txBody>
          <a:bodyPr/>
          <a:lstStyle>
            <a:lvl1pPr>
              <a:defRPr/>
            </a:lvl1pPr>
          </a:lstStyle>
          <a:p>
            <a:r>
              <a:rPr lang="en-US"/>
              <a:t>Dr. Abou-Auf</a:t>
            </a:r>
          </a:p>
        </p:txBody>
      </p:sp>
      <p:sp>
        <p:nvSpPr>
          <p:cNvPr id="6" name="Slide Number Placeholder 5"/>
          <p:cNvSpPr>
            <a:spLocks noGrp="1"/>
          </p:cNvSpPr>
          <p:nvPr>
            <p:ph type="sldNum" sz="quarter" idx="12"/>
          </p:nvPr>
        </p:nvSpPr>
        <p:spPr/>
        <p:txBody>
          <a:bodyPr/>
          <a:lstStyle>
            <a:lvl1pPr>
              <a:defRPr/>
            </a:lvl1pPr>
          </a:lstStyle>
          <a:p>
            <a:r>
              <a:rPr lang="en-US" dirty="0"/>
              <a:t> Fall 2008               Slide </a:t>
            </a:r>
            <a:fld id="{0015E19A-8F60-4879-9299-E2215AE00B2B}" type="slidenum">
              <a:rPr lang="en-US"/>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066800"/>
            <a:ext cx="426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66800"/>
            <a:ext cx="426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r>
              <a:rPr lang="en-US" dirty="0"/>
              <a:t>EENG 514        Ch. 4: Sequential Circuits</a:t>
            </a:r>
          </a:p>
        </p:txBody>
      </p:sp>
      <p:sp>
        <p:nvSpPr>
          <p:cNvPr id="6" name="Footer Placeholder 5"/>
          <p:cNvSpPr>
            <a:spLocks noGrp="1"/>
          </p:cNvSpPr>
          <p:nvPr>
            <p:ph type="ftr" sz="quarter" idx="11"/>
          </p:nvPr>
        </p:nvSpPr>
        <p:spPr/>
        <p:txBody>
          <a:bodyPr/>
          <a:lstStyle>
            <a:lvl1pPr>
              <a:defRPr/>
            </a:lvl1pPr>
          </a:lstStyle>
          <a:p>
            <a:r>
              <a:rPr lang="en-US"/>
              <a:t>Dr. Abou-Auf</a:t>
            </a:r>
          </a:p>
        </p:txBody>
      </p:sp>
      <p:sp>
        <p:nvSpPr>
          <p:cNvPr id="7" name="Slide Number Placeholder 6"/>
          <p:cNvSpPr>
            <a:spLocks noGrp="1"/>
          </p:cNvSpPr>
          <p:nvPr>
            <p:ph type="sldNum" sz="quarter" idx="12"/>
          </p:nvPr>
        </p:nvSpPr>
        <p:spPr/>
        <p:txBody>
          <a:bodyPr/>
          <a:lstStyle>
            <a:lvl1pPr>
              <a:defRPr/>
            </a:lvl1pPr>
          </a:lstStyle>
          <a:p>
            <a:r>
              <a:rPr lang="en-US" dirty="0"/>
              <a:t> Fall 2008               Slide </a:t>
            </a:r>
            <a:fld id="{EFE65D8E-73C5-47C9-B805-68FA5CD39AB2}" type="slidenum">
              <a:rPr lang="en-US"/>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r>
              <a:rPr lang="en-US" dirty="0"/>
              <a:t>EENG 514        Ch. 4: Sequential Circuits</a:t>
            </a:r>
          </a:p>
        </p:txBody>
      </p:sp>
      <p:sp>
        <p:nvSpPr>
          <p:cNvPr id="8" name="Footer Placeholder 7"/>
          <p:cNvSpPr>
            <a:spLocks noGrp="1"/>
          </p:cNvSpPr>
          <p:nvPr>
            <p:ph type="ftr" sz="quarter" idx="11"/>
          </p:nvPr>
        </p:nvSpPr>
        <p:spPr/>
        <p:txBody>
          <a:bodyPr/>
          <a:lstStyle>
            <a:lvl1pPr>
              <a:defRPr/>
            </a:lvl1pPr>
          </a:lstStyle>
          <a:p>
            <a:r>
              <a:rPr lang="en-US"/>
              <a:t>Dr. Abou-Auf</a:t>
            </a:r>
          </a:p>
        </p:txBody>
      </p:sp>
      <p:sp>
        <p:nvSpPr>
          <p:cNvPr id="9" name="Slide Number Placeholder 8"/>
          <p:cNvSpPr>
            <a:spLocks noGrp="1"/>
          </p:cNvSpPr>
          <p:nvPr>
            <p:ph type="sldNum" sz="quarter" idx="12"/>
          </p:nvPr>
        </p:nvSpPr>
        <p:spPr/>
        <p:txBody>
          <a:bodyPr/>
          <a:lstStyle>
            <a:lvl1pPr>
              <a:defRPr/>
            </a:lvl1pPr>
          </a:lstStyle>
          <a:p>
            <a:r>
              <a:rPr lang="en-US" dirty="0"/>
              <a:t> Fall 2008               Slide </a:t>
            </a:r>
            <a:fld id="{1BC224EA-C687-405C-A076-1692F4927118}" type="slidenum">
              <a:rPr lang="en-US"/>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lvl1pPr>
              <a:defRPr/>
            </a:lvl1pPr>
          </a:lstStyle>
          <a:p>
            <a:r>
              <a:rPr lang="en-US" dirty="0"/>
              <a:t>EENG 514        Ch. 4: Sequential Circuits</a:t>
            </a:r>
          </a:p>
        </p:txBody>
      </p:sp>
      <p:sp>
        <p:nvSpPr>
          <p:cNvPr id="4" name="Footer Placeholder 3"/>
          <p:cNvSpPr>
            <a:spLocks noGrp="1"/>
          </p:cNvSpPr>
          <p:nvPr>
            <p:ph type="ftr" sz="quarter" idx="11"/>
          </p:nvPr>
        </p:nvSpPr>
        <p:spPr/>
        <p:txBody>
          <a:bodyPr/>
          <a:lstStyle>
            <a:lvl1pPr>
              <a:defRPr/>
            </a:lvl1pPr>
          </a:lstStyle>
          <a:p>
            <a:r>
              <a:rPr lang="en-US"/>
              <a:t>Dr. Abou-Auf</a:t>
            </a:r>
          </a:p>
        </p:txBody>
      </p:sp>
      <p:sp>
        <p:nvSpPr>
          <p:cNvPr id="5" name="Slide Number Placeholder 4"/>
          <p:cNvSpPr>
            <a:spLocks noGrp="1"/>
          </p:cNvSpPr>
          <p:nvPr>
            <p:ph type="sldNum" sz="quarter" idx="12"/>
          </p:nvPr>
        </p:nvSpPr>
        <p:spPr/>
        <p:txBody>
          <a:bodyPr/>
          <a:lstStyle>
            <a:lvl1pPr>
              <a:defRPr/>
            </a:lvl1pPr>
          </a:lstStyle>
          <a:p>
            <a:r>
              <a:rPr lang="en-US" dirty="0"/>
              <a:t> Fall 2017               Slide </a:t>
            </a:r>
            <a:fld id="{A6155446-2E20-4AFF-8802-658844AC3B7D}"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r>
              <a:rPr lang="en-US" dirty="0"/>
              <a:t>EENG 514        Ch. 4: Sequential Circuits</a:t>
            </a:r>
          </a:p>
        </p:txBody>
      </p:sp>
      <p:sp>
        <p:nvSpPr>
          <p:cNvPr id="3" name="Footer Placeholder 2"/>
          <p:cNvSpPr>
            <a:spLocks noGrp="1"/>
          </p:cNvSpPr>
          <p:nvPr>
            <p:ph type="ftr" sz="quarter" idx="11"/>
          </p:nvPr>
        </p:nvSpPr>
        <p:spPr/>
        <p:txBody>
          <a:bodyPr/>
          <a:lstStyle>
            <a:lvl1pPr>
              <a:defRPr/>
            </a:lvl1pPr>
          </a:lstStyle>
          <a:p>
            <a:r>
              <a:rPr lang="en-US"/>
              <a:t>Dr. Abou-Auf</a:t>
            </a:r>
          </a:p>
        </p:txBody>
      </p:sp>
      <p:sp>
        <p:nvSpPr>
          <p:cNvPr id="4" name="Slide Number Placeholder 3"/>
          <p:cNvSpPr>
            <a:spLocks noGrp="1"/>
          </p:cNvSpPr>
          <p:nvPr>
            <p:ph type="sldNum" sz="quarter" idx="12"/>
          </p:nvPr>
        </p:nvSpPr>
        <p:spPr/>
        <p:txBody>
          <a:bodyPr/>
          <a:lstStyle>
            <a:lvl1pPr>
              <a:defRPr/>
            </a:lvl1pPr>
          </a:lstStyle>
          <a:p>
            <a:r>
              <a:rPr lang="en-US" dirty="0"/>
              <a:t> Fall 2017               Slide </a:t>
            </a:r>
            <a:fld id="{8F94FE06-08FC-4434-9B30-42D0A5ECC4E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r>
              <a:rPr lang="en-US" dirty="0"/>
              <a:t>EENG 514        Ch. 4: Sequential Circuits</a:t>
            </a:r>
          </a:p>
        </p:txBody>
      </p:sp>
      <p:sp>
        <p:nvSpPr>
          <p:cNvPr id="6" name="Footer Placeholder 5"/>
          <p:cNvSpPr>
            <a:spLocks noGrp="1"/>
          </p:cNvSpPr>
          <p:nvPr>
            <p:ph type="ftr" sz="quarter" idx="11"/>
          </p:nvPr>
        </p:nvSpPr>
        <p:spPr/>
        <p:txBody>
          <a:bodyPr/>
          <a:lstStyle>
            <a:lvl1pPr>
              <a:defRPr/>
            </a:lvl1pPr>
          </a:lstStyle>
          <a:p>
            <a:r>
              <a:rPr lang="en-US"/>
              <a:t>Dr. Abou-Auf</a:t>
            </a:r>
          </a:p>
        </p:txBody>
      </p:sp>
      <p:sp>
        <p:nvSpPr>
          <p:cNvPr id="7" name="Slide Number Placeholder 6"/>
          <p:cNvSpPr>
            <a:spLocks noGrp="1"/>
          </p:cNvSpPr>
          <p:nvPr>
            <p:ph type="sldNum" sz="quarter" idx="12"/>
          </p:nvPr>
        </p:nvSpPr>
        <p:spPr/>
        <p:txBody>
          <a:bodyPr/>
          <a:lstStyle>
            <a:lvl1pPr>
              <a:defRPr/>
            </a:lvl1pPr>
          </a:lstStyle>
          <a:p>
            <a:r>
              <a:rPr lang="en-US" dirty="0"/>
              <a:t> Fall 2008               Slide </a:t>
            </a:r>
            <a:fld id="{323AEB4C-4816-491A-9933-1AA579826D7F}" type="slidenum">
              <a:rPr lang="en-US"/>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r>
              <a:rPr lang="en-US" dirty="0"/>
              <a:t>EENG 514        Ch. 4: Sequential Circuits</a:t>
            </a:r>
          </a:p>
        </p:txBody>
      </p:sp>
      <p:sp>
        <p:nvSpPr>
          <p:cNvPr id="6" name="Footer Placeholder 5"/>
          <p:cNvSpPr>
            <a:spLocks noGrp="1"/>
          </p:cNvSpPr>
          <p:nvPr>
            <p:ph type="ftr" sz="quarter" idx="11"/>
          </p:nvPr>
        </p:nvSpPr>
        <p:spPr/>
        <p:txBody>
          <a:bodyPr/>
          <a:lstStyle>
            <a:lvl1pPr>
              <a:defRPr/>
            </a:lvl1pPr>
          </a:lstStyle>
          <a:p>
            <a:r>
              <a:rPr lang="en-US"/>
              <a:t>Dr. Abou-Auf</a:t>
            </a:r>
          </a:p>
        </p:txBody>
      </p:sp>
      <p:sp>
        <p:nvSpPr>
          <p:cNvPr id="7" name="Slide Number Placeholder 6"/>
          <p:cNvSpPr>
            <a:spLocks noGrp="1"/>
          </p:cNvSpPr>
          <p:nvPr>
            <p:ph type="sldNum" sz="quarter" idx="12"/>
          </p:nvPr>
        </p:nvSpPr>
        <p:spPr/>
        <p:txBody>
          <a:bodyPr/>
          <a:lstStyle>
            <a:lvl1pPr>
              <a:defRPr/>
            </a:lvl1pPr>
          </a:lstStyle>
          <a:p>
            <a:r>
              <a:rPr lang="en-US" dirty="0"/>
              <a:t> Fall 2008               Slide </a:t>
            </a:r>
            <a:fld id="{313961AC-A2B9-46B1-805C-3A03D250B2C4}" type="slidenum">
              <a:rPr lang="en-US"/>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r>
              <a:rPr lang="en-US" dirty="0"/>
              <a:t>EENG 514        Ch. 4: Sequential Circuits</a:t>
            </a:r>
          </a:p>
        </p:txBody>
      </p:sp>
      <p:sp>
        <p:nvSpPr>
          <p:cNvPr id="5" name="Footer Placeholder 4"/>
          <p:cNvSpPr>
            <a:spLocks noGrp="1"/>
          </p:cNvSpPr>
          <p:nvPr>
            <p:ph type="ftr" sz="quarter" idx="11"/>
          </p:nvPr>
        </p:nvSpPr>
        <p:spPr/>
        <p:txBody>
          <a:bodyPr/>
          <a:lstStyle>
            <a:lvl1pPr>
              <a:defRPr/>
            </a:lvl1pPr>
          </a:lstStyle>
          <a:p>
            <a:r>
              <a:rPr lang="en-US"/>
              <a:t>Dr. Abou-Auf</a:t>
            </a:r>
          </a:p>
        </p:txBody>
      </p:sp>
      <p:sp>
        <p:nvSpPr>
          <p:cNvPr id="6" name="Slide Number Placeholder 5"/>
          <p:cNvSpPr>
            <a:spLocks noGrp="1"/>
          </p:cNvSpPr>
          <p:nvPr>
            <p:ph type="sldNum" sz="quarter" idx="12"/>
          </p:nvPr>
        </p:nvSpPr>
        <p:spPr/>
        <p:txBody>
          <a:bodyPr/>
          <a:lstStyle>
            <a:lvl1pPr>
              <a:defRPr/>
            </a:lvl1pPr>
          </a:lstStyle>
          <a:p>
            <a:r>
              <a:rPr lang="en-US" dirty="0"/>
              <a:t> Fall 2008               Slide </a:t>
            </a:r>
            <a:fld id="{5B695662-6332-4658-8B52-732A71EFF1C8}" type="slidenum">
              <a:rPr lang="en-US"/>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0"/>
            <a:ext cx="2171700" cy="6400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0"/>
            <a:ext cx="6362700" cy="6400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r>
              <a:rPr lang="en-US" dirty="0"/>
              <a:t>EENG 514        Ch. 4: Sequential Circuits</a:t>
            </a:r>
          </a:p>
        </p:txBody>
      </p:sp>
      <p:sp>
        <p:nvSpPr>
          <p:cNvPr id="5" name="Footer Placeholder 4"/>
          <p:cNvSpPr>
            <a:spLocks noGrp="1"/>
          </p:cNvSpPr>
          <p:nvPr>
            <p:ph type="ftr" sz="quarter" idx="11"/>
          </p:nvPr>
        </p:nvSpPr>
        <p:spPr/>
        <p:txBody>
          <a:bodyPr/>
          <a:lstStyle>
            <a:lvl1pPr>
              <a:defRPr/>
            </a:lvl1pPr>
          </a:lstStyle>
          <a:p>
            <a:r>
              <a:rPr lang="en-US"/>
              <a:t>Dr. Abou-Auf</a:t>
            </a:r>
          </a:p>
        </p:txBody>
      </p:sp>
      <p:sp>
        <p:nvSpPr>
          <p:cNvPr id="6" name="Slide Number Placeholder 5"/>
          <p:cNvSpPr>
            <a:spLocks noGrp="1"/>
          </p:cNvSpPr>
          <p:nvPr>
            <p:ph type="sldNum" sz="quarter" idx="12"/>
          </p:nvPr>
        </p:nvSpPr>
        <p:spPr/>
        <p:txBody>
          <a:bodyPr/>
          <a:lstStyle>
            <a:lvl1pPr>
              <a:defRPr/>
            </a:lvl1pPr>
          </a:lstStyle>
          <a:p>
            <a:r>
              <a:rPr lang="en-US" dirty="0"/>
              <a:t> Fall 2008               Slide </a:t>
            </a:r>
            <a:fld id="{514DFDA8-3B29-4BF1-B53A-ED9A41538085}" type="slidenum">
              <a:rPr lang="en-US"/>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882" name="Rectangle 2"/>
          <p:cNvSpPr>
            <a:spLocks noGrp="1" noChangeArrowheads="1"/>
          </p:cNvSpPr>
          <p:nvPr>
            <p:ph type="title"/>
          </p:nvPr>
        </p:nvSpPr>
        <p:spPr bwMode="auto">
          <a:xfrm>
            <a:off x="1143000" y="0"/>
            <a:ext cx="7315200" cy="9906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890883" name="Rectangle 3"/>
          <p:cNvSpPr>
            <a:spLocks noGrp="1" noChangeArrowheads="1"/>
          </p:cNvSpPr>
          <p:nvPr>
            <p:ph type="body" idx="1"/>
          </p:nvPr>
        </p:nvSpPr>
        <p:spPr bwMode="auto">
          <a:xfrm>
            <a:off x="228600" y="1066800"/>
            <a:ext cx="8686800" cy="5334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4"/>
            <a:r>
              <a:rPr lang="en-US"/>
              <a:t>	</a:t>
            </a:r>
          </a:p>
        </p:txBody>
      </p:sp>
      <p:sp>
        <p:nvSpPr>
          <p:cNvPr id="890884" name="Rectangle 4"/>
          <p:cNvSpPr>
            <a:spLocks noGrp="1" noChangeArrowheads="1"/>
          </p:cNvSpPr>
          <p:nvPr>
            <p:ph type="dt" sz="half" idx="2"/>
          </p:nvPr>
        </p:nvSpPr>
        <p:spPr bwMode="auto">
          <a:xfrm>
            <a:off x="76200" y="6553200"/>
            <a:ext cx="30480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Times New Roman" pitchFamily="18" charset="0"/>
              </a:defRPr>
            </a:lvl1pPr>
          </a:lstStyle>
          <a:p>
            <a:r>
              <a:rPr lang="en-US" dirty="0"/>
              <a:t>EENG 514        Ch. 4: Sequential Circuits</a:t>
            </a:r>
          </a:p>
        </p:txBody>
      </p:sp>
      <p:sp>
        <p:nvSpPr>
          <p:cNvPr id="890885" name="Rectangle 5"/>
          <p:cNvSpPr>
            <a:spLocks noGrp="1" noChangeArrowheads="1"/>
          </p:cNvSpPr>
          <p:nvPr>
            <p:ph type="ftr" sz="quarter" idx="3"/>
          </p:nvPr>
        </p:nvSpPr>
        <p:spPr bwMode="auto">
          <a:xfrm>
            <a:off x="3733800" y="6553200"/>
            <a:ext cx="16002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atin typeface="Times New Roman" pitchFamily="18" charset="0"/>
              </a:defRPr>
            </a:lvl1pPr>
          </a:lstStyle>
          <a:p>
            <a:r>
              <a:rPr lang="en-US"/>
              <a:t>Dr. Abou-Auf</a:t>
            </a:r>
          </a:p>
        </p:txBody>
      </p:sp>
      <p:sp>
        <p:nvSpPr>
          <p:cNvPr id="890886" name="Rectangle 6"/>
          <p:cNvSpPr>
            <a:spLocks noGrp="1" noChangeArrowheads="1"/>
          </p:cNvSpPr>
          <p:nvPr>
            <p:ph type="sldNum" sz="quarter" idx="4"/>
          </p:nvPr>
        </p:nvSpPr>
        <p:spPr bwMode="auto">
          <a:xfrm>
            <a:off x="7315200" y="6553200"/>
            <a:ext cx="1752600" cy="304800"/>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atin typeface="Times New Roman" pitchFamily="18" charset="0"/>
              </a:defRPr>
            </a:lvl1pPr>
          </a:lstStyle>
          <a:p>
            <a:r>
              <a:rPr lang="en-US" dirty="0"/>
              <a:t> Fall 2017               Slide </a:t>
            </a:r>
            <a:fld id="{F65A8E95-87C3-43BA-BA2A-65D52D3568FE}" type="slidenum">
              <a:rPr lang="en-US" smtClean="0"/>
              <a:pPr/>
              <a:t>‹#›</a:t>
            </a:fld>
            <a:endParaRPr lang="en-US" dirty="0"/>
          </a:p>
        </p:txBody>
      </p:sp>
      <p:sp>
        <p:nvSpPr>
          <p:cNvPr id="890887" name="Line 7"/>
          <p:cNvSpPr>
            <a:spLocks noChangeShapeType="1"/>
          </p:cNvSpPr>
          <p:nvPr/>
        </p:nvSpPr>
        <p:spPr bwMode="auto">
          <a:xfrm flipV="1">
            <a:off x="228600" y="990600"/>
            <a:ext cx="8686800" cy="0"/>
          </a:xfrm>
          <a:prstGeom prst="line">
            <a:avLst/>
          </a:prstGeom>
          <a:noFill/>
          <a:ln w="76200" cmpd="tri">
            <a:solidFill>
              <a:srgbClr val="DDD800"/>
            </a:solidFill>
            <a:round/>
            <a:headEnd type="none" w="sm" len="sm"/>
            <a:tailEnd type="none" w="sm" len="sm"/>
          </a:ln>
          <a:effectLst/>
        </p:spPr>
        <p:txBody>
          <a:bodyPr wrap="none" anchor="ctr"/>
          <a:lstStyle/>
          <a:p>
            <a:endParaRPr lang="en-US"/>
          </a:p>
        </p:txBody>
      </p:sp>
      <p:sp>
        <p:nvSpPr>
          <p:cNvPr id="890888" name="Text Box 8"/>
          <p:cNvSpPr txBox="1">
            <a:spLocks noChangeArrowheads="1"/>
          </p:cNvSpPr>
          <p:nvPr/>
        </p:nvSpPr>
        <p:spPr bwMode="auto">
          <a:xfrm>
            <a:off x="990600" y="381000"/>
            <a:ext cx="1219200" cy="336550"/>
          </a:xfrm>
          <a:prstGeom prst="rect">
            <a:avLst/>
          </a:prstGeom>
          <a:noFill/>
          <a:ln w="12700">
            <a:noFill/>
            <a:miter lim="800000"/>
            <a:headEnd type="none" w="sm" len="sm"/>
            <a:tailEnd type="none" w="sm" len="sm"/>
          </a:ln>
          <a:effectLst/>
        </p:spPr>
        <p:txBody>
          <a:bodyPr>
            <a:spAutoFit/>
          </a:bodyPr>
          <a:lstStyle/>
          <a:p>
            <a:pPr>
              <a:spcBef>
                <a:spcPct val="50000"/>
              </a:spcBef>
            </a:pPr>
            <a:endParaRPr lang="en-US" sz="1600">
              <a:latin typeface="Verdana" pitchFamily="34" charset="0"/>
            </a:endParaRPr>
          </a:p>
        </p:txBody>
      </p:sp>
      <p:sp>
        <p:nvSpPr>
          <p:cNvPr id="890889" name="Line 9"/>
          <p:cNvSpPr>
            <a:spLocks noChangeShapeType="1"/>
          </p:cNvSpPr>
          <p:nvPr/>
        </p:nvSpPr>
        <p:spPr bwMode="auto">
          <a:xfrm>
            <a:off x="152400" y="6477000"/>
            <a:ext cx="8839200" cy="0"/>
          </a:xfrm>
          <a:prstGeom prst="line">
            <a:avLst/>
          </a:prstGeom>
          <a:noFill/>
          <a:ln w="38100" cmpd="dbl">
            <a:solidFill>
              <a:srgbClr val="DDD800"/>
            </a:solidFill>
            <a:round/>
            <a:headEnd type="none" w="sm" len="sm"/>
            <a:tailEnd type="none" w="sm" len="sm"/>
          </a:ln>
          <a:effectLst/>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hf hdr="0"/>
  <p:txStyles>
    <p:titleStyle>
      <a:lvl1pPr algn="ctr" rtl="0" eaLnBrk="0" fontAlgn="base" hangingPunct="0">
        <a:spcBef>
          <a:spcPct val="0"/>
        </a:spcBef>
        <a:spcAft>
          <a:spcPct val="0"/>
        </a:spcAft>
        <a:defRPr sz="2400" b="1">
          <a:solidFill>
            <a:srgbClr val="FF3300"/>
          </a:solidFill>
          <a:latin typeface="+mj-lt"/>
          <a:ea typeface="+mj-ea"/>
          <a:cs typeface="+mj-cs"/>
        </a:defRPr>
      </a:lvl1pPr>
      <a:lvl2pPr algn="ctr" rtl="0" eaLnBrk="0" fontAlgn="base" hangingPunct="0">
        <a:spcBef>
          <a:spcPct val="0"/>
        </a:spcBef>
        <a:spcAft>
          <a:spcPct val="0"/>
        </a:spcAft>
        <a:defRPr sz="2400" b="1">
          <a:solidFill>
            <a:srgbClr val="FF3300"/>
          </a:solidFill>
          <a:latin typeface="Arial" charset="0"/>
        </a:defRPr>
      </a:lvl2pPr>
      <a:lvl3pPr algn="ctr" rtl="0" eaLnBrk="0" fontAlgn="base" hangingPunct="0">
        <a:spcBef>
          <a:spcPct val="0"/>
        </a:spcBef>
        <a:spcAft>
          <a:spcPct val="0"/>
        </a:spcAft>
        <a:defRPr sz="2400" b="1">
          <a:solidFill>
            <a:srgbClr val="FF3300"/>
          </a:solidFill>
          <a:latin typeface="Arial" charset="0"/>
        </a:defRPr>
      </a:lvl3pPr>
      <a:lvl4pPr algn="ctr" rtl="0" eaLnBrk="0" fontAlgn="base" hangingPunct="0">
        <a:spcBef>
          <a:spcPct val="0"/>
        </a:spcBef>
        <a:spcAft>
          <a:spcPct val="0"/>
        </a:spcAft>
        <a:defRPr sz="2400" b="1">
          <a:solidFill>
            <a:srgbClr val="FF3300"/>
          </a:solidFill>
          <a:latin typeface="Arial" charset="0"/>
        </a:defRPr>
      </a:lvl4pPr>
      <a:lvl5pPr algn="ctr" rtl="0" eaLnBrk="0" fontAlgn="base" hangingPunct="0">
        <a:spcBef>
          <a:spcPct val="0"/>
        </a:spcBef>
        <a:spcAft>
          <a:spcPct val="0"/>
        </a:spcAft>
        <a:defRPr sz="2400" b="1">
          <a:solidFill>
            <a:srgbClr val="FF3300"/>
          </a:solidFill>
          <a:latin typeface="Arial" charset="0"/>
        </a:defRPr>
      </a:lvl5pPr>
      <a:lvl6pPr marL="457200" algn="ctr" rtl="0" eaLnBrk="0" fontAlgn="base" hangingPunct="0">
        <a:spcBef>
          <a:spcPct val="0"/>
        </a:spcBef>
        <a:spcAft>
          <a:spcPct val="0"/>
        </a:spcAft>
        <a:defRPr sz="2400" b="1">
          <a:solidFill>
            <a:srgbClr val="FF3300"/>
          </a:solidFill>
          <a:latin typeface="Arial" charset="0"/>
        </a:defRPr>
      </a:lvl6pPr>
      <a:lvl7pPr marL="914400" algn="ctr" rtl="0" eaLnBrk="0" fontAlgn="base" hangingPunct="0">
        <a:spcBef>
          <a:spcPct val="0"/>
        </a:spcBef>
        <a:spcAft>
          <a:spcPct val="0"/>
        </a:spcAft>
        <a:defRPr sz="2400" b="1">
          <a:solidFill>
            <a:srgbClr val="FF3300"/>
          </a:solidFill>
          <a:latin typeface="Arial" charset="0"/>
        </a:defRPr>
      </a:lvl7pPr>
      <a:lvl8pPr marL="1371600" algn="ctr" rtl="0" eaLnBrk="0" fontAlgn="base" hangingPunct="0">
        <a:spcBef>
          <a:spcPct val="0"/>
        </a:spcBef>
        <a:spcAft>
          <a:spcPct val="0"/>
        </a:spcAft>
        <a:defRPr sz="2400" b="1">
          <a:solidFill>
            <a:srgbClr val="FF3300"/>
          </a:solidFill>
          <a:latin typeface="Arial" charset="0"/>
        </a:defRPr>
      </a:lvl8pPr>
      <a:lvl9pPr marL="1828800" algn="ctr" rtl="0" eaLnBrk="0" fontAlgn="base" hangingPunct="0">
        <a:spcBef>
          <a:spcPct val="0"/>
        </a:spcBef>
        <a:spcAft>
          <a:spcPct val="0"/>
        </a:spcAft>
        <a:defRPr sz="2400" b="1">
          <a:solidFill>
            <a:srgbClr val="FF3300"/>
          </a:solidFill>
          <a:latin typeface="Arial" charset="0"/>
        </a:defRPr>
      </a:lvl9pPr>
    </p:titleStyle>
    <p:bodyStyle>
      <a:lvl1pPr marL="342900" indent="-342900" algn="l" rtl="0" eaLnBrk="0" fontAlgn="base" hangingPunct="0">
        <a:spcBef>
          <a:spcPct val="100000"/>
        </a:spcBef>
        <a:spcAft>
          <a:spcPct val="0"/>
        </a:spcAft>
        <a:buChar char="•"/>
        <a:defRPr sz="2000" b="1">
          <a:solidFill>
            <a:srgbClr val="003399"/>
          </a:solidFill>
          <a:latin typeface="+mn-lt"/>
          <a:ea typeface="+mn-ea"/>
          <a:cs typeface="+mn-cs"/>
        </a:defRPr>
      </a:lvl1pPr>
      <a:lvl2pPr marL="742950" indent="-285750" algn="l" rtl="0" eaLnBrk="0" fontAlgn="base" hangingPunct="0">
        <a:spcBef>
          <a:spcPct val="20000"/>
        </a:spcBef>
        <a:spcAft>
          <a:spcPct val="0"/>
        </a:spcAft>
        <a:buChar char="–"/>
        <a:defRPr>
          <a:solidFill>
            <a:srgbClr val="0066CC"/>
          </a:solidFill>
          <a:latin typeface="+mn-lt"/>
        </a:defRPr>
      </a:lvl2pPr>
      <a:lvl3pPr marL="1143000" indent="-228600" algn="l" rtl="0" eaLnBrk="0" fontAlgn="base" hangingPunct="0">
        <a:spcBef>
          <a:spcPct val="0"/>
        </a:spcBef>
        <a:spcAft>
          <a:spcPct val="0"/>
        </a:spcAft>
        <a:defRPr sz="1400">
          <a:solidFill>
            <a:schemeClr val="tx1"/>
          </a:solidFill>
          <a:latin typeface="Courier New" pitchFamily="49" charset="0"/>
          <a:cs typeface="Courier New" pitchFamily="49" charset="0"/>
        </a:defRPr>
      </a:lvl3pPr>
      <a:lvl4pPr marL="1600200" indent="-228600" algn="l" rtl="0" eaLnBrk="0" fontAlgn="base" hangingPunct="0">
        <a:spcBef>
          <a:spcPct val="0"/>
        </a:spcBef>
        <a:spcAft>
          <a:spcPct val="0"/>
        </a:spcAft>
        <a:defRPr sz="1400">
          <a:solidFill>
            <a:schemeClr val="tx1"/>
          </a:solidFill>
          <a:latin typeface="Courier New" pitchFamily="49" charset="0"/>
          <a:cs typeface="Courier New" pitchFamily="49" charset="0"/>
        </a:defRPr>
      </a:lvl4pPr>
      <a:lvl5pPr marL="2057400" indent="-228600" algn="l" rtl="0" eaLnBrk="0" fontAlgn="base" hangingPunct="0">
        <a:spcBef>
          <a:spcPct val="0"/>
        </a:spcBef>
        <a:spcAft>
          <a:spcPct val="0"/>
        </a:spcAft>
        <a:defRPr sz="1400">
          <a:solidFill>
            <a:schemeClr val="tx1"/>
          </a:solidFill>
          <a:latin typeface="Courier New" pitchFamily="49" charset="0"/>
          <a:cs typeface="Courier New" pitchFamily="49" charset="0"/>
        </a:defRPr>
      </a:lvl5pPr>
      <a:lvl6pPr marL="2514600" indent="-228600" algn="l" rtl="0" eaLnBrk="0" fontAlgn="base" hangingPunct="0">
        <a:spcBef>
          <a:spcPct val="0"/>
        </a:spcBef>
        <a:spcAft>
          <a:spcPct val="0"/>
        </a:spcAft>
        <a:defRPr sz="1400">
          <a:solidFill>
            <a:schemeClr val="tx1"/>
          </a:solidFill>
          <a:latin typeface="Courier New" pitchFamily="49" charset="0"/>
          <a:cs typeface="Courier New" pitchFamily="49" charset="0"/>
        </a:defRPr>
      </a:lvl6pPr>
      <a:lvl7pPr marL="2971800" indent="-228600" algn="l" rtl="0" eaLnBrk="0" fontAlgn="base" hangingPunct="0">
        <a:spcBef>
          <a:spcPct val="0"/>
        </a:spcBef>
        <a:spcAft>
          <a:spcPct val="0"/>
        </a:spcAft>
        <a:defRPr sz="1400">
          <a:solidFill>
            <a:schemeClr val="tx1"/>
          </a:solidFill>
          <a:latin typeface="Courier New" pitchFamily="49" charset="0"/>
          <a:cs typeface="Courier New" pitchFamily="49" charset="0"/>
        </a:defRPr>
      </a:lvl7pPr>
      <a:lvl8pPr marL="3429000" indent="-228600" algn="l" rtl="0" eaLnBrk="0" fontAlgn="base" hangingPunct="0">
        <a:spcBef>
          <a:spcPct val="0"/>
        </a:spcBef>
        <a:spcAft>
          <a:spcPct val="0"/>
        </a:spcAft>
        <a:defRPr sz="1400">
          <a:solidFill>
            <a:schemeClr val="tx1"/>
          </a:solidFill>
          <a:latin typeface="Courier New" pitchFamily="49" charset="0"/>
          <a:cs typeface="Courier New" pitchFamily="49" charset="0"/>
        </a:defRPr>
      </a:lvl8pPr>
      <a:lvl9pPr marL="3886200" indent="-228600" algn="l" rtl="0" eaLnBrk="0" fontAlgn="base" hangingPunct="0">
        <a:spcBef>
          <a:spcPct val="0"/>
        </a:spcBef>
        <a:spcAft>
          <a:spcPct val="0"/>
        </a:spcAft>
        <a:defRPr sz="1400">
          <a:solidFill>
            <a:schemeClr val="tx1"/>
          </a:solidFill>
          <a:latin typeface="Courier New" pitchFamily="49" charset="0"/>
          <a:cs typeface="Courier New" pitchFamily="49"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microsoft.com/office/2007/relationships/hdphoto" Target="../media/hdphoto2.wdp"/></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8.png"/><Relationship Id="rId4" Type="http://schemas.microsoft.com/office/2007/relationships/hdphoto" Target="../media/hdphoto3.wd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microsoft.com/office/2007/relationships/hdphoto" Target="../media/hdphoto4.wdp"/></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microsoft.com/office/2007/relationships/hdphoto" Target="../media/hdphoto6.wdp"/><Relationship Id="rId5" Type="http://schemas.openxmlformats.org/officeDocument/2006/relationships/image" Target="../media/image16.png"/><Relationship Id="rId4" Type="http://schemas.microsoft.com/office/2007/relationships/hdphoto" Target="../media/hdphoto5.wdp"/></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0.png"/><Relationship Id="rId4" Type="http://schemas.microsoft.com/office/2007/relationships/hdphoto" Target="../media/hdphoto7.wdp"/></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0.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microsoft.com/office/2007/relationships/hdphoto" Target="../media/hdphoto8.wdp"/></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microsoft.com/office/2007/relationships/hdphoto" Target="../media/hdphoto9.wdp"/></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microsoft.com/office/2007/relationships/hdphoto" Target="../media/hdphoto10.wdp"/><Relationship Id="rId5" Type="http://schemas.openxmlformats.org/officeDocument/2006/relationships/image" Target="../media/image42.png"/><Relationship Id="rId4" Type="http://schemas.microsoft.com/office/2007/relationships/hdphoto" Target="../media/hdphoto9.wdp"/></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microsoft.com/office/2007/relationships/hdphoto" Target="../media/hdphoto11.wdp"/></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49.png"/><Relationship Id="rId4" Type="http://schemas.microsoft.com/office/2007/relationships/hdphoto" Target="../media/hdphoto1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40" name="Rectangle 4"/>
          <p:cNvSpPr>
            <a:spLocks noGrp="1" noChangeArrowheads="1"/>
          </p:cNvSpPr>
          <p:nvPr>
            <p:ph type="ctrTitle"/>
          </p:nvPr>
        </p:nvSpPr>
        <p:spPr/>
        <p:txBody>
          <a:bodyPr/>
          <a:lstStyle/>
          <a:p>
            <a:r>
              <a:rPr lang="en-US" dirty="0"/>
              <a:t>AVR Interfacing</a:t>
            </a:r>
            <a:br>
              <a:rPr lang="en-US" dirty="0"/>
            </a:br>
            <a:r>
              <a:rPr lang="en-US" dirty="0"/>
              <a:t> </a:t>
            </a:r>
            <a:br>
              <a:rPr lang="en-US" dirty="0"/>
            </a:br>
            <a:r>
              <a:rPr lang="en-US" dirty="0"/>
              <a:t>Timer</a:t>
            </a:r>
            <a:endParaRPr lang="en-US" sz="2800" i="1" dirty="0"/>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Agenda</a:t>
            </a:r>
          </a:p>
        </p:txBody>
      </p:sp>
      <p:sp>
        <p:nvSpPr>
          <p:cNvPr id="4" name="Rectangle 3"/>
          <p:cNvSpPr/>
          <p:nvPr/>
        </p:nvSpPr>
        <p:spPr>
          <a:xfrm>
            <a:off x="685800" y="1447800"/>
            <a:ext cx="8305800" cy="2554545"/>
          </a:xfrm>
          <a:prstGeom prst="rect">
            <a:avLst/>
          </a:prstGeom>
        </p:spPr>
        <p:txBody>
          <a:bodyPr wrap="square">
            <a:spAutoFit/>
          </a:bodyPr>
          <a:lstStyle/>
          <a:p>
            <a:pPr marL="342900" indent="-342900">
              <a:buFont typeface="Arial" panose="020B0604020202020204" pitchFamily="34" charset="0"/>
              <a:buChar char="•"/>
            </a:pPr>
            <a:r>
              <a:rPr lang="en-US" sz="2000" dirty="0"/>
              <a:t>Introduction to AVR Timer.</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AVR Overflow mode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AVR Compare match mode (CTC)</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AVR Pulse width modulation mode (PWM). </a:t>
            </a:r>
            <a:br>
              <a:rPr lang="en-US" sz="2000" dirty="0"/>
            </a:br>
            <a:r>
              <a:rPr lang="en-US" sz="2000" dirty="0"/>
              <a:t>	</a:t>
            </a:r>
            <a:endParaRPr lang="ar-EG" sz="2000" dirty="0"/>
          </a:p>
        </p:txBody>
      </p:sp>
    </p:spTree>
    <p:extLst>
      <p:ext uri="{BB962C8B-B14F-4D97-AF65-F5344CB8AC3E}">
        <p14:creationId xmlns:p14="http://schemas.microsoft.com/office/powerpoint/2010/main" val="118458993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Timer Introduction</a:t>
            </a:r>
          </a:p>
        </p:txBody>
      </p:sp>
      <p:sp>
        <p:nvSpPr>
          <p:cNvPr id="4" name="Rectangle 3"/>
          <p:cNvSpPr/>
          <p:nvPr/>
        </p:nvSpPr>
        <p:spPr>
          <a:xfrm>
            <a:off x="647700" y="1143000"/>
            <a:ext cx="8305800" cy="3139321"/>
          </a:xfrm>
          <a:prstGeom prst="rect">
            <a:avLst/>
          </a:prstGeom>
        </p:spPr>
        <p:txBody>
          <a:bodyPr wrap="square">
            <a:spAutoFit/>
          </a:bodyPr>
          <a:lstStyle/>
          <a:p>
            <a:r>
              <a:rPr lang="en-US" sz="1800" dirty="0"/>
              <a:t>Timers is an important concept in the field of electronics. It can be generated a time base using a timer circuit, using a microcontroller, etc.</a:t>
            </a:r>
          </a:p>
          <a:p>
            <a:pPr marL="342900" indent="-342900">
              <a:buFont typeface="Arial" panose="020B0604020202020204" pitchFamily="34" charset="0"/>
              <a:buChar char="•"/>
            </a:pPr>
            <a:r>
              <a:rPr lang="en-US" sz="1800" dirty="0"/>
              <a:t>In Microcontroller, timer is a register, but not a normal one. </a:t>
            </a:r>
          </a:p>
          <a:p>
            <a:pPr marL="342900" indent="-342900">
              <a:buFont typeface="Arial" panose="020B0604020202020204" pitchFamily="34" charset="0"/>
              <a:buChar char="•"/>
            </a:pPr>
            <a:r>
              <a:rPr lang="en-US" sz="1800" dirty="0"/>
              <a:t>The value of this register increases/decreases automatically.</a:t>
            </a:r>
          </a:p>
          <a:p>
            <a:pPr marL="342900" indent="-342900">
              <a:buFont typeface="Arial" panose="020B0604020202020204" pitchFamily="34" charset="0"/>
              <a:buChar char="•"/>
            </a:pPr>
            <a:r>
              <a:rPr lang="en-US" sz="1800" dirty="0"/>
              <a:t>In AVR, timers are of two types: 8-bit and 16-bit timers.</a:t>
            </a:r>
          </a:p>
          <a:p>
            <a:pPr marL="800100" lvl="1" indent="-342900">
              <a:buFont typeface="Wingdings" panose="05000000000000000000" pitchFamily="2" charset="2"/>
              <a:buChar char="Ø"/>
            </a:pPr>
            <a:r>
              <a:rPr lang="en-US" sz="1800" dirty="0"/>
              <a:t>In an 8-bit timer, the register used is 8-bit wide whereas in 16-bit timer, the register width is of 16 bits.</a:t>
            </a:r>
          </a:p>
          <a:p>
            <a:pPr marL="800100" lvl="1" indent="-342900">
              <a:buFont typeface="Wingdings" panose="05000000000000000000" pitchFamily="2" charset="2"/>
              <a:buChar char="Ø"/>
            </a:pPr>
            <a:r>
              <a:rPr lang="en-US" sz="1800" dirty="0"/>
              <a:t>The 8-bit timer is capable of counting 2^8=256 steps from 0 to 255 as demonstrated below. A 16 bit timer is capable of counting 2^16=65536 steps from 0 to 65535.</a:t>
            </a:r>
            <a:br>
              <a:rPr lang="en-US" sz="1800" dirty="0"/>
            </a:br>
            <a:r>
              <a:rPr lang="en-US" sz="1800" dirty="0"/>
              <a:t>	</a:t>
            </a:r>
            <a:endParaRPr lang="ar-EG" sz="18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7800" y="3962400"/>
            <a:ext cx="6253480" cy="2590800"/>
          </a:xfrm>
          <a:prstGeom prst="rect">
            <a:avLst/>
          </a:prstGeom>
        </p:spPr>
      </p:pic>
    </p:spTree>
    <p:extLst>
      <p:ext uri="{BB962C8B-B14F-4D97-AF65-F5344CB8AC3E}">
        <p14:creationId xmlns:p14="http://schemas.microsoft.com/office/powerpoint/2010/main" val="398837943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3200400" y="3733800"/>
            <a:ext cx="2809875" cy="876392"/>
          </a:xfrm>
          <a:prstGeom prst="rect">
            <a:avLst/>
          </a:prstGeom>
        </p:spPr>
      </p:pic>
      <p:sp>
        <p:nvSpPr>
          <p:cNvPr id="2" name="Title 1"/>
          <p:cNvSpPr>
            <a:spLocks noGrp="1"/>
          </p:cNvSpPr>
          <p:nvPr>
            <p:ph type="title"/>
          </p:nvPr>
        </p:nvSpPr>
        <p:spPr/>
        <p:txBody>
          <a:bodyPr/>
          <a:lstStyle/>
          <a:p>
            <a:br>
              <a:rPr lang="en-US" dirty="0"/>
            </a:br>
            <a:r>
              <a:rPr lang="en-US" dirty="0"/>
              <a:t>Timer Introduction</a:t>
            </a:r>
          </a:p>
        </p:txBody>
      </p:sp>
      <p:sp>
        <p:nvSpPr>
          <p:cNvPr id="5" name="TextBox 4"/>
          <p:cNvSpPr txBox="1"/>
          <p:nvPr/>
        </p:nvSpPr>
        <p:spPr>
          <a:xfrm>
            <a:off x="565245" y="1143000"/>
            <a:ext cx="7892955" cy="5078313"/>
          </a:xfrm>
          <a:prstGeom prst="rect">
            <a:avLst/>
          </a:prstGeom>
          <a:noFill/>
        </p:spPr>
        <p:txBody>
          <a:bodyPr wrap="square" rtlCol="1">
            <a:spAutoFit/>
          </a:bodyPr>
          <a:lstStyle/>
          <a:p>
            <a:pPr marL="285750" indent="-285750">
              <a:buFont typeface="Arial" panose="020B0604020202020204" pitchFamily="34" charset="0"/>
              <a:buChar char="•"/>
            </a:pPr>
            <a:r>
              <a:rPr lang="en-US" sz="1800" dirty="0"/>
              <a:t>Timer can be used as</a:t>
            </a:r>
          </a:p>
          <a:p>
            <a:pPr marL="742950" lvl="1" indent="-285750">
              <a:buFont typeface="Wingdings" panose="05000000000000000000" pitchFamily="2" charset="2"/>
              <a:buChar char="Ø"/>
            </a:pPr>
            <a:r>
              <a:rPr lang="en-US" sz="1800" dirty="0"/>
              <a:t>Precise timer</a:t>
            </a:r>
          </a:p>
          <a:p>
            <a:pPr marL="742950" lvl="1" indent="-285750">
              <a:buFont typeface="Wingdings" panose="05000000000000000000" pitchFamily="2" charset="2"/>
              <a:buChar char="Ø"/>
            </a:pPr>
            <a:r>
              <a:rPr lang="en-US" sz="1800" dirty="0"/>
              <a:t>Counter</a:t>
            </a:r>
          </a:p>
          <a:p>
            <a:pPr marL="742950" lvl="1" indent="-285750">
              <a:buFont typeface="Wingdings" panose="05000000000000000000" pitchFamily="2" charset="2"/>
              <a:buChar char="Ø"/>
            </a:pPr>
            <a:r>
              <a:rPr lang="en-US" sz="1800" dirty="0"/>
              <a:t>PWM (Pulse width modulation)</a:t>
            </a:r>
          </a:p>
          <a:p>
            <a:pPr marL="742950" lvl="1" indent="-285750">
              <a:buFont typeface="Wingdings" panose="05000000000000000000" pitchFamily="2" charset="2"/>
              <a:buChar char="Ø"/>
            </a:pPr>
            <a:r>
              <a:rPr lang="en-US" sz="1800" dirty="0"/>
              <a:t>ICU (Input Capture unit) </a:t>
            </a:r>
          </a:p>
          <a:p>
            <a:endParaRPr lang="en-US" sz="1800" dirty="0"/>
          </a:p>
          <a:p>
            <a:pPr marL="285750" indent="-285750">
              <a:buFont typeface="Arial" panose="020B0604020202020204" pitchFamily="34" charset="0"/>
              <a:buChar char="•"/>
            </a:pPr>
            <a:r>
              <a:rPr lang="en-US" sz="1800" dirty="0"/>
              <a:t>The best part is that the timer is totally independent of the CPU. Thus, it runs parallel to the CPU and there is no CPU’s intervention, which makes the timer quite accurate.</a:t>
            </a:r>
          </a:p>
          <a:p>
            <a:endParaRPr lang="en-US" sz="1800" dirty="0"/>
          </a:p>
          <a:p>
            <a:endParaRPr lang="en-US" sz="1800" dirty="0"/>
          </a:p>
          <a:p>
            <a:endParaRPr lang="en-US" sz="1800" dirty="0"/>
          </a:p>
          <a:p>
            <a:pPr marL="285750" indent="-285750">
              <a:buFont typeface="Arial" panose="020B0604020202020204" pitchFamily="34" charset="0"/>
              <a:buChar char="•"/>
            </a:pPr>
            <a:r>
              <a:rPr lang="en-US" sz="1800" dirty="0"/>
              <a:t>If Microcontroller works at frequency=4MHz, hence the timer will take 1/</a:t>
            </a:r>
            <a:r>
              <a:rPr lang="en-US" sz="1800" dirty="0" err="1"/>
              <a:t>freq</a:t>
            </a:r>
            <a:r>
              <a:rPr lang="en-US" sz="1800" dirty="0"/>
              <a:t>= 1/4M =0.00025 </a:t>
            </a:r>
            <a:r>
              <a:rPr lang="en-US" sz="1800" dirty="0" err="1"/>
              <a:t>ms</a:t>
            </a:r>
            <a:r>
              <a:rPr lang="en-US" sz="1800" dirty="0"/>
              <a:t> for the one count that called “system tick”.</a:t>
            </a:r>
          </a:p>
          <a:p>
            <a:pPr marL="285750" indent="-285750">
              <a:buFont typeface="Arial" panose="020B0604020202020204" pitchFamily="34" charset="0"/>
              <a:buChar char="•"/>
            </a:pPr>
            <a:r>
              <a:rPr lang="en-US" sz="1800" dirty="0"/>
              <a:t>To calculate the number of counts needed for a specific delay the following formula is used:</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p:txBody>
      </p:sp>
      <p:pic>
        <p:nvPicPr>
          <p:cNvPr id="7" name="Picture 6"/>
          <p:cNvPicPr>
            <a:picLocks noChangeAspect="1"/>
          </p:cNvPicPr>
          <p:nvPr/>
        </p:nvPicPr>
        <p:blipFill>
          <a:blip r:embed="rId4"/>
          <a:stretch>
            <a:fillRect/>
          </a:stretch>
        </p:blipFill>
        <p:spPr>
          <a:xfrm>
            <a:off x="3100387" y="5599573"/>
            <a:ext cx="3400425" cy="678489"/>
          </a:xfrm>
          <a:prstGeom prst="rect">
            <a:avLst/>
          </a:prstGeom>
        </p:spPr>
      </p:pic>
    </p:spTree>
    <p:extLst>
      <p:ext uri="{BB962C8B-B14F-4D97-AF65-F5344CB8AC3E}">
        <p14:creationId xmlns:p14="http://schemas.microsoft.com/office/powerpoint/2010/main" val="260046650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Timer Introduction</a:t>
            </a:r>
          </a:p>
        </p:txBody>
      </p:sp>
      <mc:AlternateContent xmlns:mc="http://schemas.openxmlformats.org/markup-compatibility/2006" xmlns:a14="http://schemas.microsoft.com/office/drawing/2010/main">
        <mc:Choice Requires="a14">
          <p:sp>
            <p:nvSpPr>
              <p:cNvPr id="5" name="TextBox 4"/>
              <p:cNvSpPr txBox="1"/>
              <p:nvPr/>
            </p:nvSpPr>
            <p:spPr>
              <a:xfrm>
                <a:off x="565245" y="1143000"/>
                <a:ext cx="7892955" cy="5250283"/>
              </a:xfrm>
              <a:prstGeom prst="rect">
                <a:avLst/>
              </a:prstGeom>
              <a:noFill/>
            </p:spPr>
            <p:txBody>
              <a:bodyPr wrap="square" rtlCol="1">
                <a:spAutoFit/>
              </a:bodyPr>
              <a:lstStyle/>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If required delay needs more counts than the max counts in the timer, </a:t>
                </a:r>
                <a:r>
                  <a:rPr lang="en-US" sz="1800" dirty="0" err="1"/>
                  <a:t>prescaler</a:t>
                </a:r>
                <a:r>
                  <a:rPr lang="en-US" sz="1800" dirty="0"/>
                  <a:t> (frequency division) can be used.</a:t>
                </a:r>
              </a:p>
              <a:p>
                <a:pPr marL="285750" indent="-285750">
                  <a:buFont typeface="Arial" panose="020B0604020202020204" pitchFamily="34" charset="0"/>
                  <a:buChar char="•"/>
                </a:pPr>
                <a:r>
                  <a:rPr lang="en-US" sz="1800" dirty="0"/>
                  <a:t>For example: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𝑡</m:t>
                        </m:r>
                      </m:e>
                      <m:sub>
                        <m:r>
                          <a:rPr lang="en-US" sz="1800" b="0" i="1" smtClean="0">
                            <a:latin typeface="Cambria Math" panose="02040503050406030204" pitchFamily="18" charset="0"/>
                          </a:rPr>
                          <m:t>𝑠𝑦𝑠</m:t>
                        </m:r>
                        <m:r>
                          <a:rPr lang="en-US" sz="1800" b="0" i="1" smtClean="0">
                            <a:latin typeface="Cambria Math" panose="02040503050406030204" pitchFamily="18" charset="0"/>
                          </a:rPr>
                          <m:t>_</m:t>
                        </m:r>
                        <m:r>
                          <a:rPr lang="en-US" sz="1800" b="0" i="1" smtClean="0">
                            <a:latin typeface="Cambria Math" panose="02040503050406030204" pitchFamily="18" charset="0"/>
                          </a:rPr>
                          <m:t>𝑡𝑖𝑐𝑘</m:t>
                        </m:r>
                      </m:sub>
                    </m:sSub>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𝑐𝑙𝑜𝑐𝑘</m:t>
                        </m:r>
                        <m:r>
                          <a:rPr lang="en-US" sz="1800" b="0" i="1" smtClean="0">
                            <a:latin typeface="Cambria Math" panose="02040503050406030204" pitchFamily="18" charset="0"/>
                          </a:rPr>
                          <m:t> </m:t>
                        </m:r>
                        <m:r>
                          <a:rPr lang="en-US" sz="1800" b="0" i="1" smtClean="0">
                            <a:latin typeface="Cambria Math" panose="02040503050406030204" pitchFamily="18" charset="0"/>
                          </a:rPr>
                          <m:t>𝑓𝑟𝑒𝑞</m:t>
                        </m:r>
                      </m:den>
                    </m:f>
                    <m:r>
                      <a:rPr lang="en-US" sz="1800" b="0" i="1" smtClean="0">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𝑝𝑟𝑒𝑠𝑐𝑎𝑙𝑒𝑟</m:t>
                        </m:r>
                      </m:num>
                      <m:den>
                        <m:r>
                          <a:rPr lang="en-US" sz="1800" b="0" i="1" smtClean="0">
                            <a:latin typeface="Cambria Math" panose="02040503050406030204" pitchFamily="18" charset="0"/>
                          </a:rPr>
                          <m:t>𝐹</m:t>
                        </m:r>
                        <m:r>
                          <a:rPr lang="en-US" sz="1800" b="0" i="1" smtClean="0">
                            <a:latin typeface="Cambria Math" panose="02040503050406030204" pitchFamily="18" charset="0"/>
                          </a:rPr>
                          <m:t>_</m:t>
                        </m:r>
                        <m:r>
                          <a:rPr lang="en-US" sz="1800" b="0" i="1" smtClean="0">
                            <a:latin typeface="Cambria Math" panose="02040503050406030204" pitchFamily="18" charset="0"/>
                          </a:rPr>
                          <m:t>𝑐𝑝𝑢</m:t>
                        </m:r>
                      </m:den>
                    </m:f>
                  </m:oMath>
                </a14:m>
                <a:endParaRPr lang="en-US" sz="1800" b="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sz="1800" dirty="0"/>
              </a:p>
              <a:p>
                <a:endParaRPr lang="en-US" sz="1800" dirty="0"/>
              </a:p>
              <a:p>
                <a:pPr marL="285750" indent="-285750">
                  <a:buFont typeface="Arial" panose="020B0604020202020204" pitchFamily="34" charset="0"/>
                  <a:buChar char="•"/>
                </a:pPr>
                <a:r>
                  <a:rPr lang="en-US" sz="1800" dirty="0"/>
                  <a:t>In 8 bit timer max counts=255 and in 16 bit timer max counts=65535. Therefore, To obtain the required delay, we can use </a:t>
                </a:r>
                <a:r>
                  <a:rPr lang="en-US" sz="1800" dirty="0" err="1"/>
                  <a:t>prescaler</a:t>
                </a:r>
                <a:r>
                  <a:rPr lang="en-US" sz="1800" dirty="0"/>
                  <a:t> 64, 256 or 1024. However, more the </a:t>
                </a:r>
                <a:r>
                  <a:rPr lang="en-US" sz="1800" dirty="0" err="1"/>
                  <a:t>prescaler</a:t>
                </a:r>
                <a:r>
                  <a:rPr lang="en-US" sz="1800" dirty="0"/>
                  <a:t> is smaller, more timing resolution (system tick time) is faster which is better.</a:t>
                </a:r>
              </a:p>
            </p:txBody>
          </p:sp>
        </mc:Choice>
        <mc:Fallback xmlns="">
          <p:sp>
            <p:nvSpPr>
              <p:cNvPr id="5" name="TextBox 4"/>
              <p:cNvSpPr txBox="1">
                <a:spLocks noRot="1" noChangeAspect="1" noMove="1" noResize="1" noEditPoints="1" noAdjustHandles="1" noChangeArrowheads="1" noChangeShapeType="1" noTextEdit="1"/>
              </p:cNvSpPr>
              <p:nvPr/>
            </p:nvSpPr>
            <p:spPr>
              <a:xfrm>
                <a:off x="565245" y="1143000"/>
                <a:ext cx="7892955" cy="5250283"/>
              </a:xfrm>
              <a:prstGeom prst="rect">
                <a:avLst/>
              </a:prstGeom>
              <a:blipFill rotWithShape="0">
                <a:blip r:embed="rId3"/>
                <a:stretch>
                  <a:fillRect l="-541" b="-465"/>
                </a:stretch>
              </a:blipFill>
            </p:spPr>
            <p:txBody>
              <a:bodyPr/>
              <a:lstStyle/>
              <a:p>
                <a:r>
                  <a:rPr lang="ar-EG">
                    <a:noFill/>
                  </a:rPr>
                  <a:t> </a:t>
                </a:r>
              </a:p>
            </p:txBody>
          </p:sp>
        </mc:Fallback>
      </mc:AlternateContent>
      <p:pic>
        <p:nvPicPr>
          <p:cNvPr id="7" name="Picture 6"/>
          <p:cNvPicPr>
            <a:picLocks noChangeAspect="1"/>
          </p:cNvPicPr>
          <p:nvPr/>
        </p:nvPicPr>
        <p:blipFill>
          <a:blip r:embed="rId4"/>
          <a:stretch>
            <a:fillRect/>
          </a:stretch>
        </p:blipFill>
        <p:spPr>
          <a:xfrm>
            <a:off x="2514600" y="1295400"/>
            <a:ext cx="3400425" cy="678489"/>
          </a:xfrm>
          <a:prstGeom prst="rect">
            <a:avLst/>
          </a:prstGeom>
        </p:spPr>
      </p:pic>
      <p:pic>
        <p:nvPicPr>
          <p:cNvPr id="3" name="Picture 2"/>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tretch>
            <a:fillRect/>
          </a:stretch>
        </p:blipFill>
        <p:spPr>
          <a:xfrm>
            <a:off x="4191000" y="2667000"/>
            <a:ext cx="4467225" cy="2466975"/>
          </a:xfrm>
          <a:prstGeom prst="rect">
            <a:avLst/>
          </a:prstGeom>
        </p:spPr>
      </p:pic>
    </p:spTree>
    <p:extLst>
      <p:ext uri="{BB962C8B-B14F-4D97-AF65-F5344CB8AC3E}">
        <p14:creationId xmlns:p14="http://schemas.microsoft.com/office/powerpoint/2010/main" val="171861497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AVR Overflow mode</a:t>
            </a:r>
          </a:p>
        </p:txBody>
      </p:sp>
      <p:sp>
        <p:nvSpPr>
          <p:cNvPr id="6" name="Rectangle 5"/>
          <p:cNvSpPr/>
          <p:nvPr/>
        </p:nvSpPr>
        <p:spPr>
          <a:xfrm>
            <a:off x="457200" y="1295400"/>
            <a:ext cx="2820003" cy="461665"/>
          </a:xfrm>
          <a:prstGeom prst="rect">
            <a:avLst/>
          </a:prstGeom>
        </p:spPr>
        <p:txBody>
          <a:bodyPr wrap="none">
            <a:spAutoFit/>
          </a:bodyPr>
          <a:lstStyle/>
          <a:p>
            <a:r>
              <a:rPr lang="en-US" sz="2400" dirty="0">
                <a:solidFill>
                  <a:srgbClr val="FF0000"/>
                </a:solidFill>
                <a:latin typeface="Open Sans"/>
              </a:rPr>
              <a:t>Problem Statement</a:t>
            </a:r>
            <a:endParaRPr lang="en-US" sz="2400" b="0" i="0" dirty="0">
              <a:solidFill>
                <a:srgbClr val="FF0000"/>
              </a:solidFill>
              <a:effectLst/>
              <a:latin typeface="Open Sans"/>
            </a:endParaRPr>
          </a:p>
        </p:txBody>
      </p:sp>
      <p:sp>
        <p:nvSpPr>
          <p:cNvPr id="8" name="Rectangle 7"/>
          <p:cNvSpPr/>
          <p:nvPr/>
        </p:nvSpPr>
        <p:spPr>
          <a:xfrm>
            <a:off x="685800" y="1839604"/>
            <a:ext cx="7772400" cy="3416320"/>
          </a:xfrm>
          <a:prstGeom prst="rect">
            <a:avLst/>
          </a:prstGeom>
        </p:spPr>
        <p:txBody>
          <a:bodyPr wrap="square">
            <a:spAutoFit/>
          </a:bodyPr>
          <a:lstStyle/>
          <a:p>
            <a:pPr algn="just"/>
            <a:r>
              <a:rPr lang="en-US" sz="1800" dirty="0"/>
              <a:t>Let’s define a problem statement for us. The simplest one being the LED flasher. Let’s say, we need to flash an LED every 6 </a:t>
            </a:r>
            <a:r>
              <a:rPr lang="en-US" sz="1800" dirty="0" err="1"/>
              <a:t>ms</a:t>
            </a:r>
            <a:r>
              <a:rPr lang="en-US" sz="1800" dirty="0"/>
              <a:t> and we are have a CPU clock frequency of 32 kHz.</a:t>
            </a:r>
          </a:p>
          <a:p>
            <a:r>
              <a:rPr lang="en-US" sz="1800" b="1" dirty="0"/>
              <a:t>Methodology</a:t>
            </a:r>
            <a:endParaRPr lang="en-US" sz="1800" dirty="0"/>
          </a:p>
          <a:p>
            <a:r>
              <a:rPr lang="en-US" sz="1800" dirty="0"/>
              <a:t>Now, as per the following formula, with a clock frequency of 32 kHz and 8-bit counter, the maximum delay possible is of 8 </a:t>
            </a:r>
            <a:r>
              <a:rPr lang="en-US" sz="1800" dirty="0" err="1"/>
              <a:t>ms.</a:t>
            </a:r>
            <a:r>
              <a:rPr lang="en-US" sz="1800" dirty="0"/>
              <a:t> This is quite low. Hence for a delay of 6 </a:t>
            </a:r>
            <a:r>
              <a:rPr lang="en-US" sz="1800" dirty="0" err="1"/>
              <a:t>ms</a:t>
            </a:r>
            <a:r>
              <a:rPr lang="en-US" sz="1800" dirty="0"/>
              <a:t>, we need a timer count of 191. This can easily be achieved with an 8-bit counter (MAX = 255).</a:t>
            </a:r>
          </a:p>
          <a:p>
            <a:endParaRPr lang="en-US" sz="1800" dirty="0"/>
          </a:p>
          <a:p>
            <a:r>
              <a:rPr lang="en-US" sz="1800" dirty="0"/>
              <a:t>Thus, what we need to do is quite simple. We need to keep a track of the counter value. As soon as it reaches 191, we toggle the LED value and reset the counter. </a:t>
            </a:r>
            <a:endParaRPr lang="ar-EG" sz="1800" dirty="0"/>
          </a:p>
        </p:txBody>
      </p:sp>
    </p:spTree>
    <p:extLst>
      <p:ext uri="{BB962C8B-B14F-4D97-AF65-F5344CB8AC3E}">
        <p14:creationId xmlns:p14="http://schemas.microsoft.com/office/powerpoint/2010/main" val="118246568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Overflow mode</a:t>
            </a:r>
          </a:p>
        </p:txBody>
      </p:sp>
      <p:sp>
        <p:nvSpPr>
          <p:cNvPr id="4" name="Rectangle 3"/>
          <p:cNvSpPr/>
          <p:nvPr/>
        </p:nvSpPr>
        <p:spPr>
          <a:xfrm>
            <a:off x="381000" y="1219200"/>
            <a:ext cx="8305800" cy="3139321"/>
          </a:xfrm>
          <a:prstGeom prst="rect">
            <a:avLst/>
          </a:prstGeom>
        </p:spPr>
        <p:txBody>
          <a:bodyPr wrap="square">
            <a:spAutoFit/>
          </a:bodyPr>
          <a:lstStyle/>
          <a:p>
            <a:pPr marL="285750" indent="-285750">
              <a:buFont typeface="Arial" panose="020B0604020202020204" pitchFamily="34" charset="0"/>
              <a:buChar char="•"/>
            </a:pPr>
            <a:r>
              <a:rPr lang="en-US" sz="1800" dirty="0">
                <a:solidFill>
                  <a:srgbClr val="4C4C4C"/>
                </a:solidFill>
                <a:latin typeface="Open Sans"/>
              </a:rPr>
              <a:t>In AVR, </a:t>
            </a:r>
            <a:r>
              <a:rPr lang="en-US" sz="1800" dirty="0"/>
              <a:t>there are three types of timers Timer0, Timer1 and Timer2 </a:t>
            </a:r>
          </a:p>
          <a:p>
            <a:pPr marL="285750" indent="-285750">
              <a:buFont typeface="Arial" panose="020B0604020202020204" pitchFamily="34" charset="0"/>
              <a:buChar char="•"/>
            </a:pPr>
            <a:r>
              <a:rPr lang="en-US" sz="1800" dirty="0"/>
              <a:t>TIMER1 is a 16-bit timer whereas others are 8-bit timers.</a:t>
            </a:r>
          </a:p>
          <a:p>
            <a:pPr marL="285750" indent="-285750">
              <a:buFont typeface="Arial" panose="020B0604020202020204" pitchFamily="34" charset="0"/>
              <a:buChar char="•"/>
            </a:pPr>
            <a:r>
              <a:rPr lang="en-US" sz="1800" dirty="0"/>
              <a:t>To configure the timer as we need. Knowing the registers details will the help.</a:t>
            </a:r>
          </a:p>
          <a:p>
            <a:pPr marL="285750" indent="-285750">
              <a:buFont typeface="Arial" panose="020B0604020202020204" pitchFamily="34" charset="0"/>
              <a:buChar char="•"/>
            </a:pPr>
            <a:endParaRPr lang="en-US" sz="1800" dirty="0"/>
          </a:p>
          <a:p>
            <a:r>
              <a:rPr lang="en-US" sz="1800" dirty="0">
                <a:solidFill>
                  <a:srgbClr val="FF0000"/>
                </a:solidFill>
              </a:rPr>
              <a:t>TCNT0 Register Timer/Counter Register</a:t>
            </a:r>
          </a:p>
          <a:p>
            <a:endParaRPr lang="en-US" sz="1800" dirty="0">
              <a:solidFill>
                <a:srgbClr val="FF0000"/>
              </a:solidFill>
            </a:endParaRPr>
          </a:p>
          <a:p>
            <a:r>
              <a:rPr lang="en-US" sz="1800" dirty="0"/>
              <a:t>This is where the 8-bit counter of the timer resides. The value of the counter is stored here and it increases automatically each clock cycle. Data can be both read/written from this register. The initial value of the counter is set by writing it. </a:t>
            </a:r>
            <a:br>
              <a:rPr lang="en-US" sz="1800" dirty="0"/>
            </a:br>
            <a:endParaRPr lang="en-US" sz="1800" dirty="0">
              <a:solidFill>
                <a:srgbClr val="FF0000"/>
              </a:solidFill>
            </a:endParaRPr>
          </a:p>
          <a:p>
            <a:pPr marL="285750" indent="-285750">
              <a:buFont typeface="Arial" panose="020B0604020202020204" pitchFamily="34" charset="0"/>
              <a:buChar char="•"/>
            </a:pPr>
            <a:endParaRPr lang="ar-EG" sz="1800" dirty="0"/>
          </a:p>
        </p:txBody>
      </p:sp>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1219200" y="3816012"/>
            <a:ext cx="6722117" cy="1085017"/>
          </a:xfrm>
          <a:prstGeom prst="rect">
            <a:avLst/>
          </a:prstGeom>
        </p:spPr>
      </p:pic>
    </p:spTree>
    <p:extLst>
      <p:ext uri="{BB962C8B-B14F-4D97-AF65-F5344CB8AC3E}">
        <p14:creationId xmlns:p14="http://schemas.microsoft.com/office/powerpoint/2010/main" val="67494151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AVR Overflow mode</a:t>
            </a:r>
          </a:p>
        </p:txBody>
      </p:sp>
      <p:sp>
        <p:nvSpPr>
          <p:cNvPr id="4" name="Rectangle 3"/>
          <p:cNvSpPr/>
          <p:nvPr/>
        </p:nvSpPr>
        <p:spPr>
          <a:xfrm>
            <a:off x="381000" y="1219200"/>
            <a:ext cx="8305800" cy="2739211"/>
          </a:xfrm>
          <a:prstGeom prst="rect">
            <a:avLst/>
          </a:prstGeom>
        </p:spPr>
        <p:txBody>
          <a:bodyPr wrap="square">
            <a:spAutoFit/>
          </a:bodyPr>
          <a:lstStyle/>
          <a:p>
            <a:r>
              <a:rPr lang="en-US" sz="1800" dirty="0">
                <a:solidFill>
                  <a:srgbClr val="FF0000"/>
                </a:solidFill>
              </a:rPr>
              <a:t>TCCR0B Register </a:t>
            </a:r>
            <a:r>
              <a:rPr lang="en-US" sz="2800" dirty="0"/>
              <a:t>– </a:t>
            </a:r>
            <a:r>
              <a:rPr lang="en-US" sz="1800" dirty="0">
                <a:solidFill>
                  <a:srgbClr val="FF0000"/>
                </a:solidFill>
              </a:rPr>
              <a:t>Timer/Counter Control Register B</a:t>
            </a:r>
          </a:p>
          <a:p>
            <a:endParaRPr lang="en-US" sz="1800" dirty="0"/>
          </a:p>
          <a:p>
            <a:endParaRPr lang="en-US" sz="1800" dirty="0"/>
          </a:p>
          <a:p>
            <a:endParaRPr lang="en-US" sz="1800" dirty="0"/>
          </a:p>
          <a:p>
            <a:endParaRPr lang="en-US" sz="1800" dirty="0"/>
          </a:p>
          <a:p>
            <a:r>
              <a:rPr lang="en-US" sz="1800" dirty="0"/>
              <a:t>Right now, we will concentrate on the highlighted bits. The other bits will be discussed as and when necessary. By selecting these three </a:t>
            </a:r>
            <a:r>
              <a:rPr lang="en-US" sz="1800" b="1" dirty="0"/>
              <a:t>Clock Select Bits</a:t>
            </a:r>
            <a:r>
              <a:rPr lang="en-US" sz="1800" dirty="0"/>
              <a:t>, </a:t>
            </a:r>
            <a:r>
              <a:rPr lang="en-US" sz="1800" b="1" dirty="0"/>
              <a:t>CS02:00</a:t>
            </a:r>
            <a:r>
              <a:rPr lang="en-US" sz="1800" dirty="0"/>
              <a:t>, we set the timer up by choosing proper </a:t>
            </a:r>
            <a:r>
              <a:rPr lang="en-US" sz="1800" dirty="0" err="1"/>
              <a:t>prescaler</a:t>
            </a:r>
            <a:r>
              <a:rPr lang="en-US" sz="1800" dirty="0"/>
              <a:t>. The possible combinations are shown below.</a:t>
            </a:r>
            <a:endParaRPr lang="en-US" sz="1800" dirty="0">
              <a:solidFill>
                <a:srgbClr val="FF0000"/>
              </a:solidFill>
            </a:endParaRPr>
          </a:p>
        </p:txBody>
      </p:sp>
      <p:pic>
        <p:nvPicPr>
          <p:cNvPr id="6" name="Picture 5"/>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1629642" y="3981157"/>
            <a:ext cx="6341916" cy="2419643"/>
          </a:xfrm>
          <a:prstGeom prst="rect">
            <a:avLst/>
          </a:prstGeom>
        </p:spPr>
      </p:pic>
      <p:pic>
        <p:nvPicPr>
          <p:cNvPr id="7" name="Picture 6">
            <a:extLst>
              <a:ext uri="{FF2B5EF4-FFF2-40B4-BE49-F238E27FC236}">
                <a16:creationId xmlns:a16="http://schemas.microsoft.com/office/drawing/2014/main" id="{E132137F-18F2-4A46-9522-B1554CB391E4}"/>
              </a:ext>
            </a:extLst>
          </p:cNvPr>
          <p:cNvPicPr>
            <a:picLocks noChangeAspect="1"/>
          </p:cNvPicPr>
          <p:nvPr/>
        </p:nvPicPr>
        <p:blipFill>
          <a:blip r:embed="rId5"/>
          <a:stretch>
            <a:fillRect/>
          </a:stretch>
        </p:blipFill>
        <p:spPr>
          <a:xfrm>
            <a:off x="1004887" y="1676400"/>
            <a:ext cx="7134225" cy="1066800"/>
          </a:xfrm>
          <a:prstGeom prst="rect">
            <a:avLst/>
          </a:prstGeom>
        </p:spPr>
      </p:pic>
    </p:spTree>
    <p:extLst>
      <p:ext uri="{BB962C8B-B14F-4D97-AF65-F5344CB8AC3E}">
        <p14:creationId xmlns:p14="http://schemas.microsoft.com/office/powerpoint/2010/main" val="75797540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Overflow mode</a:t>
            </a:r>
          </a:p>
        </p:txBody>
      </p:sp>
      <p:sp>
        <p:nvSpPr>
          <p:cNvPr id="3" name="TextBox 2"/>
          <p:cNvSpPr txBox="1"/>
          <p:nvPr/>
        </p:nvSpPr>
        <p:spPr>
          <a:xfrm>
            <a:off x="808630" y="1099757"/>
            <a:ext cx="7620000" cy="923330"/>
          </a:xfrm>
          <a:prstGeom prst="rect">
            <a:avLst/>
          </a:prstGeom>
          <a:noFill/>
        </p:spPr>
        <p:txBody>
          <a:bodyPr wrap="square" rtlCol="1">
            <a:spAutoFit/>
          </a:bodyPr>
          <a:lstStyle/>
          <a:p>
            <a:r>
              <a:rPr lang="en-US" sz="1800" dirty="0"/>
              <a:t>For the previous Problem statement  example: we need to flash an LED every 6 </a:t>
            </a:r>
            <a:r>
              <a:rPr lang="en-US" sz="1800" dirty="0" err="1"/>
              <a:t>ms</a:t>
            </a:r>
            <a:r>
              <a:rPr lang="en-US" sz="1800" dirty="0"/>
              <a:t> and we are have a CPU clock frequency of 32 kHz.</a:t>
            </a:r>
          </a:p>
          <a:p>
            <a:r>
              <a:rPr lang="en-US" sz="1800" dirty="0"/>
              <a:t> </a:t>
            </a:r>
            <a:endParaRPr lang="ar-EG" sz="1800" dirty="0"/>
          </a:p>
        </p:txBody>
      </p:sp>
      <p:sp>
        <p:nvSpPr>
          <p:cNvPr id="7" name="Rectangle 6"/>
          <p:cNvSpPr/>
          <p:nvPr/>
        </p:nvSpPr>
        <p:spPr>
          <a:xfrm>
            <a:off x="1066800" y="1828800"/>
            <a:ext cx="6629400" cy="4472058"/>
          </a:xfrm>
          <a:prstGeom prst="rect">
            <a:avLst/>
          </a:prstGeom>
        </p:spPr>
        <p:txBody>
          <a:bodyPr wrap="square">
            <a:spAutoFit/>
          </a:bodyPr>
          <a:lstStyle/>
          <a:p>
            <a:pPr>
              <a:lnSpc>
                <a:spcPct val="107000"/>
              </a:lnSpc>
              <a:spcAft>
                <a:spcPts val="0"/>
              </a:spcAft>
            </a:pP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#include &lt;</a:t>
            </a:r>
            <a:r>
              <a:rPr lang="en-US" sz="1400" dirty="0" err="1">
                <a:solidFill>
                  <a:srgbClr val="4C4C4C"/>
                </a:solidFill>
                <a:latin typeface="Courier New" panose="02070309020205020404" pitchFamily="49" charset="0"/>
                <a:ea typeface="Times New Roman" panose="02020603050405020304" pitchFamily="18" charset="0"/>
                <a:cs typeface="Arial" panose="020B0604020202020204" pitchFamily="34" charset="0"/>
              </a:rPr>
              <a:t>avr</a:t>
            </a: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a:t>
            </a:r>
            <a:r>
              <a:rPr lang="en-US" sz="1400" dirty="0" err="1">
                <a:solidFill>
                  <a:srgbClr val="4C4C4C"/>
                </a:solidFill>
                <a:latin typeface="Courier New" panose="02070309020205020404" pitchFamily="49" charset="0"/>
                <a:ea typeface="Times New Roman" panose="02020603050405020304" pitchFamily="18" charset="0"/>
                <a:cs typeface="Arial" panose="020B0604020202020204" pitchFamily="34" charset="0"/>
              </a:rPr>
              <a:t>io.h</a:t>
            </a: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&gt;</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void</a:t>
            </a:r>
            <a:r>
              <a:rPr lang="en-US" sz="1400" dirty="0">
                <a:solidFill>
                  <a:srgbClr val="4C4C4C"/>
                </a:solidFill>
                <a:latin typeface="Consolas" panose="020B0609020204030204" pitchFamily="49" charset="0"/>
                <a:ea typeface="Times New Roman" panose="02020603050405020304" pitchFamily="18" charset="0"/>
                <a:cs typeface="Arial" panose="020B0604020202020204" pitchFamily="34" charset="0"/>
              </a:rPr>
              <a:t> </a:t>
            </a: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timer0_init(){</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set up timer with no </a:t>
            </a:r>
            <a:r>
              <a:rPr lang="en-US" sz="1400" dirty="0" err="1">
                <a:solidFill>
                  <a:srgbClr val="00B050"/>
                </a:solidFill>
                <a:latin typeface="Courier New" panose="02070309020205020404" pitchFamily="49" charset="0"/>
                <a:ea typeface="Times New Roman" panose="02020603050405020304" pitchFamily="18" charset="0"/>
                <a:cs typeface="Arial" panose="020B0604020202020204" pitchFamily="34" charset="0"/>
              </a:rPr>
              <a:t>prescaling</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400" dirty="0">
                <a:solidFill>
                  <a:srgbClr val="4C4C4C"/>
                </a:solidFill>
                <a:latin typeface="Courier New" panose="02070309020205020404" pitchFamily="49" charset="0"/>
                <a:cs typeface="Arial" panose="020B0604020202020204" pitchFamily="34" charset="0"/>
              </a:rPr>
              <a:t>  TCCR0B |= </a:t>
            </a: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(1 &lt;&lt; CS00);</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initialize counter</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TCNT0 = 0;}</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void</a:t>
            </a:r>
            <a:r>
              <a:rPr lang="en-US" sz="1400" dirty="0">
                <a:solidFill>
                  <a:srgbClr val="4C4C4C"/>
                </a:solidFill>
                <a:latin typeface="Consolas" panose="020B0609020204030204" pitchFamily="49" charset="0"/>
                <a:ea typeface="Times New Roman" panose="02020603050405020304" pitchFamily="18" charset="0"/>
                <a:cs typeface="Arial" panose="020B0604020202020204" pitchFamily="34" charset="0"/>
              </a:rPr>
              <a:t> </a:t>
            </a: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main(void){</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connect led to pin PC0</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DDRC |= (1 &lt;&lt; 0);</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initialize timer</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timer0_init();</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while(1){</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check if the timer count reaches 191</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if</a:t>
            </a:r>
            <a:r>
              <a:rPr lang="en-US" sz="1400" dirty="0">
                <a:solidFill>
                  <a:srgbClr val="4C4C4C"/>
                </a:solidFill>
                <a:latin typeface="Consolas" panose="020B0609020204030204" pitchFamily="49" charset="0"/>
                <a:ea typeface="Times New Roman" panose="02020603050405020304" pitchFamily="18" charset="0"/>
                <a:cs typeface="Arial" panose="020B0604020202020204" pitchFamily="34" charset="0"/>
              </a:rPr>
              <a:t> </a:t>
            </a: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(TCNT0 &gt;= 191){</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PORTC ^= (1 &lt;&lt; 0);    </a:t>
            </a: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toggles the led</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TCNT0 = 0;            </a:t>
            </a: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reset counter</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4484558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Overflow mode</a:t>
            </a:r>
          </a:p>
        </p:txBody>
      </p:sp>
      <p:sp>
        <p:nvSpPr>
          <p:cNvPr id="3" name="TextBox 2"/>
          <p:cNvSpPr txBox="1"/>
          <p:nvPr/>
        </p:nvSpPr>
        <p:spPr>
          <a:xfrm>
            <a:off x="808630" y="1099757"/>
            <a:ext cx="8106770" cy="4524315"/>
          </a:xfrm>
          <a:prstGeom prst="rect">
            <a:avLst/>
          </a:prstGeom>
          <a:noFill/>
        </p:spPr>
        <p:txBody>
          <a:bodyPr wrap="square" rtlCol="1">
            <a:spAutoFit/>
          </a:bodyPr>
          <a:lstStyle/>
          <a:p>
            <a:r>
              <a:rPr lang="en-US" sz="1800" dirty="0">
                <a:solidFill>
                  <a:srgbClr val="FF0000"/>
                </a:solidFill>
              </a:rPr>
              <a:t>Problem Statement Redefined Again</a:t>
            </a:r>
          </a:p>
          <a:p>
            <a:r>
              <a:rPr lang="en-US" sz="1800" dirty="0"/>
              <a:t>Let’s flash an LED every 50 </a:t>
            </a:r>
            <a:r>
              <a:rPr lang="en-US" sz="1800" dirty="0" err="1"/>
              <a:t>ms</a:t>
            </a:r>
            <a:r>
              <a:rPr lang="en-US" sz="1800" dirty="0"/>
              <a:t> with CPU frequency 16 MHz using Interrupt. </a:t>
            </a:r>
          </a:p>
          <a:p>
            <a:endParaRPr lang="en-US" sz="1800" dirty="0"/>
          </a:p>
          <a:p>
            <a:pPr marL="285750" indent="-285750">
              <a:buFont typeface="Arial" panose="020B0604020202020204" pitchFamily="34" charset="0"/>
              <a:buChar char="•"/>
            </a:pPr>
            <a:r>
              <a:rPr lang="en-US" sz="1800" dirty="0"/>
              <a:t>The concept here is that the hardware generates an interrupt every time the timer overflows. Since the required delay is greater than the maximum possible delay, obviously the timer will overflow. And whenever the timer overflows, an interrupt is fired. Now the question is </a:t>
            </a:r>
            <a:r>
              <a:rPr lang="en-US" sz="1800" i="1" dirty="0"/>
              <a:t>how many times should the interrupt be fired?</a:t>
            </a:r>
          </a:p>
          <a:p>
            <a:pPr marL="285750" indent="-285750">
              <a:buFont typeface="Arial" panose="020B0604020202020204" pitchFamily="34" charset="0"/>
              <a:buChar char="•"/>
            </a:pPr>
            <a:endParaRPr lang="en-US" sz="1800" i="1" dirty="0"/>
          </a:p>
          <a:p>
            <a:pPr marL="285750" indent="-285750">
              <a:buFont typeface="Arial" panose="020B0604020202020204" pitchFamily="34" charset="0"/>
              <a:buChar char="•"/>
            </a:pPr>
            <a:r>
              <a:rPr lang="en-US" sz="1800" dirty="0"/>
              <a:t>For this, let’s do some calculation. it should take 4.096 </a:t>
            </a:r>
            <a:r>
              <a:rPr lang="en-US" sz="1800" dirty="0" err="1"/>
              <a:t>ms</a:t>
            </a:r>
            <a:r>
              <a:rPr lang="en-US" sz="1800" dirty="0"/>
              <a:t> for the timer to overflow. Now as soon as the timer overflows, an interrupt is fired and an Interrupt Service Routine (ISR) is executed. Now,</a:t>
            </a:r>
          </a:p>
          <a:p>
            <a:pPr algn="ctr"/>
            <a:r>
              <a:rPr lang="en-US" sz="1800" dirty="0">
                <a:solidFill>
                  <a:schemeClr val="accent6">
                    <a:lumMod val="75000"/>
                  </a:schemeClr>
                </a:solidFill>
              </a:rPr>
              <a:t>50 </a:t>
            </a:r>
            <a:r>
              <a:rPr lang="en-US" sz="1800" dirty="0" err="1">
                <a:solidFill>
                  <a:schemeClr val="accent6">
                    <a:lumMod val="75000"/>
                  </a:schemeClr>
                </a:solidFill>
              </a:rPr>
              <a:t>ms</a:t>
            </a:r>
            <a:r>
              <a:rPr lang="en-US" sz="1800" dirty="0">
                <a:solidFill>
                  <a:schemeClr val="accent6">
                    <a:lumMod val="75000"/>
                  </a:schemeClr>
                </a:solidFill>
              </a:rPr>
              <a:t> ÷ 4.096 </a:t>
            </a:r>
            <a:r>
              <a:rPr lang="en-US" sz="1800" dirty="0" err="1">
                <a:solidFill>
                  <a:schemeClr val="accent6">
                    <a:lumMod val="75000"/>
                  </a:schemeClr>
                </a:solidFill>
              </a:rPr>
              <a:t>ms</a:t>
            </a:r>
            <a:r>
              <a:rPr lang="en-US" sz="1800" dirty="0">
                <a:solidFill>
                  <a:schemeClr val="accent6">
                    <a:lumMod val="75000"/>
                  </a:schemeClr>
                </a:solidFill>
              </a:rPr>
              <a:t> = 12.207</a:t>
            </a:r>
          </a:p>
          <a:p>
            <a:endParaRPr lang="en-US" sz="1800" dirty="0">
              <a:solidFill>
                <a:schemeClr val="accent6">
                  <a:lumMod val="75000"/>
                </a:schemeClr>
              </a:solidFill>
            </a:endParaRPr>
          </a:p>
          <a:p>
            <a:pPr marL="285750" indent="-285750">
              <a:buFont typeface="Arial" panose="020B0604020202020204" pitchFamily="34" charset="0"/>
              <a:buChar char="•"/>
            </a:pPr>
            <a:endParaRPr lang="en-US" sz="1800" dirty="0"/>
          </a:p>
          <a:p>
            <a:r>
              <a:rPr lang="en-US" sz="1800" dirty="0"/>
              <a:t> </a:t>
            </a:r>
            <a:endParaRPr lang="ar-EG" sz="1800" dirty="0"/>
          </a:p>
        </p:txBody>
      </p:sp>
    </p:spTree>
    <p:extLst>
      <p:ext uri="{BB962C8B-B14F-4D97-AF65-F5344CB8AC3E}">
        <p14:creationId xmlns:p14="http://schemas.microsoft.com/office/powerpoint/2010/main" val="295333733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Overflow mode</a:t>
            </a:r>
          </a:p>
        </p:txBody>
      </p:sp>
      <p:sp>
        <p:nvSpPr>
          <p:cNvPr id="3" name="TextBox 2"/>
          <p:cNvSpPr txBox="1"/>
          <p:nvPr/>
        </p:nvSpPr>
        <p:spPr>
          <a:xfrm>
            <a:off x="808630" y="1099757"/>
            <a:ext cx="8106770" cy="2308324"/>
          </a:xfrm>
          <a:prstGeom prst="rect">
            <a:avLst/>
          </a:prstGeom>
          <a:noFill/>
        </p:spPr>
        <p:txBody>
          <a:bodyPr wrap="square" rtlCol="1">
            <a:spAutoFit/>
          </a:bodyPr>
          <a:lstStyle/>
          <a:p>
            <a:r>
              <a:rPr lang="en-US" sz="1800" dirty="0">
                <a:solidFill>
                  <a:srgbClr val="FF0000"/>
                </a:solidFill>
              </a:rPr>
              <a:t>Problem Statement Redefined Again</a:t>
            </a:r>
            <a:endParaRPr lang="en-US" sz="1800" dirty="0"/>
          </a:p>
          <a:p>
            <a:pPr marL="285750" indent="-285750">
              <a:buFont typeface="Arial" panose="020B0604020202020204" pitchFamily="34" charset="0"/>
              <a:buChar char="•"/>
            </a:pPr>
            <a:r>
              <a:rPr lang="en-US" sz="1800" dirty="0"/>
              <a:t>The timer has overflown 12 times, 49.152 </a:t>
            </a:r>
            <a:r>
              <a:rPr lang="en-US" sz="1800" dirty="0" err="1"/>
              <a:t>ms</a:t>
            </a:r>
            <a:r>
              <a:rPr lang="en-US" sz="1800" dirty="0"/>
              <a:t> would have passed. After that, when the timer undergoes 13th iteration, it would achieve a delay of 50 </a:t>
            </a:r>
            <a:r>
              <a:rPr lang="en-US" sz="1800" dirty="0" err="1"/>
              <a:t>ms.</a:t>
            </a:r>
            <a:r>
              <a:rPr lang="en-US" sz="1800" dirty="0"/>
              <a:t> Thus, in the 13th iteration, we need a delay of 50 – 49.152 = 0.848 </a:t>
            </a:r>
            <a:r>
              <a:rPr lang="en-US" sz="1800" dirty="0" err="1"/>
              <a:t>ms.</a:t>
            </a:r>
            <a:r>
              <a:rPr lang="en-US" sz="1800" dirty="0"/>
              <a:t> At a frequency of 62.5 kHz (</a:t>
            </a:r>
            <a:r>
              <a:rPr lang="en-US" sz="1800" dirty="0" err="1"/>
              <a:t>prescaler</a:t>
            </a:r>
            <a:r>
              <a:rPr lang="en-US" sz="1800" dirty="0"/>
              <a:t> = 256), each tick takes 0.016 </a:t>
            </a:r>
            <a:r>
              <a:rPr lang="en-US" sz="1800" dirty="0" err="1"/>
              <a:t>ms.</a:t>
            </a:r>
            <a:r>
              <a:rPr lang="en-US" sz="1800" dirty="0"/>
              <a:t> Thus to achieve a delay of 0.848 </a:t>
            </a:r>
            <a:r>
              <a:rPr lang="en-US" sz="1800" dirty="0" err="1"/>
              <a:t>ms</a:t>
            </a:r>
            <a:r>
              <a:rPr lang="en-US" sz="1800" dirty="0"/>
              <a:t>, it would require 53 ticks. Thus, in the 13th iteration, we only allow the timer to count up to 53, and then reset it. All this can be achieved in the ISR as follows:</a:t>
            </a:r>
            <a:endParaRPr lang="en-US" sz="1800" dirty="0">
              <a:solidFill>
                <a:schemeClr val="accent6">
                  <a:lumMod val="75000"/>
                </a:schemeClr>
              </a:solidFill>
            </a:endParaRPr>
          </a:p>
        </p:txBody>
      </p:sp>
      <p:sp>
        <p:nvSpPr>
          <p:cNvPr id="5" name="Rectangle 4"/>
          <p:cNvSpPr/>
          <p:nvPr/>
        </p:nvSpPr>
        <p:spPr>
          <a:xfrm>
            <a:off x="1108881" y="3422866"/>
            <a:ext cx="7806519" cy="2754793"/>
          </a:xfrm>
          <a:prstGeom prst="rect">
            <a:avLst/>
          </a:prstGeom>
        </p:spPr>
        <p:txBody>
          <a:bodyPr wrap="square">
            <a:spAutoFit/>
          </a:bodyPr>
          <a:lstStyle/>
          <a:p>
            <a:pPr>
              <a:lnSpc>
                <a:spcPct val="107000"/>
              </a:lnSpc>
              <a:spcAft>
                <a:spcPts val="0"/>
              </a:spcAft>
            </a:pPr>
            <a:r>
              <a:rPr lang="en-US" sz="18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global variable to count the number of overflows</a:t>
            </a:r>
            <a:endParaRPr lang="en-US" sz="18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8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volatile</a:t>
            </a:r>
            <a:r>
              <a:rPr lang="en-US" sz="1800" dirty="0">
                <a:solidFill>
                  <a:srgbClr val="4C4C4C"/>
                </a:solidFill>
                <a:latin typeface="Consolas" panose="020B0609020204030204" pitchFamily="49" charset="0"/>
                <a:ea typeface="Times New Roman" panose="02020603050405020304" pitchFamily="18" charset="0"/>
                <a:cs typeface="Arial" panose="020B0604020202020204" pitchFamily="34" charset="0"/>
              </a:rPr>
              <a:t> </a:t>
            </a:r>
            <a:r>
              <a:rPr lang="en-US" sz="18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uint8_t </a:t>
            </a:r>
            <a:r>
              <a:rPr lang="en-US" sz="1800" dirty="0" err="1">
                <a:solidFill>
                  <a:srgbClr val="4C4C4C"/>
                </a:solidFill>
                <a:latin typeface="Courier New" panose="02070309020205020404" pitchFamily="49" charset="0"/>
                <a:ea typeface="Times New Roman" panose="02020603050405020304" pitchFamily="18" charset="0"/>
                <a:cs typeface="Arial" panose="020B0604020202020204" pitchFamily="34" charset="0"/>
              </a:rPr>
              <a:t>tot_overflow</a:t>
            </a:r>
            <a:r>
              <a:rPr lang="en-US" sz="18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a:t>
            </a:r>
            <a:r>
              <a:rPr lang="en-US" sz="1800" dirty="0">
                <a:solidFill>
                  <a:srgbClr val="4C4C4C"/>
                </a:solidFill>
                <a:latin typeface="Consolas" panose="020B0609020204030204" pitchFamily="49" charset="0"/>
                <a:ea typeface="Times New Roman" panose="02020603050405020304" pitchFamily="18" charset="0"/>
                <a:cs typeface="Arial" panose="020B0604020202020204" pitchFamily="34" charset="0"/>
              </a:rPr>
              <a:t> </a:t>
            </a:r>
            <a:endParaRPr lang="en-US" sz="18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8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TIMER0 overflow interrupt service routine</a:t>
            </a:r>
            <a:endParaRPr lang="en-US" sz="18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8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called whenever TCNT0 overflows</a:t>
            </a:r>
            <a:endParaRPr lang="en-US" sz="18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8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ISR(TIMER0_OVF_vect)</a:t>
            </a:r>
            <a:endParaRPr lang="en-US" sz="18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8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a:t>
            </a:r>
            <a:endParaRPr lang="en-US" sz="18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8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8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keep a track of number of overflows</a:t>
            </a:r>
            <a:endParaRPr lang="en-US" sz="18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8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800" dirty="0" err="1">
                <a:solidFill>
                  <a:srgbClr val="4C4C4C"/>
                </a:solidFill>
                <a:latin typeface="Courier New" panose="02070309020205020404" pitchFamily="49" charset="0"/>
                <a:ea typeface="Times New Roman" panose="02020603050405020304" pitchFamily="18" charset="0"/>
                <a:cs typeface="Arial" panose="020B0604020202020204" pitchFamily="34" charset="0"/>
              </a:rPr>
              <a:t>tot_overflow</a:t>
            </a:r>
            <a:r>
              <a:rPr lang="en-US" sz="18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a:t>
            </a:r>
            <a:endParaRPr lang="en-US" sz="18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8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a:t>
            </a:r>
            <a:endParaRPr lang="en-US" sz="18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23866863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Overflow mode</a:t>
            </a:r>
          </a:p>
        </p:txBody>
      </p:sp>
      <p:sp>
        <p:nvSpPr>
          <p:cNvPr id="6" name="Rectangle 5"/>
          <p:cNvSpPr/>
          <p:nvPr/>
        </p:nvSpPr>
        <p:spPr>
          <a:xfrm>
            <a:off x="485633" y="1066800"/>
            <a:ext cx="8686800" cy="5361724"/>
          </a:xfrm>
          <a:prstGeom prst="rect">
            <a:avLst/>
          </a:prstGeom>
        </p:spPr>
        <p:txBody>
          <a:bodyPr wrap="square">
            <a:spAutoFit/>
          </a:bodyPr>
          <a:lstStyle/>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void</a:t>
            </a:r>
            <a:r>
              <a:rPr lang="en-US" sz="1600" dirty="0">
                <a:solidFill>
                  <a:srgbClr val="4C4C4C"/>
                </a:solidFill>
                <a:latin typeface="Consolas" panose="020B0609020204030204" pitchFamily="49" charset="0"/>
                <a:ea typeface="Times New Roman" panose="02020603050405020304" pitchFamily="18" charset="0"/>
                <a:cs typeface="Arial" panose="020B0604020202020204" pitchFamily="34" charset="0"/>
              </a:rPr>
              <a:t> </a:t>
            </a: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main(void)</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connect led to pin PC0</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DDRC |= (1 &lt;&lt; 0);</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initialize timer</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timer0_init();</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loop forever</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while(1){</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check if no. of overflows = 12</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if</a:t>
            </a:r>
            <a:r>
              <a:rPr lang="en-US" sz="1600" dirty="0">
                <a:solidFill>
                  <a:srgbClr val="4C4C4C"/>
                </a:solidFill>
                <a:latin typeface="Consolas" panose="020B0609020204030204" pitchFamily="49" charset="0"/>
                <a:ea typeface="Times New Roman" panose="02020603050405020304" pitchFamily="18" charset="0"/>
                <a:cs typeface="Arial" panose="020B0604020202020204" pitchFamily="34" charset="0"/>
              </a:rPr>
              <a:t> </a:t>
            </a: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a:t>
            </a:r>
            <a:r>
              <a:rPr lang="en-US" sz="1600" dirty="0" err="1">
                <a:solidFill>
                  <a:srgbClr val="4C4C4C"/>
                </a:solidFill>
                <a:latin typeface="Courier New" panose="02070309020205020404" pitchFamily="49" charset="0"/>
                <a:ea typeface="Times New Roman" panose="02020603050405020304" pitchFamily="18" charset="0"/>
                <a:cs typeface="Arial" panose="020B0604020202020204" pitchFamily="34" charset="0"/>
              </a:rPr>
              <a:t>tot_overflow</a:t>
            </a: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&gt;= 12)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NOTE: '&gt;=' is used</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check if the timer count reaches 53</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if</a:t>
            </a:r>
            <a:r>
              <a:rPr lang="en-US" sz="1600" dirty="0">
                <a:solidFill>
                  <a:srgbClr val="4C4C4C"/>
                </a:solidFill>
                <a:latin typeface="Consolas" panose="020B0609020204030204" pitchFamily="49" charset="0"/>
                <a:ea typeface="Times New Roman" panose="02020603050405020304" pitchFamily="18" charset="0"/>
                <a:cs typeface="Arial" panose="020B0604020202020204" pitchFamily="34" charset="0"/>
              </a:rPr>
              <a:t> </a:t>
            </a: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(TCNT0 &gt;= 53){</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PORTC ^= (1 &lt;&lt; 0);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toggles the led</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TCNT0 = 0;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reset counter</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600" dirty="0" err="1">
                <a:solidFill>
                  <a:srgbClr val="4C4C4C"/>
                </a:solidFill>
                <a:latin typeface="Courier New" panose="02070309020205020404" pitchFamily="49" charset="0"/>
                <a:ea typeface="Times New Roman" panose="02020603050405020304" pitchFamily="18" charset="0"/>
                <a:cs typeface="Arial" panose="020B0604020202020204" pitchFamily="34" charset="0"/>
              </a:rPr>
              <a:t>tot_overflow</a:t>
            </a: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 0;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reset overflow counter</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6684985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Overflow mode</a:t>
            </a:r>
          </a:p>
        </p:txBody>
      </p:sp>
      <p:sp>
        <p:nvSpPr>
          <p:cNvPr id="3" name="TextBox 2"/>
          <p:cNvSpPr txBox="1"/>
          <p:nvPr/>
        </p:nvSpPr>
        <p:spPr>
          <a:xfrm>
            <a:off x="808630" y="1099757"/>
            <a:ext cx="8106770" cy="5509200"/>
          </a:xfrm>
          <a:prstGeom prst="rect">
            <a:avLst/>
          </a:prstGeom>
          <a:noFill/>
        </p:spPr>
        <p:txBody>
          <a:bodyPr wrap="square" rtlCol="1">
            <a:spAutoFit/>
          </a:bodyPr>
          <a:lstStyle/>
          <a:p>
            <a:pPr marL="285750" indent="-285750">
              <a:buFont typeface="Arial" panose="020B0604020202020204" pitchFamily="34" charset="0"/>
              <a:buChar char="•"/>
            </a:pPr>
            <a:r>
              <a:rPr lang="en-US" sz="1800" dirty="0">
                <a:solidFill>
                  <a:schemeClr val="accent6">
                    <a:lumMod val="75000"/>
                  </a:schemeClr>
                </a:solidFill>
              </a:rPr>
              <a:t>How to enable the interrupt feature. For this, you should be aware of the following registers.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solidFill>
                  <a:srgbClr val="FF3300"/>
                </a:solidFill>
              </a:rPr>
              <a:t>TIMSK0 Register – Timer/Counter Interrupt Mask Register</a:t>
            </a:r>
          </a:p>
          <a:p>
            <a:endParaRPr lang="en-US" sz="1800" dirty="0">
              <a:solidFill>
                <a:srgbClr val="FF3300"/>
              </a:solidFill>
            </a:endParaRPr>
          </a:p>
          <a:p>
            <a:endParaRPr lang="en-US" sz="1800" dirty="0">
              <a:solidFill>
                <a:srgbClr val="FF3300"/>
              </a:solidFill>
            </a:endParaRPr>
          </a:p>
          <a:p>
            <a:endParaRPr lang="en-US" sz="1800" dirty="0">
              <a:solidFill>
                <a:srgbClr val="FF3300"/>
              </a:solidFill>
            </a:endParaRPr>
          </a:p>
          <a:p>
            <a:endParaRPr lang="en-US" sz="1800" dirty="0">
              <a:solidFill>
                <a:srgbClr val="FF3300"/>
              </a:solidFill>
            </a:endParaRPr>
          </a:p>
          <a:p>
            <a:r>
              <a:rPr lang="en-US" sz="1800" dirty="0"/>
              <a:t>It is a common register for all the three timers. Setting </a:t>
            </a:r>
            <a:r>
              <a:rPr lang="en-US" sz="1800" b="1" dirty="0"/>
              <a:t>TOIE0 (</a:t>
            </a:r>
            <a:r>
              <a:rPr lang="en-US" sz="1800" dirty="0"/>
              <a:t>Timer/Counter0 Overflow Interrupt Enable) bit to ‘1’ enables the TIMER0 overflow interrupt.</a:t>
            </a:r>
          </a:p>
          <a:p>
            <a:endParaRPr lang="en-US" sz="1800" dirty="0"/>
          </a:p>
          <a:p>
            <a:pPr marL="285750" indent="-285750">
              <a:buFont typeface="Arial" panose="020B0604020202020204" pitchFamily="34" charset="0"/>
              <a:buChar char="•"/>
            </a:pPr>
            <a:r>
              <a:rPr lang="en-US" sz="1800" dirty="0">
                <a:solidFill>
                  <a:srgbClr val="FF3300"/>
                </a:solidFill>
              </a:rPr>
              <a:t>TIFR Register (Flag register) – Timer/Counter 0 Interrupt Flag Register</a:t>
            </a:r>
          </a:p>
          <a:p>
            <a:pPr marL="285750" indent="-285750">
              <a:buFont typeface="Arial" panose="020B0604020202020204" pitchFamily="34" charset="0"/>
              <a:buChar char="•"/>
            </a:pPr>
            <a:endParaRPr lang="en-US" sz="1800" dirty="0">
              <a:solidFill>
                <a:srgbClr val="FF3300"/>
              </a:solidFill>
            </a:endParaRPr>
          </a:p>
          <a:p>
            <a:pPr marL="285750" indent="-285750">
              <a:buFont typeface="Arial" panose="020B0604020202020204" pitchFamily="34" charset="0"/>
              <a:buChar char="•"/>
            </a:pPr>
            <a:endParaRPr lang="en-US" sz="1800" dirty="0">
              <a:solidFill>
                <a:srgbClr val="FF3300"/>
              </a:solidFill>
            </a:endParaRPr>
          </a:p>
          <a:p>
            <a:pPr marL="285750" indent="-285750">
              <a:buFont typeface="Arial" panose="020B0604020202020204" pitchFamily="34" charset="0"/>
              <a:buChar char="•"/>
            </a:pPr>
            <a:endParaRPr lang="en-US" sz="1800" dirty="0">
              <a:solidFill>
                <a:srgbClr val="FF3300"/>
              </a:solidFill>
            </a:endParaRPr>
          </a:p>
          <a:p>
            <a:endParaRPr lang="en-US" sz="1800" dirty="0">
              <a:solidFill>
                <a:srgbClr val="FF3300"/>
              </a:solidFill>
            </a:endParaRPr>
          </a:p>
          <a:p>
            <a:r>
              <a:rPr lang="en-US" sz="1800" dirty="0"/>
              <a:t>The bit TOV0 (Timer/Counter0 Overflow Flag</a:t>
            </a:r>
            <a:r>
              <a:rPr lang="en-US" sz="2800" dirty="0"/>
              <a:t>)</a:t>
            </a:r>
            <a:r>
              <a:rPr lang="en-US" sz="1800" dirty="0"/>
              <a:t> is set (one) when an overflow occurs in Timer/Counter0. TOV0 is cleared by hardware when executing the corresponding interrupt handling vector. </a:t>
            </a:r>
            <a:endParaRPr lang="en-US" sz="1800" dirty="0">
              <a:solidFill>
                <a:srgbClr val="FF3300"/>
              </a:solidFill>
            </a:endParaRPr>
          </a:p>
        </p:txBody>
      </p:sp>
      <p:pic>
        <p:nvPicPr>
          <p:cNvPr id="7" name="Picture 6">
            <a:extLst>
              <a:ext uri="{FF2B5EF4-FFF2-40B4-BE49-F238E27FC236}">
                <a16:creationId xmlns:a16="http://schemas.microsoft.com/office/drawing/2014/main" id="{A5CFD938-6B00-40E8-A1BF-6083421CE9BD}"/>
              </a:ext>
            </a:extLst>
          </p:cNvPr>
          <p:cNvPicPr>
            <a:picLocks noChangeAspect="1"/>
          </p:cNvPicPr>
          <p:nvPr/>
        </p:nvPicPr>
        <p:blipFill>
          <a:blip r:embed="rId3"/>
          <a:stretch>
            <a:fillRect/>
          </a:stretch>
        </p:blipFill>
        <p:spPr>
          <a:xfrm>
            <a:off x="1140643" y="2264295"/>
            <a:ext cx="6829425" cy="904875"/>
          </a:xfrm>
          <a:prstGeom prst="rect">
            <a:avLst/>
          </a:prstGeom>
        </p:spPr>
      </p:pic>
      <p:pic>
        <p:nvPicPr>
          <p:cNvPr id="9" name="Picture 8">
            <a:extLst>
              <a:ext uri="{FF2B5EF4-FFF2-40B4-BE49-F238E27FC236}">
                <a16:creationId xmlns:a16="http://schemas.microsoft.com/office/drawing/2014/main" id="{D07524CC-9D66-44EB-A61B-3F34F95EE710}"/>
              </a:ext>
            </a:extLst>
          </p:cNvPr>
          <p:cNvPicPr>
            <a:picLocks noChangeAspect="1"/>
          </p:cNvPicPr>
          <p:nvPr/>
        </p:nvPicPr>
        <p:blipFill>
          <a:blip r:embed="rId4"/>
          <a:stretch>
            <a:fillRect/>
          </a:stretch>
        </p:blipFill>
        <p:spPr>
          <a:xfrm>
            <a:off x="1381125" y="4448175"/>
            <a:ext cx="6619875" cy="1038225"/>
          </a:xfrm>
          <a:prstGeom prst="rect">
            <a:avLst/>
          </a:prstGeom>
        </p:spPr>
      </p:pic>
    </p:spTree>
    <p:extLst>
      <p:ext uri="{BB962C8B-B14F-4D97-AF65-F5344CB8AC3E}">
        <p14:creationId xmlns:p14="http://schemas.microsoft.com/office/powerpoint/2010/main" val="425941381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Overflow mode</a:t>
            </a:r>
          </a:p>
        </p:txBody>
      </p:sp>
      <p:sp>
        <p:nvSpPr>
          <p:cNvPr id="5" name="TextBox 4"/>
          <p:cNvSpPr txBox="1"/>
          <p:nvPr/>
        </p:nvSpPr>
        <p:spPr>
          <a:xfrm>
            <a:off x="762000" y="1066800"/>
            <a:ext cx="7848600" cy="2400657"/>
          </a:xfrm>
          <a:prstGeom prst="rect">
            <a:avLst/>
          </a:prstGeom>
          <a:noFill/>
        </p:spPr>
        <p:txBody>
          <a:bodyPr wrap="square" rtlCol="1">
            <a:spAutoFit/>
          </a:bodyPr>
          <a:lstStyle/>
          <a:p>
            <a:pPr marL="285750" indent="-285750">
              <a:buFont typeface="Arial" panose="020B0604020202020204" pitchFamily="34" charset="0"/>
              <a:buChar char="•"/>
            </a:pPr>
            <a:r>
              <a:rPr lang="en-US" sz="1800" dirty="0"/>
              <a:t>Enabling Global Interrupts</a:t>
            </a:r>
          </a:p>
          <a:p>
            <a:r>
              <a:rPr lang="en-US" sz="1800" dirty="0"/>
              <a:t>In the AVRs, there’s only one single bit which handles all the interrupts. Thus, to enable it, we need to enable the global interrupts. This is done by calling a function named </a:t>
            </a:r>
            <a:r>
              <a:rPr lang="en-US" sz="1800" dirty="0" err="1"/>
              <a:t>sei</a:t>
            </a:r>
            <a:r>
              <a:rPr lang="en-US" sz="1800" dirty="0"/>
              <a:t>(). According to the previous </a:t>
            </a:r>
            <a:r>
              <a:rPr lang="en-US" sz="1800" dirty="0" err="1"/>
              <a:t>regs</a:t>
            </a:r>
            <a:r>
              <a:rPr lang="en-US" sz="1800" dirty="0"/>
              <a:t> the </a:t>
            </a:r>
            <a:r>
              <a:rPr lang="en-US" sz="1800" dirty="0" err="1"/>
              <a:t>init</a:t>
            </a:r>
            <a:r>
              <a:rPr lang="en-US" sz="1800" dirty="0"/>
              <a:t> function will be as follows: </a:t>
            </a:r>
          </a:p>
          <a:p>
            <a:endParaRPr lang="en-US" sz="1800" dirty="0"/>
          </a:p>
          <a:p>
            <a:endParaRPr lang="en-US" sz="1800" dirty="0"/>
          </a:p>
          <a:p>
            <a:endParaRPr lang="en-US" dirty="0"/>
          </a:p>
          <a:p>
            <a:endParaRPr lang="ar-EG" dirty="0"/>
          </a:p>
        </p:txBody>
      </p:sp>
      <p:sp>
        <p:nvSpPr>
          <p:cNvPr id="8" name="Rectangle 7"/>
          <p:cNvSpPr/>
          <p:nvPr/>
        </p:nvSpPr>
        <p:spPr>
          <a:xfrm>
            <a:off x="762000" y="2590800"/>
            <a:ext cx="7467600" cy="3780907"/>
          </a:xfrm>
          <a:prstGeom prst="rect">
            <a:avLst/>
          </a:prstGeom>
        </p:spPr>
        <p:txBody>
          <a:bodyPr wrap="square">
            <a:spAutoFit/>
          </a:bodyPr>
          <a:lstStyle/>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#include &lt;</a:t>
            </a:r>
            <a:r>
              <a:rPr lang="en-US" sz="1600" dirty="0" err="1">
                <a:solidFill>
                  <a:srgbClr val="4C4C4C"/>
                </a:solidFill>
                <a:latin typeface="Courier New" panose="02070309020205020404" pitchFamily="49" charset="0"/>
                <a:ea typeface="Times New Roman" panose="02020603050405020304" pitchFamily="18" charset="0"/>
                <a:cs typeface="Arial" panose="020B0604020202020204" pitchFamily="34" charset="0"/>
              </a:rPr>
              <a:t>avr</a:t>
            </a: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a:t>
            </a:r>
            <a:r>
              <a:rPr lang="en-US" sz="1600" dirty="0" err="1">
                <a:solidFill>
                  <a:srgbClr val="4C4C4C"/>
                </a:solidFill>
                <a:latin typeface="Courier New" panose="02070309020205020404" pitchFamily="49" charset="0"/>
                <a:ea typeface="Times New Roman" panose="02020603050405020304" pitchFamily="18" charset="0"/>
                <a:cs typeface="Arial" panose="020B0604020202020204" pitchFamily="34" charset="0"/>
              </a:rPr>
              <a:t>io.h</a:t>
            </a: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&gt;</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#include &lt;</a:t>
            </a:r>
            <a:r>
              <a:rPr lang="en-US" sz="1600" dirty="0" err="1">
                <a:solidFill>
                  <a:srgbClr val="4C4C4C"/>
                </a:solidFill>
                <a:latin typeface="Courier New" panose="02070309020205020404" pitchFamily="49" charset="0"/>
                <a:ea typeface="Times New Roman" panose="02020603050405020304" pitchFamily="18" charset="0"/>
                <a:cs typeface="Arial" panose="020B0604020202020204" pitchFamily="34" charset="0"/>
              </a:rPr>
              <a:t>avr</a:t>
            </a: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a:t>
            </a:r>
            <a:r>
              <a:rPr lang="en-US" sz="1600" dirty="0" err="1">
                <a:solidFill>
                  <a:srgbClr val="4C4C4C"/>
                </a:solidFill>
                <a:latin typeface="Courier New" panose="02070309020205020404" pitchFamily="49" charset="0"/>
                <a:ea typeface="Times New Roman" panose="02020603050405020304" pitchFamily="18" charset="0"/>
                <a:cs typeface="Arial" panose="020B0604020202020204" pitchFamily="34" charset="0"/>
              </a:rPr>
              <a:t>interrupt.h</a:t>
            </a: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&gt; </a:t>
            </a:r>
            <a:r>
              <a:rPr lang="en-US" sz="1600" dirty="0">
                <a:solidFill>
                  <a:srgbClr val="4C4C4C"/>
                </a:solidFill>
                <a:latin typeface="Consolas" panose="020B0609020204030204" pitchFamily="49" charset="0"/>
                <a:ea typeface="Times New Roman" panose="02020603050405020304" pitchFamily="18" charset="0"/>
                <a:cs typeface="Arial" panose="020B0604020202020204" pitchFamily="34" charset="0"/>
              </a:rPr>
              <a:t> </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initialize timer, interrupt and variable</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void</a:t>
            </a:r>
            <a:r>
              <a:rPr lang="en-US" sz="1600" dirty="0">
                <a:solidFill>
                  <a:srgbClr val="4C4C4C"/>
                </a:solidFill>
                <a:latin typeface="Consolas" panose="020B0609020204030204" pitchFamily="49" charset="0"/>
                <a:ea typeface="Times New Roman" panose="02020603050405020304" pitchFamily="18" charset="0"/>
                <a:cs typeface="Arial" panose="020B0604020202020204" pitchFamily="34" charset="0"/>
              </a:rPr>
              <a:t> </a:t>
            </a: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timer0_init(){</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set up timer with </a:t>
            </a:r>
            <a:r>
              <a:rPr lang="en-US" sz="1600" dirty="0" err="1">
                <a:solidFill>
                  <a:srgbClr val="00B050"/>
                </a:solidFill>
                <a:latin typeface="Courier New" panose="02070309020205020404" pitchFamily="49" charset="0"/>
                <a:ea typeface="Times New Roman" panose="02020603050405020304" pitchFamily="18" charset="0"/>
                <a:cs typeface="Arial" panose="020B0604020202020204" pitchFamily="34" charset="0"/>
              </a:rPr>
              <a:t>prescaler</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256</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TCCR0B |= (1 &lt;&lt; CS02);</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initialize counter</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TCNT0 = 0;</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enable overflow interrupt</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TIMSK0 |= (1 &lt;&lt; TOIE0);</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enable global interrupts</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600" dirty="0" err="1">
                <a:solidFill>
                  <a:srgbClr val="4C4C4C"/>
                </a:solidFill>
                <a:latin typeface="Courier New" panose="02070309020205020404" pitchFamily="49" charset="0"/>
                <a:ea typeface="Times New Roman" panose="02020603050405020304" pitchFamily="18" charset="0"/>
                <a:cs typeface="Arial" panose="020B0604020202020204" pitchFamily="34" charset="0"/>
              </a:rPr>
              <a:t>sei</a:t>
            </a: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initialize overflow counter variable</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a:t>
            </a:r>
            <a:r>
              <a:rPr lang="en-US" sz="1600" dirty="0" err="1">
                <a:solidFill>
                  <a:srgbClr val="4C4C4C"/>
                </a:solidFill>
                <a:latin typeface="Courier New" panose="02070309020205020404" pitchFamily="49" charset="0"/>
                <a:ea typeface="Times New Roman" panose="02020603050405020304" pitchFamily="18" charset="0"/>
                <a:cs typeface="Arial" panose="020B0604020202020204" pitchFamily="34" charset="0"/>
              </a:rPr>
              <a:t>tot_overflow</a:t>
            </a: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 = 0;</a:t>
            </a:r>
            <a:r>
              <a:rPr lang="en-US" sz="1600" dirty="0">
                <a:latin typeface="Calibri" panose="020F0502020204030204" pitchFamily="34" charset="0"/>
                <a:ea typeface="Times New Roman" panose="02020603050405020304" pitchFamily="18" charset="0"/>
                <a:cs typeface="Arial" panose="020B0604020202020204" pitchFamily="34" charset="0"/>
              </a:rPr>
              <a:t> </a:t>
            </a:r>
            <a:r>
              <a:rPr lang="en-US" sz="1600" dirty="0">
                <a:solidFill>
                  <a:srgbClr val="4C4C4C"/>
                </a:solidFill>
                <a:latin typeface="Courier New" panose="02070309020205020404" pitchFamily="49" charset="0"/>
                <a:ea typeface="Times New Roman" panose="02020603050405020304" pitchFamily="18" charset="0"/>
                <a:cs typeface="Arial" panose="020B0604020202020204" pitchFamily="34" charset="0"/>
              </a:rPr>
              <a:t>}</a:t>
            </a:r>
            <a:r>
              <a:rPr lang="en-US" sz="1600" dirty="0">
                <a:solidFill>
                  <a:srgbClr val="4C4C4C"/>
                </a:solidFill>
                <a:latin typeface="Consolas" panose="020B0609020204030204" pitchFamily="49" charset="0"/>
                <a:ea typeface="Times New Roman" panose="02020603050405020304" pitchFamily="18" charset="0"/>
                <a:cs typeface="Arial" panose="020B0604020202020204" pitchFamily="34" charset="0"/>
              </a:rPr>
              <a:t> </a:t>
            </a:r>
            <a:endParaRPr lang="en-US" sz="16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60649886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Compare match mode (CTC)</a:t>
            </a:r>
          </a:p>
        </p:txBody>
      </p:sp>
      <p:sp>
        <p:nvSpPr>
          <p:cNvPr id="5" name="TextBox 4"/>
          <p:cNvSpPr txBox="1"/>
          <p:nvPr/>
        </p:nvSpPr>
        <p:spPr>
          <a:xfrm>
            <a:off x="457200" y="1219200"/>
            <a:ext cx="8382000" cy="3323987"/>
          </a:xfrm>
          <a:prstGeom prst="rect">
            <a:avLst/>
          </a:prstGeom>
          <a:noFill/>
        </p:spPr>
        <p:txBody>
          <a:bodyPr wrap="square" rtlCol="1">
            <a:spAutoFit/>
          </a:bodyPr>
          <a:lstStyle/>
          <a:p>
            <a:r>
              <a:rPr lang="en-US" sz="1800" dirty="0"/>
              <a:t>AVR timers can operate not only in overflow mode but there are different modes it can be operated in as follows:</a:t>
            </a:r>
          </a:p>
          <a:p>
            <a:pPr marL="285750" indent="-285750">
              <a:buFont typeface="Arial" panose="020B0604020202020204" pitchFamily="34" charset="0"/>
              <a:buChar char="•"/>
            </a:pPr>
            <a:r>
              <a:rPr lang="en-US" sz="1800" dirty="0"/>
              <a:t>Normal mode (Overflow).</a:t>
            </a:r>
          </a:p>
          <a:p>
            <a:pPr marL="285750" indent="-285750">
              <a:buFont typeface="Arial" panose="020B0604020202020204" pitchFamily="34" charset="0"/>
              <a:buChar char="•"/>
            </a:pPr>
            <a:r>
              <a:rPr lang="en-US" sz="1800" dirty="0"/>
              <a:t>Clear Timer on Compare mode (CTC) or Compare Match mode.</a:t>
            </a:r>
          </a:p>
          <a:p>
            <a:pPr marL="285750" indent="-285750">
              <a:buFont typeface="Arial" panose="020B0604020202020204" pitchFamily="34" charset="0"/>
              <a:buChar char="•"/>
            </a:pPr>
            <a:r>
              <a:rPr lang="en-US" sz="1800" dirty="0"/>
              <a:t>Pulse Width Modulation mode (PWM). </a:t>
            </a:r>
          </a:p>
          <a:p>
            <a:pPr marL="285750" indent="-285750">
              <a:buFont typeface="Arial" panose="020B0604020202020204" pitchFamily="34" charset="0"/>
              <a:buChar char="•"/>
            </a:pPr>
            <a:endParaRPr lang="en-US" sz="1800" dirty="0"/>
          </a:p>
          <a:p>
            <a:r>
              <a:rPr lang="en-US" sz="1800" dirty="0">
                <a:solidFill>
                  <a:srgbClr val="FF3300"/>
                </a:solidFill>
              </a:rPr>
              <a:t>Clear Timer on Compare (CTC) Mode:</a:t>
            </a:r>
          </a:p>
          <a:p>
            <a:r>
              <a:rPr lang="en-US" sz="1800" dirty="0"/>
              <a:t>Suppose that We had two timer values with us – Set Point (SP) and Process Value (PV). In every iteration, we used to compare the process value with the set point. Once the process value becomes equal (or exceeds) the set point, the process value is reset.</a:t>
            </a:r>
            <a:br>
              <a:rPr lang="en-US" dirty="0"/>
            </a:br>
            <a:endParaRPr lang="ar-EG" dirty="0"/>
          </a:p>
        </p:txBody>
      </p:sp>
    </p:spTree>
    <p:extLst>
      <p:ext uri="{BB962C8B-B14F-4D97-AF65-F5344CB8AC3E}">
        <p14:creationId xmlns:p14="http://schemas.microsoft.com/office/powerpoint/2010/main" val="352438728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Compare match mode (CTC)</a:t>
            </a:r>
          </a:p>
        </p:txBody>
      </p:sp>
      <p:sp>
        <p:nvSpPr>
          <p:cNvPr id="5" name="TextBox 4"/>
          <p:cNvSpPr txBox="1"/>
          <p:nvPr/>
        </p:nvSpPr>
        <p:spPr>
          <a:xfrm>
            <a:off x="457200" y="1219200"/>
            <a:ext cx="8382000" cy="3785652"/>
          </a:xfrm>
          <a:prstGeom prst="rect">
            <a:avLst/>
          </a:prstGeom>
          <a:noFill/>
        </p:spPr>
        <p:txBody>
          <a:bodyPr wrap="square" rtlCol="1">
            <a:spAutoFit/>
          </a:bodyPr>
          <a:lstStyle/>
          <a:p>
            <a:r>
              <a:rPr lang="en-US" sz="2000" dirty="0">
                <a:solidFill>
                  <a:srgbClr val="FF3300"/>
                </a:solidFill>
              </a:rPr>
              <a:t>Problem Statement</a:t>
            </a:r>
          </a:p>
          <a:p>
            <a:r>
              <a:rPr lang="en-US" sz="1800" dirty="0"/>
              <a:t>We need to flash an LED every 100 </a:t>
            </a:r>
            <a:r>
              <a:rPr lang="en-US" sz="1800" dirty="0" err="1"/>
              <a:t>ms</a:t>
            </a:r>
            <a:r>
              <a:rPr lang="en-US" sz="1800" dirty="0"/>
              <a:t> with CPU frequency 16 </a:t>
            </a:r>
            <a:r>
              <a:rPr lang="en-US" sz="1800" dirty="0" err="1"/>
              <a:t>MHz.</a:t>
            </a:r>
            <a:endParaRPr lang="en-US" sz="1800" dirty="0"/>
          </a:p>
          <a:p>
            <a:endParaRPr lang="en-US" sz="2000" dirty="0"/>
          </a:p>
          <a:p>
            <a:r>
              <a:rPr lang="en-US" sz="2000" i="1" u="sng" dirty="0"/>
              <a:t>Methodology – Using CTC Mode</a:t>
            </a:r>
          </a:p>
          <a:p>
            <a:endParaRPr lang="en-US" sz="2000" i="1" u="sng" dirty="0"/>
          </a:p>
          <a:p>
            <a:r>
              <a:rPr lang="en-US" sz="1800" dirty="0"/>
              <a:t>Now, given </a:t>
            </a:r>
            <a:r>
              <a:rPr lang="en-US" sz="1800" dirty="0" err="1"/>
              <a:t>Freq_CPU</a:t>
            </a:r>
            <a:r>
              <a:rPr lang="en-US" sz="1800" dirty="0"/>
              <a:t> = 16 MHz, with a </a:t>
            </a:r>
            <a:r>
              <a:rPr lang="en-US" sz="1800" dirty="0" err="1"/>
              <a:t>prescaler</a:t>
            </a:r>
            <a:r>
              <a:rPr lang="en-US" sz="1800" dirty="0"/>
              <a:t> of 64, the frequency of the clock pulse reduces to 250 kHz. With a Required Delay = 100 </a:t>
            </a:r>
            <a:r>
              <a:rPr lang="en-US" sz="1800" dirty="0" err="1"/>
              <a:t>ms</a:t>
            </a:r>
            <a:r>
              <a:rPr lang="en-US" sz="1800" dirty="0"/>
              <a:t>, we get the Timer Count to be equal to 24999. Up until now, we would have let the value of the timer increment, and check its value every iteration, whether it’s equal to 24999 or not, and then reset the timer. Now, the same will be done in hardware! We won’t check its value every time in software! We will simply check whether the flag bit is set or not.</a:t>
            </a:r>
          </a:p>
          <a:p>
            <a:endParaRPr lang="en-US" sz="1600" dirty="0">
              <a:solidFill>
                <a:srgbClr val="FF3300"/>
              </a:solidFill>
            </a:endParaRPr>
          </a:p>
        </p:txBody>
      </p:sp>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2514600" y="5004852"/>
            <a:ext cx="4010025" cy="609600"/>
          </a:xfrm>
          <a:prstGeom prst="rect">
            <a:avLst/>
          </a:prstGeom>
        </p:spPr>
      </p:pic>
    </p:spTree>
    <p:extLst>
      <p:ext uri="{BB962C8B-B14F-4D97-AF65-F5344CB8AC3E}">
        <p14:creationId xmlns:p14="http://schemas.microsoft.com/office/powerpoint/2010/main" val="129951028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Compare match mode (CTC)</a:t>
            </a:r>
          </a:p>
        </p:txBody>
      </p:sp>
      <p:sp>
        <p:nvSpPr>
          <p:cNvPr id="5" name="TextBox 4"/>
          <p:cNvSpPr txBox="1"/>
          <p:nvPr/>
        </p:nvSpPr>
        <p:spPr>
          <a:xfrm>
            <a:off x="457200" y="1219200"/>
            <a:ext cx="8534400" cy="4462760"/>
          </a:xfrm>
          <a:prstGeom prst="rect">
            <a:avLst/>
          </a:prstGeom>
          <a:noFill/>
        </p:spPr>
        <p:txBody>
          <a:bodyPr wrap="square" rtlCol="1">
            <a:spAutoFit/>
          </a:bodyPr>
          <a:lstStyle/>
          <a:p>
            <a:r>
              <a:rPr lang="en-US" sz="2000" dirty="0"/>
              <a:t>Now, let me introduce you to the register bits which help you to implement this CTC Mode.</a:t>
            </a:r>
          </a:p>
          <a:p>
            <a:endParaRPr lang="en-US" sz="2000" dirty="0">
              <a:solidFill>
                <a:srgbClr val="FF3300"/>
              </a:solidFill>
            </a:endParaRPr>
          </a:p>
          <a:p>
            <a:pPr marL="285750" indent="-285750">
              <a:buFont typeface="Arial" panose="020B0604020202020204" pitchFamily="34" charset="0"/>
              <a:buChar char="•"/>
            </a:pPr>
            <a:r>
              <a:rPr lang="en-US" sz="1600" dirty="0">
                <a:solidFill>
                  <a:srgbClr val="FF3300"/>
                </a:solidFill>
              </a:rPr>
              <a:t>TCCR1A and TCCR1B Registers (Timer/Counter1 Control Register)</a:t>
            </a:r>
          </a:p>
          <a:p>
            <a:endParaRPr lang="en-US" sz="1600" dirty="0">
              <a:solidFill>
                <a:srgbClr val="FF3300"/>
              </a:solidFill>
            </a:endParaRPr>
          </a:p>
          <a:p>
            <a:endParaRPr lang="en-US" sz="1600" dirty="0">
              <a:solidFill>
                <a:srgbClr val="FF3300"/>
              </a:solidFill>
            </a:endParaRPr>
          </a:p>
          <a:p>
            <a:endParaRPr lang="en-US" sz="1600" dirty="0">
              <a:solidFill>
                <a:srgbClr val="FF3300"/>
              </a:solidFill>
            </a:endParaRPr>
          </a:p>
          <a:p>
            <a:endParaRPr lang="en-US" sz="1600" dirty="0">
              <a:solidFill>
                <a:srgbClr val="FF3300"/>
              </a:solidFill>
            </a:endParaRPr>
          </a:p>
          <a:p>
            <a:endParaRPr lang="en-US" sz="1600" dirty="0">
              <a:solidFill>
                <a:srgbClr val="FF3300"/>
              </a:solidFill>
            </a:endParaRPr>
          </a:p>
          <a:p>
            <a:endParaRPr lang="en-US" sz="1600" dirty="0">
              <a:solidFill>
                <a:srgbClr val="FF3300"/>
              </a:solidFill>
            </a:endParaRPr>
          </a:p>
          <a:p>
            <a:endParaRPr lang="en-US" sz="1600" dirty="0">
              <a:solidFill>
                <a:srgbClr val="FF3300"/>
              </a:solidFill>
            </a:endParaRPr>
          </a:p>
          <a:p>
            <a:endParaRPr lang="en-US" sz="1600" dirty="0">
              <a:solidFill>
                <a:srgbClr val="FF3300"/>
              </a:solidFill>
            </a:endParaRPr>
          </a:p>
          <a:p>
            <a:endParaRPr lang="en-US" sz="1600" dirty="0">
              <a:solidFill>
                <a:srgbClr val="FF3300"/>
              </a:solidFill>
            </a:endParaRPr>
          </a:p>
          <a:p>
            <a:pPr marL="285750" indent="-285750">
              <a:buFont typeface="Wingdings" panose="05000000000000000000" pitchFamily="2" charset="2"/>
              <a:buChar char="Ø"/>
            </a:pPr>
            <a:r>
              <a:rPr lang="en-US" sz="1600" dirty="0"/>
              <a:t>We are already aware of the Clock Select Bits – CS12:10 which set the </a:t>
            </a:r>
            <a:r>
              <a:rPr lang="en-US" sz="1600" dirty="0" err="1"/>
              <a:t>prescaler</a:t>
            </a:r>
            <a:r>
              <a:rPr lang="en-US" sz="1600" dirty="0"/>
              <a:t>. </a:t>
            </a:r>
          </a:p>
          <a:p>
            <a:pPr marL="285750" indent="-285750">
              <a:buFont typeface="Wingdings" panose="05000000000000000000" pitchFamily="2" charset="2"/>
              <a:buChar char="Ø"/>
            </a:pPr>
            <a:r>
              <a:rPr lang="en-US" sz="1600" dirty="0"/>
              <a:t>Right now, we are concerned with the </a:t>
            </a:r>
            <a:r>
              <a:rPr lang="en-US" sz="1600" b="1" dirty="0"/>
              <a:t>Wave Generation Mode Bits – WGM13:10</a:t>
            </a:r>
            <a:r>
              <a:rPr lang="en-US" sz="1600" dirty="0"/>
              <a:t>. which configures the operating mode of the timer. We have discussed before normal mode (overflow mode)</a:t>
            </a:r>
          </a:p>
        </p:txBody>
      </p:sp>
      <p:pic>
        <p:nvPicPr>
          <p:cNvPr id="7" name="Picture 6">
            <a:extLst>
              <a:ext uri="{FF2B5EF4-FFF2-40B4-BE49-F238E27FC236}">
                <a16:creationId xmlns:a16="http://schemas.microsoft.com/office/drawing/2014/main" id="{16ED610E-7209-4CA8-B38A-C35C9522F393}"/>
              </a:ext>
            </a:extLst>
          </p:cNvPr>
          <p:cNvPicPr>
            <a:picLocks noChangeAspect="1"/>
          </p:cNvPicPr>
          <p:nvPr/>
        </p:nvPicPr>
        <p:blipFill>
          <a:blip r:embed="rId3"/>
          <a:stretch>
            <a:fillRect/>
          </a:stretch>
        </p:blipFill>
        <p:spPr>
          <a:xfrm>
            <a:off x="1119187" y="2438400"/>
            <a:ext cx="6905625" cy="847725"/>
          </a:xfrm>
          <a:prstGeom prst="rect">
            <a:avLst/>
          </a:prstGeom>
        </p:spPr>
      </p:pic>
      <p:pic>
        <p:nvPicPr>
          <p:cNvPr id="9" name="Picture 8">
            <a:extLst>
              <a:ext uri="{FF2B5EF4-FFF2-40B4-BE49-F238E27FC236}">
                <a16:creationId xmlns:a16="http://schemas.microsoft.com/office/drawing/2014/main" id="{A3260B39-FE30-4A34-B3B6-35954F02332E}"/>
              </a:ext>
            </a:extLst>
          </p:cNvPr>
          <p:cNvPicPr>
            <a:picLocks noChangeAspect="1"/>
          </p:cNvPicPr>
          <p:nvPr/>
        </p:nvPicPr>
        <p:blipFill>
          <a:blip r:embed="rId4"/>
          <a:stretch>
            <a:fillRect/>
          </a:stretch>
        </p:blipFill>
        <p:spPr>
          <a:xfrm>
            <a:off x="1152525" y="3324225"/>
            <a:ext cx="6772275" cy="866775"/>
          </a:xfrm>
          <a:prstGeom prst="rect">
            <a:avLst/>
          </a:prstGeom>
        </p:spPr>
      </p:pic>
    </p:spTree>
    <p:extLst>
      <p:ext uri="{BB962C8B-B14F-4D97-AF65-F5344CB8AC3E}">
        <p14:creationId xmlns:p14="http://schemas.microsoft.com/office/powerpoint/2010/main" val="111878845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Compare match mode (CTC)</a:t>
            </a:r>
          </a:p>
        </p:txBody>
      </p:sp>
      <p:sp>
        <p:nvSpPr>
          <p:cNvPr id="5" name="TextBox 4"/>
          <p:cNvSpPr txBox="1"/>
          <p:nvPr/>
        </p:nvSpPr>
        <p:spPr>
          <a:xfrm>
            <a:off x="457200" y="1219200"/>
            <a:ext cx="8534400" cy="5016758"/>
          </a:xfrm>
          <a:prstGeom prst="rect">
            <a:avLst/>
          </a:prstGeom>
          <a:noFill/>
        </p:spPr>
        <p:txBody>
          <a:bodyPr wrap="square" rtlCol="1">
            <a:spAutoFit/>
          </a:bodyPr>
          <a:lstStyle/>
          <a:p>
            <a:pPr marL="285750" indent="-285750">
              <a:buFont typeface="Wingdings" panose="05000000000000000000" pitchFamily="2" charset="2"/>
              <a:buChar char="Ø"/>
            </a:pPr>
            <a:r>
              <a:rPr lang="en-US" sz="1600" dirty="0"/>
              <a:t>The following table shows how to configure the different modes by </a:t>
            </a:r>
            <a:r>
              <a:rPr lang="en-US" sz="1600" dirty="0" err="1"/>
              <a:t>configiure</a:t>
            </a:r>
            <a:r>
              <a:rPr lang="en-US" sz="1600" dirty="0"/>
              <a:t> the values of </a:t>
            </a:r>
            <a:r>
              <a:rPr lang="en-US" sz="1600" b="1" dirty="0"/>
              <a:t>WGM13:0</a:t>
            </a:r>
            <a:r>
              <a:rPr lang="en-US" sz="1600" dirty="0"/>
              <a:t> </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dirty="0"/>
              <a:t>We have discussed before normal mode (overflow mode) which requires WGM13:0=0000. By default, these bit are zero unless it is not configured. </a:t>
            </a:r>
          </a:p>
        </p:txBody>
      </p:sp>
      <p:pic>
        <p:nvPicPr>
          <p:cNvPr id="3" name="Picture 2"/>
          <p:cNvPicPr>
            <a:picLocks noChangeAspect="1"/>
          </p:cNvPicPr>
          <p:nvPr/>
        </p:nvPicPr>
        <p:blipFill>
          <a:blip r:embed="rId3"/>
          <a:stretch>
            <a:fillRect/>
          </a:stretch>
        </p:blipFill>
        <p:spPr>
          <a:xfrm>
            <a:off x="1219200" y="1828800"/>
            <a:ext cx="6739062" cy="3717865"/>
          </a:xfrm>
          <a:prstGeom prst="rect">
            <a:avLst/>
          </a:prstGeom>
        </p:spPr>
      </p:pic>
    </p:spTree>
    <p:extLst>
      <p:ext uri="{BB962C8B-B14F-4D97-AF65-F5344CB8AC3E}">
        <p14:creationId xmlns:p14="http://schemas.microsoft.com/office/powerpoint/2010/main" val="139115951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Compare match mode (CTC)</a:t>
            </a:r>
          </a:p>
        </p:txBody>
      </p:sp>
      <p:sp>
        <p:nvSpPr>
          <p:cNvPr id="5" name="TextBox 4"/>
          <p:cNvSpPr txBox="1"/>
          <p:nvPr/>
        </p:nvSpPr>
        <p:spPr>
          <a:xfrm>
            <a:off x="152400" y="1219200"/>
            <a:ext cx="8534400" cy="6001643"/>
          </a:xfrm>
          <a:prstGeom prst="rect">
            <a:avLst/>
          </a:prstGeom>
          <a:noFill/>
        </p:spPr>
        <p:txBody>
          <a:bodyPr wrap="square" rtlCol="1">
            <a:spAutoFit/>
          </a:bodyPr>
          <a:lstStyle/>
          <a:p>
            <a:pPr marL="285750" indent="-285750">
              <a:buFont typeface="Wingdings" panose="05000000000000000000" pitchFamily="2" charset="2"/>
              <a:buChar char="Ø"/>
            </a:pPr>
            <a:r>
              <a:rPr lang="en-US" sz="1600" dirty="0"/>
              <a:t>See that there are two possible selections for CTC Mode. Practically, both are the same, except the fact that we store the timer compare value in different registers. Right now, let’s move on with the first option (0100). Thus, the initialization of TCCR1A and TCCR1B is as follows.</a:t>
            </a:r>
          </a:p>
          <a:p>
            <a:pPr marL="285750" indent="-285750">
              <a:buFont typeface="Wingdings" panose="05000000000000000000" pitchFamily="2" charset="2"/>
              <a:buChar char="Ø"/>
            </a:pPr>
            <a:endParaRPr lang="en-US" sz="1600" dirty="0"/>
          </a:p>
          <a:p>
            <a:r>
              <a:rPr lang="en-US" sz="1600" dirty="0">
                <a:solidFill>
                  <a:srgbClr val="00B050"/>
                </a:solidFill>
              </a:rPr>
              <a:t>//Mode CTC and </a:t>
            </a:r>
            <a:r>
              <a:rPr lang="en-US" sz="1600" dirty="0" err="1">
                <a:solidFill>
                  <a:srgbClr val="00B050"/>
                </a:solidFill>
              </a:rPr>
              <a:t>prescaler</a:t>
            </a:r>
            <a:r>
              <a:rPr lang="en-US" sz="1600" dirty="0">
                <a:solidFill>
                  <a:srgbClr val="00B050"/>
                </a:solidFill>
              </a:rPr>
              <a:t>= 64</a:t>
            </a:r>
          </a:p>
          <a:p>
            <a:r>
              <a:rPr lang="en-US" sz="1600" dirty="0"/>
              <a:t>TCCR1A |=0;</a:t>
            </a:r>
          </a:p>
          <a:p>
            <a:r>
              <a:rPr lang="en-US" sz="1600" dirty="0"/>
              <a:t>TCCR1B |=(1&lt;&lt; WGM12)</a:t>
            </a:r>
          </a:p>
          <a:p>
            <a:r>
              <a:rPr lang="en-US" sz="1600" dirty="0"/>
              <a:t>                   | (1&lt;&lt; CS00)</a:t>
            </a:r>
          </a:p>
          <a:p>
            <a:r>
              <a:rPr lang="en-US" sz="1600" dirty="0"/>
              <a:t>                   | (1&lt;&lt; CS01);</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p:txBody>
      </p:sp>
      <p:pic>
        <p:nvPicPr>
          <p:cNvPr id="6" name="Picture 5"/>
          <p:cNvPicPr>
            <a:picLocks noChangeAspect="1"/>
          </p:cNvPicPr>
          <p:nvPr/>
        </p:nvPicPr>
        <p:blipFill>
          <a:blip r:embed="rId3"/>
          <a:stretch>
            <a:fillRect/>
          </a:stretch>
        </p:blipFill>
        <p:spPr>
          <a:xfrm>
            <a:off x="2819400" y="2895600"/>
            <a:ext cx="6131505" cy="3382683"/>
          </a:xfrm>
          <a:prstGeom prst="rect">
            <a:avLst/>
          </a:prstGeom>
        </p:spPr>
      </p:pic>
    </p:spTree>
    <p:extLst>
      <p:ext uri="{BB962C8B-B14F-4D97-AF65-F5344CB8AC3E}">
        <p14:creationId xmlns:p14="http://schemas.microsoft.com/office/powerpoint/2010/main" val="393344500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Compare match mode (CTC)</a:t>
            </a:r>
          </a:p>
        </p:txBody>
      </p:sp>
      <p:sp>
        <p:nvSpPr>
          <p:cNvPr id="5" name="TextBox 4"/>
          <p:cNvSpPr txBox="1"/>
          <p:nvPr/>
        </p:nvSpPr>
        <p:spPr>
          <a:xfrm>
            <a:off x="152400" y="1219200"/>
            <a:ext cx="8534400" cy="3539430"/>
          </a:xfrm>
          <a:prstGeom prst="rect">
            <a:avLst/>
          </a:prstGeom>
          <a:noFill/>
        </p:spPr>
        <p:txBody>
          <a:bodyPr wrap="square" rtlCol="1">
            <a:spAutoFit/>
          </a:bodyPr>
          <a:lstStyle/>
          <a:p>
            <a:pPr marL="285750" indent="-285750">
              <a:buFont typeface="Arial" panose="020B0604020202020204" pitchFamily="34" charset="0"/>
              <a:buChar char="•"/>
            </a:pPr>
            <a:r>
              <a:rPr lang="en-US" sz="1600" dirty="0">
                <a:solidFill>
                  <a:srgbClr val="FF3300"/>
                </a:solidFill>
              </a:rPr>
              <a:t>OCR1A and OCR1B Registers Output Compare Register </a:t>
            </a:r>
          </a:p>
          <a:p>
            <a:r>
              <a:rPr lang="en-US" sz="1600" dirty="0"/>
              <a:t>OCR register is a register which we store the compared value with in it. </a:t>
            </a:r>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solidFill>
                <a:srgbClr val="FF3300"/>
              </a:solidFill>
            </a:endParaRPr>
          </a:p>
          <a:p>
            <a:endParaRPr lang="en-US" sz="1600" dirty="0">
              <a:solidFill>
                <a:srgbClr val="FF3300"/>
              </a:solidFill>
            </a:endParaRPr>
          </a:p>
          <a:p>
            <a:pPr marL="285750" indent="-285750">
              <a:buFont typeface="Wingdings" panose="05000000000000000000" pitchFamily="2" charset="2"/>
              <a:buChar char="Ø"/>
            </a:pPr>
            <a:endParaRPr lang="en-US" sz="1600" dirty="0"/>
          </a:p>
        </p:txBody>
      </p:sp>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1143000" y="2743200"/>
            <a:ext cx="6509790" cy="1079401"/>
          </a:xfrm>
          <a:prstGeom prst="rect">
            <a:avLst/>
          </a:prstGeom>
        </p:spPr>
      </p:pic>
      <p:pic>
        <p:nvPicPr>
          <p:cNvPr id="4" name="Picture 3"/>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tretch>
            <a:fillRect/>
          </a:stretch>
        </p:blipFill>
        <p:spPr>
          <a:xfrm>
            <a:off x="1197495" y="3822601"/>
            <a:ext cx="6400800" cy="1005361"/>
          </a:xfrm>
          <a:prstGeom prst="rect">
            <a:avLst/>
          </a:prstGeom>
        </p:spPr>
      </p:pic>
    </p:spTree>
    <p:extLst>
      <p:ext uri="{BB962C8B-B14F-4D97-AF65-F5344CB8AC3E}">
        <p14:creationId xmlns:p14="http://schemas.microsoft.com/office/powerpoint/2010/main" val="326175481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Compare match mode (CTC)</a:t>
            </a:r>
          </a:p>
        </p:txBody>
      </p:sp>
      <p:sp>
        <p:nvSpPr>
          <p:cNvPr id="5" name="TextBox 4"/>
          <p:cNvSpPr txBox="1"/>
          <p:nvPr/>
        </p:nvSpPr>
        <p:spPr>
          <a:xfrm>
            <a:off x="152400" y="1066800"/>
            <a:ext cx="8534400" cy="3046988"/>
          </a:xfrm>
          <a:prstGeom prst="rect">
            <a:avLst/>
          </a:prstGeom>
          <a:noFill/>
        </p:spPr>
        <p:txBody>
          <a:bodyPr wrap="square" rtlCol="1">
            <a:spAutoFit/>
          </a:bodyPr>
          <a:lstStyle/>
          <a:p>
            <a:pPr marL="285750" indent="-285750">
              <a:buFont typeface="Arial" panose="020B0604020202020204" pitchFamily="34" charset="0"/>
              <a:buChar char="•"/>
            </a:pPr>
            <a:r>
              <a:rPr lang="en-US" sz="1600" dirty="0">
                <a:solidFill>
                  <a:srgbClr val="FF3300"/>
                </a:solidFill>
              </a:rPr>
              <a:t>TIFR1 Register (Timer/Counter1 Interrupt Flag Register)</a:t>
            </a:r>
          </a:p>
          <a:p>
            <a:pPr marL="285750" indent="-285750">
              <a:buFont typeface="Arial" panose="020B0604020202020204" pitchFamily="34" charset="0"/>
              <a:buChar char="•"/>
            </a:pPr>
            <a:endParaRPr lang="en-US" sz="1600" dirty="0">
              <a:solidFill>
                <a:srgbClr val="FF3300"/>
              </a:solidFill>
            </a:endParaRPr>
          </a:p>
          <a:p>
            <a:pPr marL="285750" indent="-285750">
              <a:buFont typeface="Arial" panose="020B0604020202020204" pitchFamily="34" charset="0"/>
              <a:buChar char="•"/>
            </a:pPr>
            <a:endParaRPr lang="en-US" sz="1600" dirty="0">
              <a:solidFill>
                <a:srgbClr val="FF3300"/>
              </a:solidFill>
            </a:endParaRPr>
          </a:p>
          <a:p>
            <a:pPr marL="285750" indent="-285750">
              <a:buFont typeface="Arial" panose="020B0604020202020204" pitchFamily="34" charset="0"/>
              <a:buChar char="•"/>
            </a:pPr>
            <a:endParaRPr lang="en-US" sz="1600" dirty="0">
              <a:solidFill>
                <a:srgbClr val="FF3300"/>
              </a:solidFill>
            </a:endParaRPr>
          </a:p>
          <a:p>
            <a:pPr marL="285750" indent="-285750">
              <a:buFont typeface="Arial" panose="020B0604020202020204" pitchFamily="34" charset="0"/>
              <a:buChar char="•"/>
            </a:pPr>
            <a:endParaRPr lang="en-US" sz="1600" dirty="0">
              <a:solidFill>
                <a:srgbClr val="FF3300"/>
              </a:solidFill>
            </a:endParaRPr>
          </a:p>
          <a:p>
            <a:r>
              <a:rPr lang="en-US" sz="1600" dirty="0"/>
              <a:t>We are interested in </a:t>
            </a:r>
            <a:r>
              <a:rPr lang="en-US" sz="1600" b="1" dirty="0"/>
              <a:t>Bit 2:1 – OCF1A:B – Timer/Counter1, Output Compare A/B Match Flag Bit</a:t>
            </a:r>
            <a:r>
              <a:rPr lang="en-US" sz="1600" dirty="0"/>
              <a:t>. This bit is set (one) by the AVR whenever a match occurs i.e. TCNT1 becomes equal to OCR1A (or OCR1B). It is cleared automatically whenever the corresponding Interrupt Service Routine (ISR) is executed. Alternatively, it can be cleared by writing ‘1’ to it!</a:t>
            </a:r>
          </a:p>
          <a:p>
            <a:endParaRPr lang="en-US" sz="1600" dirty="0"/>
          </a:p>
          <a:p>
            <a:pPr marL="285750" indent="-285750">
              <a:buFont typeface="Wingdings" panose="05000000000000000000" pitchFamily="2" charset="2"/>
              <a:buChar char="v"/>
            </a:pPr>
            <a:r>
              <a:rPr lang="en-US" sz="1600" dirty="0"/>
              <a:t>Now return back to our problem statement: We need to flash an LED every 100 </a:t>
            </a:r>
            <a:r>
              <a:rPr lang="en-US" sz="1600" dirty="0" err="1"/>
              <a:t>ms</a:t>
            </a:r>
            <a:r>
              <a:rPr lang="en-US" sz="1600" dirty="0"/>
              <a:t> with CPU frequency 16 MHz using timer1 in AVR.</a:t>
            </a:r>
          </a:p>
        </p:txBody>
      </p:sp>
      <p:sp>
        <p:nvSpPr>
          <p:cNvPr id="6" name="Rectangle 5"/>
          <p:cNvSpPr/>
          <p:nvPr/>
        </p:nvSpPr>
        <p:spPr>
          <a:xfrm>
            <a:off x="762000" y="4054771"/>
            <a:ext cx="7315200" cy="2727029"/>
          </a:xfrm>
          <a:prstGeom prst="rect">
            <a:avLst/>
          </a:prstGeom>
        </p:spPr>
        <p:txBody>
          <a:bodyPr wrap="square">
            <a:spAutoFit/>
          </a:bodyPr>
          <a:lstStyle/>
          <a:p>
            <a:pPr>
              <a:lnSpc>
                <a:spcPct val="107000"/>
              </a:lnSpc>
              <a:spcAft>
                <a:spcPts val="0"/>
              </a:spcAft>
            </a:pP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#include &lt;</a:t>
            </a:r>
            <a:r>
              <a:rPr lang="en-US" sz="1600" dirty="0" err="1">
                <a:solidFill>
                  <a:srgbClr val="888888"/>
                </a:solidFill>
                <a:latin typeface="Courier New" panose="02070309020205020404" pitchFamily="49" charset="0"/>
                <a:ea typeface="Times New Roman" panose="02020603050405020304" pitchFamily="18" charset="0"/>
                <a:cs typeface="Arial" panose="020B0604020202020204" pitchFamily="34" charset="0"/>
              </a:rPr>
              <a:t>avr</a:t>
            </a: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a:t>
            </a:r>
            <a:r>
              <a:rPr lang="en-US" sz="1600" dirty="0" err="1">
                <a:solidFill>
                  <a:srgbClr val="888888"/>
                </a:solidFill>
                <a:latin typeface="Courier New" panose="02070309020205020404" pitchFamily="49" charset="0"/>
                <a:ea typeface="Times New Roman" panose="02020603050405020304" pitchFamily="18" charset="0"/>
                <a:cs typeface="Arial" panose="020B0604020202020204" pitchFamily="34" charset="0"/>
              </a:rPr>
              <a:t>io.h</a:t>
            </a: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&gt;</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initialize timer, interrupt and variable</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void</a:t>
            </a:r>
            <a:r>
              <a:rPr lang="en-US" sz="1600" dirty="0">
                <a:solidFill>
                  <a:srgbClr val="888888"/>
                </a:solidFill>
                <a:latin typeface="Consolas" panose="020B0609020204030204" pitchFamily="49" charset="0"/>
                <a:ea typeface="Times New Roman" panose="02020603050405020304" pitchFamily="18" charset="0"/>
                <a:cs typeface="Arial" panose="020B0604020202020204" pitchFamily="34" charset="0"/>
              </a:rPr>
              <a:t> </a:t>
            </a: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timer1_init(){</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set up timer with </a:t>
            </a:r>
            <a:r>
              <a:rPr lang="en-US" sz="1600" dirty="0" err="1">
                <a:solidFill>
                  <a:srgbClr val="00B050"/>
                </a:solidFill>
                <a:latin typeface="Courier New" panose="02070309020205020404" pitchFamily="49" charset="0"/>
                <a:ea typeface="Times New Roman" panose="02020603050405020304" pitchFamily="18" charset="0"/>
                <a:cs typeface="Arial" panose="020B0604020202020204" pitchFamily="34" charset="0"/>
              </a:rPr>
              <a:t>prescaler</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64 and CTC mode</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TCCR1B |= (1 &lt;&lt; WGM12)|(1 &lt;&lt; CS01)|(1 &lt;&lt; CS00);</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initialize counter</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TCNT1 = 0;</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initialize compare value</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OCR1A = 24999;</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4DA670C4-7C19-40A6-B07A-3F18CAB60211}"/>
              </a:ext>
            </a:extLst>
          </p:cNvPr>
          <p:cNvPicPr>
            <a:picLocks noChangeAspect="1"/>
          </p:cNvPicPr>
          <p:nvPr/>
        </p:nvPicPr>
        <p:blipFill>
          <a:blip r:embed="rId3"/>
          <a:stretch>
            <a:fillRect/>
          </a:stretch>
        </p:blipFill>
        <p:spPr>
          <a:xfrm>
            <a:off x="828675" y="1428792"/>
            <a:ext cx="7486650" cy="933450"/>
          </a:xfrm>
          <a:prstGeom prst="rect">
            <a:avLst/>
          </a:prstGeom>
        </p:spPr>
      </p:pic>
    </p:spTree>
    <p:extLst>
      <p:ext uri="{BB962C8B-B14F-4D97-AF65-F5344CB8AC3E}">
        <p14:creationId xmlns:p14="http://schemas.microsoft.com/office/powerpoint/2010/main" val="88264075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Compare match mode (CTC)</a:t>
            </a:r>
          </a:p>
        </p:txBody>
      </p:sp>
      <p:sp>
        <p:nvSpPr>
          <p:cNvPr id="3" name="Rectangle 2"/>
          <p:cNvSpPr/>
          <p:nvPr/>
        </p:nvSpPr>
        <p:spPr>
          <a:xfrm>
            <a:off x="457200" y="1219200"/>
            <a:ext cx="9144000" cy="5159874"/>
          </a:xfrm>
          <a:prstGeom prst="rect">
            <a:avLst/>
          </a:prstGeom>
        </p:spPr>
        <p:txBody>
          <a:bodyPr wrap="square">
            <a:spAutoFit/>
          </a:bodyPr>
          <a:lstStyle/>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void</a:t>
            </a:r>
            <a:r>
              <a:rPr lang="en-US" sz="1400" dirty="0">
                <a:solidFill>
                  <a:srgbClr val="888888"/>
                </a:solidFill>
                <a:latin typeface="Consolas" panose="020B0609020204030204" pitchFamily="49" charset="0"/>
                <a:ea typeface="Times New Roman" panose="02020603050405020304" pitchFamily="18" charset="0"/>
                <a:cs typeface="Arial" panose="020B0604020202020204" pitchFamily="34" charset="0"/>
              </a:rPr>
              <a:t> </a:t>
            </a: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main(void)</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connect led to pin PC0</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DDRC |= (1 &lt;&lt; 0);</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initialize timer</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timer1_init();</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while(1)</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check whether the flag bit is set</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if set, it means that there has been a compare match</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and the timer has been cleared</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use this opportunity to toggle the led</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if</a:t>
            </a:r>
            <a:r>
              <a:rPr lang="en-US" sz="1400" dirty="0">
                <a:solidFill>
                  <a:srgbClr val="888888"/>
                </a:solidFill>
                <a:latin typeface="Consolas" panose="020B0609020204030204" pitchFamily="49" charset="0"/>
                <a:ea typeface="Times New Roman" panose="02020603050405020304" pitchFamily="18" charset="0"/>
                <a:cs typeface="Arial" panose="020B0604020202020204" pitchFamily="34" charset="0"/>
              </a:rPr>
              <a:t> </a:t>
            </a: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(TIFR1 &amp; (1 &lt;&lt; OCF1A)) </a:t>
            </a: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NOTE: '&gt;=' used instead of '=='</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PORTC ^= (1 &lt;&lt; 0); </a:t>
            </a: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toggles the led</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wait! we are not done yet!</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clear the flag bit manually since there is no ISR to execute</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clear it by writing '1' to it (as per the datasheet)</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TIFR1 |= (1 &lt;&lt; OCF1A);</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29190506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Compare match mode (CTC)</a:t>
            </a:r>
          </a:p>
        </p:txBody>
      </p:sp>
      <p:sp>
        <p:nvSpPr>
          <p:cNvPr id="4" name="Rectangle 3"/>
          <p:cNvSpPr/>
          <p:nvPr/>
        </p:nvSpPr>
        <p:spPr>
          <a:xfrm>
            <a:off x="457200" y="1219200"/>
            <a:ext cx="8153400" cy="4955203"/>
          </a:xfrm>
          <a:prstGeom prst="rect">
            <a:avLst/>
          </a:prstGeom>
        </p:spPr>
        <p:txBody>
          <a:bodyPr wrap="square">
            <a:spAutoFit/>
          </a:bodyPr>
          <a:lstStyle/>
          <a:p>
            <a:pPr algn="just"/>
            <a:r>
              <a:rPr lang="en-US" sz="2000" dirty="0">
                <a:solidFill>
                  <a:srgbClr val="333333"/>
                </a:solidFill>
                <a:latin typeface="Abel"/>
              </a:rPr>
              <a:t>Methodology – Using Interrupts with CTC Mode</a:t>
            </a:r>
          </a:p>
          <a:p>
            <a:pPr marL="285750" indent="-285750" algn="just">
              <a:buFont typeface="Arial" panose="020B0604020202020204" pitchFamily="34" charset="0"/>
              <a:buChar char="•"/>
            </a:pPr>
            <a:r>
              <a:rPr lang="en-US" sz="1600" dirty="0"/>
              <a:t>In the previous methodology, we simply used the CTC Mode of operation. We used to check every time for the flag bit (OCF1A). Now let’s shift this responsibility to the AVR itself. now we </a:t>
            </a:r>
            <a:r>
              <a:rPr lang="en-US" sz="1600" i="1" dirty="0"/>
              <a:t>do not need to check</a:t>
            </a:r>
            <a:r>
              <a:rPr lang="en-US" sz="1600" dirty="0"/>
              <a:t> for the flag bit at all! The AVR will compare TCNT1 with OCR1A. Whenever a match occurs, it sets the flag bit OCF1A, and </a:t>
            </a:r>
            <a:r>
              <a:rPr lang="en-US" sz="1600" i="1" dirty="0"/>
              <a:t>also</a:t>
            </a:r>
            <a:r>
              <a:rPr lang="en-US" sz="1600" dirty="0"/>
              <a:t> fires an interrupt.</a:t>
            </a:r>
          </a:p>
          <a:p>
            <a:pPr marL="285750" indent="-285750" algn="just">
              <a:buFont typeface="Arial" panose="020B0604020202020204" pitchFamily="34" charset="0"/>
              <a:buChar char="•"/>
            </a:pPr>
            <a:r>
              <a:rPr lang="en-US" sz="1600" dirty="0"/>
              <a:t>There are three kinds of interrupts in AVR – </a:t>
            </a:r>
            <a:r>
              <a:rPr lang="en-US" sz="1600" i="1" dirty="0"/>
              <a:t>overflow, compare</a:t>
            </a:r>
            <a:r>
              <a:rPr lang="en-US" sz="1600" dirty="0"/>
              <a:t> and </a:t>
            </a:r>
            <a:r>
              <a:rPr lang="en-US" sz="1600" i="1" dirty="0"/>
              <a:t>capture</a:t>
            </a:r>
            <a:r>
              <a:rPr lang="en-US" sz="1600" dirty="0"/>
              <a:t>. We have already discussed the </a:t>
            </a:r>
            <a:r>
              <a:rPr lang="en-US" sz="1600" i="1" dirty="0"/>
              <a:t>overflow</a:t>
            </a:r>
            <a:r>
              <a:rPr lang="en-US" sz="1600" dirty="0"/>
              <a:t> interrupt. For this case, we need to enable the </a:t>
            </a:r>
            <a:r>
              <a:rPr lang="en-US" sz="1600" i="1" dirty="0"/>
              <a:t>compare</a:t>
            </a:r>
            <a:r>
              <a:rPr lang="en-US" sz="1600" dirty="0"/>
              <a:t> interrupt. The following register is used to enable interrupts.</a:t>
            </a:r>
          </a:p>
          <a:p>
            <a:pPr marL="742950" lvl="1" indent="-285750" algn="just">
              <a:buFont typeface="Wingdings" panose="05000000000000000000" pitchFamily="2" charset="2"/>
              <a:buChar char="Ø"/>
            </a:pPr>
            <a:r>
              <a:rPr lang="en-US" sz="1600" dirty="0">
                <a:solidFill>
                  <a:srgbClr val="FF0000"/>
                </a:solidFill>
              </a:rPr>
              <a:t>TIMSK1 Register – Timer/Counter1 Interrupt Mask Register </a:t>
            </a:r>
          </a:p>
          <a:p>
            <a:pPr marL="285750" indent="-285750" algn="just">
              <a:buFont typeface="Arial" panose="020B0604020202020204" pitchFamily="34" charset="0"/>
              <a:buChar char="•"/>
            </a:pPr>
            <a:endParaRPr lang="en-US" sz="1600" dirty="0"/>
          </a:p>
          <a:p>
            <a:pPr algn="just"/>
            <a:endParaRPr lang="en-US" sz="1600" dirty="0"/>
          </a:p>
          <a:p>
            <a:pPr algn="just"/>
            <a:endParaRPr lang="en-US" sz="1600" dirty="0"/>
          </a:p>
          <a:p>
            <a:pPr algn="just"/>
            <a:endParaRPr lang="en-US" sz="1600" dirty="0"/>
          </a:p>
          <a:p>
            <a:pPr algn="just"/>
            <a:r>
              <a:rPr lang="en-US" sz="1600" dirty="0"/>
              <a:t>We have already come across TOIE1 bit. Now, the </a:t>
            </a:r>
            <a:r>
              <a:rPr lang="en-US" sz="1600" b="1" dirty="0"/>
              <a:t>Bit 2:1 –</a:t>
            </a:r>
            <a:r>
              <a:rPr lang="en-US" sz="1600" dirty="0"/>
              <a:t> </a:t>
            </a:r>
            <a:r>
              <a:rPr lang="en-US" sz="1600" b="1" dirty="0"/>
              <a:t>OCIE1A:B – Timer/Counter1, Output Compare A/B Match Interrupt Enable</a:t>
            </a:r>
            <a:r>
              <a:rPr lang="en-US" sz="1600" dirty="0"/>
              <a:t> bits are of our interest here. Enabling it ensures that an interrupt is fired whenever a match occurs. Since there are two CTC channels (unit) in Timer1, we have two different bits OCIE1A and OCIE1B for them.</a:t>
            </a:r>
          </a:p>
        </p:txBody>
      </p:sp>
      <p:pic>
        <p:nvPicPr>
          <p:cNvPr id="6" name="Picture 5">
            <a:extLst>
              <a:ext uri="{FF2B5EF4-FFF2-40B4-BE49-F238E27FC236}">
                <a16:creationId xmlns:a16="http://schemas.microsoft.com/office/drawing/2014/main" id="{AFB115B2-DC41-4F29-93E8-1F54FEF06509}"/>
              </a:ext>
            </a:extLst>
          </p:cNvPr>
          <p:cNvPicPr>
            <a:picLocks noChangeAspect="1"/>
          </p:cNvPicPr>
          <p:nvPr/>
        </p:nvPicPr>
        <p:blipFill>
          <a:blip r:embed="rId3"/>
          <a:stretch>
            <a:fillRect/>
          </a:stretch>
        </p:blipFill>
        <p:spPr>
          <a:xfrm>
            <a:off x="1166567" y="3810000"/>
            <a:ext cx="6677025" cy="923925"/>
          </a:xfrm>
          <a:prstGeom prst="rect">
            <a:avLst/>
          </a:prstGeom>
        </p:spPr>
      </p:pic>
    </p:spTree>
    <p:extLst>
      <p:ext uri="{BB962C8B-B14F-4D97-AF65-F5344CB8AC3E}">
        <p14:creationId xmlns:p14="http://schemas.microsoft.com/office/powerpoint/2010/main" val="25523676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Compare match mode (CTC)</a:t>
            </a:r>
          </a:p>
        </p:txBody>
      </p:sp>
      <p:sp>
        <p:nvSpPr>
          <p:cNvPr id="4" name="Rectangle 3"/>
          <p:cNvSpPr/>
          <p:nvPr/>
        </p:nvSpPr>
        <p:spPr>
          <a:xfrm>
            <a:off x="457200" y="1219200"/>
            <a:ext cx="8153400" cy="1631216"/>
          </a:xfrm>
          <a:prstGeom prst="rect">
            <a:avLst/>
          </a:prstGeom>
        </p:spPr>
        <p:txBody>
          <a:bodyPr wrap="square">
            <a:spAutoFit/>
          </a:bodyPr>
          <a:lstStyle/>
          <a:p>
            <a:pPr marL="285750" indent="-285750" algn="just">
              <a:buFont typeface="Wingdings" panose="05000000000000000000" pitchFamily="2" charset="2"/>
              <a:buChar char="Ø"/>
            </a:pPr>
            <a:r>
              <a:rPr lang="en-US" sz="1800" dirty="0"/>
              <a:t>Now let’s proceed to write an ISR for this. The ISR is defined as follows:</a:t>
            </a:r>
            <a:endParaRPr lang="en-US" sz="1800" dirty="0">
              <a:solidFill>
                <a:srgbClr val="333333"/>
              </a:solidFill>
              <a:latin typeface="Abel"/>
            </a:endParaRPr>
          </a:p>
          <a:p>
            <a:pPr marL="285750" indent="-285750" algn="just">
              <a:buFont typeface="Wingdings" panose="05000000000000000000" pitchFamily="2" charset="2"/>
              <a:buChar char="v"/>
            </a:pPr>
            <a:r>
              <a:rPr lang="en-US" sz="1600" dirty="0">
                <a:solidFill>
                  <a:srgbClr val="333333"/>
                </a:solidFill>
                <a:latin typeface="Abel"/>
              </a:rPr>
              <a:t>Note: </a:t>
            </a:r>
            <a:r>
              <a:rPr lang="en-US" sz="1600" dirty="0"/>
              <a:t>Executing the ISR clears the </a:t>
            </a:r>
          </a:p>
          <a:p>
            <a:pPr algn="just"/>
            <a:r>
              <a:rPr lang="en-US" sz="1600" dirty="0"/>
              <a:t>    OCF1A flag bit automatically and the </a:t>
            </a:r>
          </a:p>
          <a:p>
            <a:pPr algn="just"/>
            <a:r>
              <a:rPr lang="en-US" sz="1600" dirty="0"/>
              <a:t>    timer value (TCNT1) is reset.</a:t>
            </a:r>
          </a:p>
          <a:p>
            <a:pPr algn="just"/>
            <a:endParaRPr lang="en-US" sz="1600" dirty="0">
              <a:solidFill>
                <a:srgbClr val="333333"/>
              </a:solidFill>
              <a:latin typeface="Abel"/>
            </a:endParaRPr>
          </a:p>
          <a:p>
            <a:pPr marL="285750" indent="-285750" algn="just">
              <a:buFont typeface="Wingdings" panose="05000000000000000000" pitchFamily="2" charset="2"/>
              <a:buChar char="Ø"/>
            </a:pPr>
            <a:r>
              <a:rPr lang="en-US" sz="1800" dirty="0" err="1">
                <a:solidFill>
                  <a:srgbClr val="333333"/>
                </a:solidFill>
                <a:latin typeface="Abel"/>
              </a:rPr>
              <a:t>Init</a:t>
            </a:r>
            <a:r>
              <a:rPr lang="en-US" sz="1800" dirty="0">
                <a:solidFill>
                  <a:srgbClr val="333333"/>
                </a:solidFill>
                <a:latin typeface="Abel"/>
              </a:rPr>
              <a:t> function will be as follows:</a:t>
            </a:r>
          </a:p>
        </p:txBody>
      </p:sp>
      <p:sp>
        <p:nvSpPr>
          <p:cNvPr id="3" name="TextBox 2"/>
          <p:cNvSpPr txBox="1"/>
          <p:nvPr/>
        </p:nvSpPr>
        <p:spPr>
          <a:xfrm>
            <a:off x="5105400" y="1610012"/>
            <a:ext cx="3048000" cy="1240404"/>
          </a:xfrm>
          <a:prstGeom prst="rect">
            <a:avLst/>
          </a:prstGeom>
          <a:noFill/>
          <a:ln w="12700">
            <a:solidFill>
              <a:schemeClr val="tx1"/>
            </a:solidFill>
          </a:ln>
        </p:spPr>
        <p:txBody>
          <a:bodyPr wrap="square" rtlCol="1">
            <a:spAutoFit/>
          </a:bodyPr>
          <a:lstStyle/>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ISR (TIMER1_COMPA_vect)</a:t>
            </a: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a:t>
            </a: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toggle led here</a:t>
            </a: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PORTB ^=(1&lt;&lt;0);</a:t>
            </a: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a:t>
            </a:r>
            <a:endParaRPr lang="ar-EG"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endParaRPr>
          </a:p>
        </p:txBody>
      </p:sp>
      <p:sp>
        <p:nvSpPr>
          <p:cNvPr id="6" name="Rectangle 5"/>
          <p:cNvSpPr/>
          <p:nvPr/>
        </p:nvSpPr>
        <p:spPr>
          <a:xfrm>
            <a:off x="914400" y="2875816"/>
            <a:ext cx="6477000" cy="3534942"/>
          </a:xfrm>
          <a:prstGeom prst="rect">
            <a:avLst/>
          </a:prstGeom>
          <a:ln w="9525">
            <a:solidFill>
              <a:schemeClr val="tx1"/>
            </a:solidFill>
          </a:ln>
        </p:spPr>
        <p:txBody>
          <a:bodyPr wrap="square">
            <a:spAutoFit/>
          </a:bodyPr>
          <a:lstStyle/>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#include &lt;</a:t>
            </a:r>
            <a:r>
              <a:rPr lang="en-US" sz="1400" dirty="0" err="1">
                <a:solidFill>
                  <a:srgbClr val="888888"/>
                </a:solidFill>
                <a:latin typeface="Courier New" panose="02070309020205020404" pitchFamily="49" charset="0"/>
                <a:ea typeface="Times New Roman" panose="02020603050405020304" pitchFamily="18" charset="0"/>
                <a:cs typeface="Arial" panose="020B0604020202020204" pitchFamily="34" charset="0"/>
              </a:rPr>
              <a:t>avr</a:t>
            </a: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a:t>
            </a:r>
            <a:r>
              <a:rPr lang="en-US" sz="1400" dirty="0" err="1">
                <a:solidFill>
                  <a:srgbClr val="888888"/>
                </a:solidFill>
                <a:latin typeface="Courier New" panose="02070309020205020404" pitchFamily="49" charset="0"/>
                <a:ea typeface="Times New Roman" panose="02020603050405020304" pitchFamily="18" charset="0"/>
                <a:cs typeface="Arial" panose="020B0604020202020204" pitchFamily="34" charset="0"/>
              </a:rPr>
              <a:t>io.h</a:t>
            </a: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&gt;</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#include &lt;</a:t>
            </a:r>
            <a:r>
              <a:rPr lang="en-US" sz="1400" dirty="0" err="1">
                <a:solidFill>
                  <a:srgbClr val="888888"/>
                </a:solidFill>
                <a:latin typeface="Courier New" panose="02070309020205020404" pitchFamily="49" charset="0"/>
                <a:ea typeface="Times New Roman" panose="02020603050405020304" pitchFamily="18" charset="0"/>
                <a:cs typeface="Arial" panose="020B0604020202020204" pitchFamily="34" charset="0"/>
              </a:rPr>
              <a:t>avr</a:t>
            </a: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a:t>
            </a:r>
            <a:r>
              <a:rPr lang="en-US" sz="1400" dirty="0" err="1">
                <a:solidFill>
                  <a:srgbClr val="888888"/>
                </a:solidFill>
                <a:latin typeface="Courier New" panose="02070309020205020404" pitchFamily="49" charset="0"/>
                <a:ea typeface="Times New Roman" panose="02020603050405020304" pitchFamily="18" charset="0"/>
                <a:cs typeface="Arial" panose="020B0604020202020204" pitchFamily="34" charset="0"/>
              </a:rPr>
              <a:t>interrupt.h</a:t>
            </a: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&gt;</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initialize timer, interrupt and variable</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void</a:t>
            </a:r>
            <a:r>
              <a:rPr lang="en-US" sz="1400" dirty="0">
                <a:solidFill>
                  <a:srgbClr val="888888"/>
                </a:solidFill>
                <a:latin typeface="Consolas" panose="020B0609020204030204" pitchFamily="49" charset="0"/>
                <a:ea typeface="Times New Roman" panose="02020603050405020304" pitchFamily="18" charset="0"/>
                <a:cs typeface="Arial" panose="020B0604020202020204" pitchFamily="34" charset="0"/>
              </a:rPr>
              <a:t> </a:t>
            </a: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timer1_init(){</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set up timer with </a:t>
            </a:r>
            <a:r>
              <a:rPr lang="en-US" sz="1400" dirty="0" err="1">
                <a:solidFill>
                  <a:srgbClr val="00B050"/>
                </a:solidFill>
                <a:latin typeface="Courier New" panose="02070309020205020404" pitchFamily="49" charset="0"/>
                <a:ea typeface="Times New Roman" panose="02020603050405020304" pitchFamily="18" charset="0"/>
                <a:cs typeface="Arial" panose="020B0604020202020204" pitchFamily="34" charset="0"/>
              </a:rPr>
              <a:t>prescaler</a:t>
            </a: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64 and CTC mode</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TCCR1B |= (1 &lt;&lt; WGM12)|(1 &lt;&lt; CS01)|(1 &lt;&lt; CS00);</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initialize counter</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TCNT1 = 0;</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initialize compare value</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OCR1A = 24999;</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enable compare interrupt</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TIMSK1 |= (1 &lt;&lt; OCIE1A);</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sz="14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enable global interrupts</a:t>
            </a:r>
            <a:endParaRPr lang="en-US" sz="14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sz="1400" dirty="0" err="1">
                <a:solidFill>
                  <a:srgbClr val="888888"/>
                </a:solidFill>
                <a:latin typeface="Courier New" panose="02070309020205020404" pitchFamily="49" charset="0"/>
                <a:ea typeface="Times New Roman" panose="02020603050405020304" pitchFamily="18" charset="0"/>
                <a:cs typeface="Arial" panose="020B0604020202020204" pitchFamily="34" charset="0"/>
              </a:rPr>
              <a:t>sei</a:t>
            </a:r>
            <a:r>
              <a:rPr lang="en-US" sz="14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a:t>
            </a:r>
            <a:endParaRPr lang="en-US" sz="1400" dirty="0">
              <a:latin typeface="Calibri" panose="020F0502020204030204" pitchFamily="34" charset="0"/>
              <a:ea typeface="Calibri" panose="020F0502020204030204" pitchFamily="34" charset="0"/>
              <a:cs typeface="Arial" panose="020B0604020202020204" pitchFamily="34" charset="0"/>
            </a:endParaRPr>
          </a:p>
          <a:p>
            <a:r>
              <a:rPr lang="en-US" sz="1400" dirty="0">
                <a:solidFill>
                  <a:srgbClr val="888888"/>
                </a:solidFill>
                <a:latin typeface="Courier New" panose="02070309020205020404" pitchFamily="49" charset="0"/>
                <a:ea typeface="Times New Roman" panose="02020603050405020304" pitchFamily="18" charset="0"/>
              </a:rPr>
              <a:t>}</a:t>
            </a:r>
            <a:endParaRPr lang="ar-EG" sz="1400" dirty="0"/>
          </a:p>
        </p:txBody>
      </p:sp>
    </p:spTree>
    <p:extLst>
      <p:ext uri="{BB962C8B-B14F-4D97-AF65-F5344CB8AC3E}">
        <p14:creationId xmlns:p14="http://schemas.microsoft.com/office/powerpoint/2010/main" val="76220102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Compare match mode (CTC)</a:t>
            </a:r>
          </a:p>
        </p:txBody>
      </p:sp>
      <p:sp>
        <p:nvSpPr>
          <p:cNvPr id="5" name="Rectangle 4"/>
          <p:cNvSpPr/>
          <p:nvPr/>
        </p:nvSpPr>
        <p:spPr>
          <a:xfrm>
            <a:off x="609600" y="1219200"/>
            <a:ext cx="8001000" cy="5029262"/>
          </a:xfrm>
          <a:prstGeom prst="rect">
            <a:avLst/>
          </a:prstGeom>
        </p:spPr>
        <p:txBody>
          <a:bodyPr wrap="square">
            <a:spAutoFit/>
          </a:bodyPr>
          <a:lstStyle/>
          <a:p>
            <a:pPr>
              <a:lnSpc>
                <a:spcPct val="107000"/>
              </a:lnSpc>
              <a:spcAft>
                <a:spcPts val="0"/>
              </a:spcAft>
            </a:pP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void</a:t>
            </a:r>
            <a:r>
              <a:rPr lang="en-US" sz="1600" dirty="0">
                <a:solidFill>
                  <a:srgbClr val="888888"/>
                </a:solidFill>
                <a:latin typeface="Consolas" panose="020B0609020204030204" pitchFamily="49" charset="0"/>
                <a:ea typeface="Times New Roman" panose="02020603050405020304" pitchFamily="18" charset="0"/>
                <a:cs typeface="Arial" panose="020B0604020202020204" pitchFamily="34" charset="0"/>
              </a:rPr>
              <a:t> </a:t>
            </a: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main(void)</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connect led to pin PC0</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DDRC |= (1 &lt;&lt; 0);</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initialize timer</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timer1_init();</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loop forever</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while(1)</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do nothing</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whenever a match occurs, ISR is fired</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toggle the led every 100ms in the ISR itself</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no need to keep track of any flag bits here</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done!</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sz="1600"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endParaRPr lang="en-US" sz="1600" dirty="0">
              <a:latin typeface="Calibri" panose="020F0502020204030204" pitchFamily="34" charset="0"/>
              <a:ea typeface="Calibri" panose="020F0502020204030204" pitchFamily="34" charset="0"/>
              <a:cs typeface="Arial" panose="020B0604020202020204" pitchFamily="34" charset="0"/>
            </a:endParaRPr>
          </a:p>
          <a:p>
            <a:r>
              <a:rPr lang="en-US" sz="1600" dirty="0">
                <a:solidFill>
                  <a:srgbClr val="888888"/>
                </a:solidFill>
                <a:latin typeface="Courier New" panose="02070309020205020404" pitchFamily="49" charset="0"/>
                <a:ea typeface="Times New Roman" panose="02020603050405020304" pitchFamily="18" charset="0"/>
              </a:rPr>
              <a:t>}</a:t>
            </a:r>
          </a:p>
          <a:p>
            <a:endParaRPr lang="en-US" sz="1600" dirty="0">
              <a:solidFill>
                <a:srgbClr val="888888"/>
              </a:solidFill>
              <a:latin typeface="Courier New" panose="02070309020205020404" pitchFamily="49" charset="0"/>
            </a:endParaRPr>
          </a:p>
          <a:p>
            <a:pPr marL="285750" indent="-285750">
              <a:buFont typeface="Wingdings" panose="05000000000000000000" pitchFamily="2" charset="2"/>
              <a:buChar char="v"/>
            </a:pPr>
            <a:r>
              <a:rPr lang="en-US" sz="1600" dirty="0"/>
              <a:t>Now, we have seen how to implement the CTC mode using interrupts, reducing the code size, comparisons and processing time.</a:t>
            </a:r>
            <a:endParaRPr lang="ar-EG" sz="1600" dirty="0"/>
          </a:p>
        </p:txBody>
      </p:sp>
    </p:spTree>
    <p:extLst>
      <p:ext uri="{BB962C8B-B14F-4D97-AF65-F5344CB8AC3E}">
        <p14:creationId xmlns:p14="http://schemas.microsoft.com/office/powerpoint/2010/main" val="38597895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Compare match mode (CTC)</a:t>
            </a:r>
          </a:p>
        </p:txBody>
      </p:sp>
      <p:sp>
        <p:nvSpPr>
          <p:cNvPr id="3" name="Rectangle 2"/>
          <p:cNvSpPr/>
          <p:nvPr/>
        </p:nvSpPr>
        <p:spPr>
          <a:xfrm>
            <a:off x="457200" y="1295400"/>
            <a:ext cx="8305800" cy="5078313"/>
          </a:xfrm>
          <a:prstGeom prst="rect">
            <a:avLst/>
          </a:prstGeom>
        </p:spPr>
        <p:txBody>
          <a:bodyPr wrap="square">
            <a:spAutoFit/>
          </a:bodyPr>
          <a:lstStyle/>
          <a:p>
            <a:r>
              <a:rPr lang="en-US" sz="1800" b="1" dirty="0">
                <a:solidFill>
                  <a:srgbClr val="333333"/>
                </a:solidFill>
                <a:latin typeface="inherit"/>
              </a:rPr>
              <a:t>Methodology – Using Hardware CTC Mode</a:t>
            </a:r>
          </a:p>
          <a:p>
            <a:endParaRPr lang="en-US" sz="1800" dirty="0"/>
          </a:p>
          <a:p>
            <a:pPr marL="285750" indent="-285750">
              <a:buFont typeface="Arial" panose="020B0604020202020204" pitchFamily="34" charset="0"/>
              <a:buChar char="•"/>
            </a:pPr>
            <a:r>
              <a:rPr lang="en-US" sz="1600" dirty="0"/>
              <a:t>The pins PD6, PD5, PB1, PB2, PB3 and PD3 have their special functions are mentioned in the brackets (OC0A, OC0B, OC1A, OC1B , OC2A and OC2A). These are the Output Compare pins of TIMER0, TIMER1 and TIMER2 respectively. </a:t>
            </a:r>
          </a:p>
          <a:p>
            <a:endParaRPr lang="en-US" sz="1600" dirty="0"/>
          </a:p>
          <a:p>
            <a:pPr marL="285750" indent="-285750">
              <a:buFont typeface="Arial" panose="020B0604020202020204" pitchFamily="34" charset="0"/>
              <a:buChar char="•"/>
            </a:pPr>
            <a:r>
              <a:rPr lang="en-US" sz="1600" b="1" dirty="0">
                <a:solidFill>
                  <a:srgbClr val="FF3300"/>
                </a:solidFill>
              </a:rPr>
              <a:t>TCCR1A Register Timer/Counter1 Control Register A</a:t>
            </a:r>
          </a:p>
          <a:p>
            <a:pPr marL="285750" indent="-285750">
              <a:buFont typeface="Arial" panose="020B0604020202020204" pitchFamily="34" charset="0"/>
              <a:buChar char="•"/>
            </a:pPr>
            <a:endParaRPr lang="en-US" sz="1600" b="1" dirty="0">
              <a:solidFill>
                <a:srgbClr val="FF3300"/>
              </a:solidFill>
            </a:endParaRPr>
          </a:p>
          <a:p>
            <a:pPr marL="285750" indent="-285750">
              <a:buFont typeface="Arial" panose="020B0604020202020204" pitchFamily="34" charset="0"/>
              <a:buChar char="•"/>
            </a:pPr>
            <a:endParaRPr lang="en-US" sz="1600" b="1" dirty="0">
              <a:solidFill>
                <a:srgbClr val="FF3300"/>
              </a:solidFill>
            </a:endParaRPr>
          </a:p>
          <a:p>
            <a:pPr marL="285750" indent="-285750">
              <a:buFont typeface="Arial" panose="020B0604020202020204" pitchFamily="34" charset="0"/>
              <a:buChar char="•"/>
            </a:pPr>
            <a:endParaRPr lang="en-US" sz="1600" b="1" dirty="0">
              <a:solidFill>
                <a:srgbClr val="FF3300"/>
              </a:solidFill>
            </a:endParaRPr>
          </a:p>
          <a:p>
            <a:pPr marL="285750" indent="-285750">
              <a:buFont typeface="Arial" panose="020B0604020202020204" pitchFamily="34" charset="0"/>
              <a:buChar char="•"/>
            </a:pPr>
            <a:endParaRPr lang="en-US" sz="1600" b="1" dirty="0">
              <a:solidFill>
                <a:srgbClr val="FF3300"/>
              </a:solidFill>
            </a:endParaRPr>
          </a:p>
          <a:p>
            <a:pPr marL="285750" indent="-285750">
              <a:buFont typeface="Arial" panose="020B0604020202020204" pitchFamily="34" charset="0"/>
              <a:buChar char="•"/>
            </a:pPr>
            <a:endParaRPr lang="en-US" sz="1600" b="1" dirty="0">
              <a:solidFill>
                <a:srgbClr val="FF3300"/>
              </a:solidFill>
            </a:endParaRPr>
          </a:p>
          <a:p>
            <a:pPr marL="285750" indent="-285750">
              <a:buFont typeface="Arial" panose="020B0604020202020204" pitchFamily="34" charset="0"/>
              <a:buChar char="•"/>
            </a:pPr>
            <a:r>
              <a:rPr lang="en-US" sz="1600" dirty="0"/>
              <a:t>Now time for us to concentrate on Bit 7:6 – COM1A1:0 </a:t>
            </a:r>
          </a:p>
          <a:p>
            <a:r>
              <a:rPr lang="en-US" sz="1600" dirty="0"/>
              <a:t>and Bit 5:4 – COM1B1:0 – Compare Output Mode for </a:t>
            </a:r>
          </a:p>
          <a:p>
            <a:r>
              <a:rPr lang="en-US" sz="1600" dirty="0"/>
              <a:t>Compare Unit A/B. These bits control the behavior of </a:t>
            </a:r>
          </a:p>
          <a:p>
            <a:r>
              <a:rPr lang="en-US" sz="1600" dirty="0"/>
              <a:t>the Output Compare (OC) pins. </a:t>
            </a:r>
          </a:p>
          <a:p>
            <a:r>
              <a:rPr lang="en-US" sz="1600" dirty="0"/>
              <a:t>The behavior changes depending upon the following modes:</a:t>
            </a:r>
          </a:p>
          <a:p>
            <a:pPr marL="742950" lvl="1" indent="-285750">
              <a:buFont typeface="Wingdings" panose="05000000000000000000" pitchFamily="2" charset="2"/>
              <a:buChar char="Ø"/>
            </a:pPr>
            <a:r>
              <a:rPr lang="en-US" sz="1600" dirty="0"/>
              <a:t>Non-PWM mode (normal / CTC mode)</a:t>
            </a:r>
          </a:p>
          <a:p>
            <a:pPr marL="742950" lvl="1" indent="-285750">
              <a:buFont typeface="Wingdings" panose="05000000000000000000" pitchFamily="2" charset="2"/>
              <a:buChar char="Ø"/>
            </a:pPr>
            <a:r>
              <a:rPr lang="en-US" sz="1600" dirty="0"/>
              <a:t>Fast PWM mode</a:t>
            </a:r>
          </a:p>
          <a:p>
            <a:pPr marL="742950" lvl="1" indent="-285750">
              <a:buFont typeface="Wingdings" panose="05000000000000000000" pitchFamily="2" charset="2"/>
              <a:buChar char="Ø"/>
            </a:pPr>
            <a:r>
              <a:rPr lang="en-US" sz="1600" dirty="0"/>
              <a:t>Phase Correct / Phase &amp; Frequency Correct PWM mode</a:t>
            </a:r>
            <a:endParaRPr lang="en-US" sz="1800" b="1" dirty="0">
              <a:solidFill>
                <a:srgbClr val="333333"/>
              </a:solidFill>
              <a:latin typeface="inherit"/>
            </a:endParaRPr>
          </a:p>
        </p:txBody>
      </p:sp>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6184770" y="2362200"/>
            <a:ext cx="2857500" cy="3162300"/>
          </a:xfrm>
          <a:prstGeom prst="rect">
            <a:avLst/>
          </a:prstGeom>
        </p:spPr>
      </p:pic>
      <p:pic>
        <p:nvPicPr>
          <p:cNvPr id="7" name="Picture 6">
            <a:extLst>
              <a:ext uri="{FF2B5EF4-FFF2-40B4-BE49-F238E27FC236}">
                <a16:creationId xmlns:a16="http://schemas.microsoft.com/office/drawing/2014/main" id="{13A9D76E-C849-4EA9-990B-ABCFC226AA25}"/>
              </a:ext>
            </a:extLst>
          </p:cNvPr>
          <p:cNvPicPr>
            <a:picLocks noChangeAspect="1"/>
          </p:cNvPicPr>
          <p:nvPr/>
        </p:nvPicPr>
        <p:blipFill>
          <a:blip r:embed="rId5"/>
          <a:stretch>
            <a:fillRect/>
          </a:stretch>
        </p:blipFill>
        <p:spPr>
          <a:xfrm>
            <a:off x="124513" y="3257550"/>
            <a:ext cx="6047688" cy="838200"/>
          </a:xfrm>
          <a:prstGeom prst="rect">
            <a:avLst/>
          </a:prstGeom>
        </p:spPr>
      </p:pic>
    </p:spTree>
    <p:extLst>
      <p:ext uri="{BB962C8B-B14F-4D97-AF65-F5344CB8AC3E}">
        <p14:creationId xmlns:p14="http://schemas.microsoft.com/office/powerpoint/2010/main" val="329798558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Compare match mode (CTC)</a:t>
            </a:r>
          </a:p>
        </p:txBody>
      </p:sp>
      <p:sp>
        <p:nvSpPr>
          <p:cNvPr id="5" name="Rectangle 4"/>
          <p:cNvSpPr/>
          <p:nvPr/>
        </p:nvSpPr>
        <p:spPr>
          <a:xfrm>
            <a:off x="609600" y="1295400"/>
            <a:ext cx="8458200" cy="4801314"/>
          </a:xfrm>
          <a:prstGeom prst="rect">
            <a:avLst/>
          </a:prstGeom>
        </p:spPr>
        <p:txBody>
          <a:bodyPr wrap="square">
            <a:spAutoFit/>
          </a:bodyPr>
          <a:lstStyle/>
          <a:p>
            <a:pPr marL="285750" indent="-285750">
              <a:buFont typeface="Arial" panose="020B0604020202020204" pitchFamily="34" charset="0"/>
              <a:buChar char="•"/>
            </a:pPr>
            <a:r>
              <a:rPr lang="en-US" sz="1600" dirty="0"/>
              <a:t>The following options hold good for non-PWM mode</a:t>
            </a:r>
          </a:p>
          <a:p>
            <a:pPr marL="285750" indent="-285750">
              <a:buFont typeface="Arial" panose="020B0604020202020204" pitchFamily="34" charset="0"/>
              <a:buChar char="•"/>
            </a:pPr>
            <a:endParaRPr lang="en-US" sz="1800" dirty="0">
              <a:solidFill>
                <a:srgbClr val="444444"/>
              </a:solidFill>
              <a:latin typeface="Helvetica Neue"/>
            </a:endParaRPr>
          </a:p>
          <a:p>
            <a:pPr marL="285750" indent="-285750">
              <a:buFont typeface="Arial" panose="020B0604020202020204" pitchFamily="34" charset="0"/>
              <a:buChar char="•"/>
            </a:pPr>
            <a:endParaRPr lang="en-US" sz="1800" dirty="0">
              <a:solidFill>
                <a:srgbClr val="444444"/>
              </a:solidFill>
              <a:latin typeface="Helvetica Neue"/>
            </a:endParaRPr>
          </a:p>
          <a:p>
            <a:pPr marL="285750" indent="-285750">
              <a:buFont typeface="Arial" panose="020B0604020202020204" pitchFamily="34" charset="0"/>
              <a:buChar char="•"/>
            </a:pPr>
            <a:endParaRPr lang="en-US" sz="1800" dirty="0">
              <a:solidFill>
                <a:srgbClr val="444444"/>
              </a:solidFill>
              <a:latin typeface="Helvetica Neue"/>
            </a:endParaRPr>
          </a:p>
          <a:p>
            <a:pPr marL="285750" indent="-285750">
              <a:buFont typeface="Arial" panose="020B0604020202020204" pitchFamily="34" charset="0"/>
              <a:buChar char="•"/>
            </a:pPr>
            <a:endParaRPr lang="en-US" sz="1800" dirty="0">
              <a:solidFill>
                <a:srgbClr val="444444"/>
              </a:solidFill>
              <a:latin typeface="Helvetica Neue"/>
            </a:endParaRPr>
          </a:p>
          <a:p>
            <a:pPr marL="285750" indent="-285750">
              <a:buFont typeface="Arial" panose="020B0604020202020204" pitchFamily="34" charset="0"/>
              <a:buChar char="•"/>
            </a:pPr>
            <a:endParaRPr lang="en-US" sz="1800" dirty="0">
              <a:solidFill>
                <a:srgbClr val="444444"/>
              </a:solidFill>
              <a:latin typeface="Helvetica Neue"/>
            </a:endParaRPr>
          </a:p>
          <a:p>
            <a:pPr marL="285750" indent="-285750">
              <a:buFont typeface="Arial" panose="020B0604020202020204" pitchFamily="34" charset="0"/>
              <a:buChar char="•"/>
            </a:pPr>
            <a:endParaRPr lang="en-US" sz="1800" dirty="0">
              <a:solidFill>
                <a:srgbClr val="444444"/>
              </a:solidFill>
              <a:latin typeface="Helvetica Neue"/>
            </a:endParaRPr>
          </a:p>
          <a:p>
            <a:pPr marL="285750" indent="-285750">
              <a:buFont typeface="Arial" panose="020B0604020202020204" pitchFamily="34" charset="0"/>
              <a:buChar char="•"/>
            </a:pPr>
            <a:endParaRPr lang="en-US" sz="1800" dirty="0">
              <a:solidFill>
                <a:srgbClr val="444444"/>
              </a:solidFill>
              <a:latin typeface="Helvetica Neue"/>
            </a:endParaRPr>
          </a:p>
          <a:p>
            <a:pPr marL="285750" indent="-285750">
              <a:buFont typeface="Arial" panose="020B0604020202020204" pitchFamily="34" charset="0"/>
              <a:buChar char="•"/>
            </a:pPr>
            <a:endParaRPr lang="en-US" sz="1800" dirty="0">
              <a:solidFill>
                <a:srgbClr val="444444"/>
              </a:solidFill>
              <a:latin typeface="Helvetica Neue"/>
            </a:endParaRPr>
          </a:p>
          <a:p>
            <a:pPr marL="285750" indent="-285750">
              <a:buFont typeface="Arial" panose="020B0604020202020204" pitchFamily="34" charset="0"/>
              <a:buChar char="•"/>
            </a:pPr>
            <a:r>
              <a:rPr lang="en-US" sz="1600" dirty="0"/>
              <a:t>Since we need to toggle the LED, we choose the second option (01). Well, that’s all we need to do! No need to check any flag bit, no need to attend to any interrupts, nothing. Just set the timer to this mode and we are done! Whenever a compare match occurs, the OC1A pin is automatically toggled.</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But we need to compromise on the hardware. Only PB1 or PB2 (OC1A or OC1B) can be controlled this way, which means that we should connect the LED to PB1 (since we are using channel A) instead of PC0 (which we had been using in all the examples till now).</a:t>
            </a:r>
          </a:p>
          <a:p>
            <a:pPr marL="285750" indent="-285750">
              <a:buFont typeface="Arial" panose="020B0604020202020204" pitchFamily="34" charset="0"/>
              <a:buChar char="•"/>
            </a:pPr>
            <a:endParaRPr lang="ar-EG" sz="1800" dirty="0"/>
          </a:p>
        </p:txBody>
      </p:sp>
      <p:pic>
        <p:nvPicPr>
          <p:cNvPr id="7" name="Picture 6"/>
          <p:cNvPicPr>
            <a:picLocks noChangeAspect="1"/>
          </p:cNvPicPr>
          <p:nvPr/>
        </p:nvPicPr>
        <p:blipFill>
          <a:blip r:embed="rId3"/>
          <a:stretch>
            <a:fillRect/>
          </a:stretch>
        </p:blipFill>
        <p:spPr>
          <a:xfrm>
            <a:off x="1143000" y="1752600"/>
            <a:ext cx="5734050" cy="2038350"/>
          </a:xfrm>
          <a:prstGeom prst="rect">
            <a:avLst/>
          </a:prstGeom>
        </p:spPr>
      </p:pic>
    </p:spTree>
    <p:extLst>
      <p:ext uri="{BB962C8B-B14F-4D97-AF65-F5344CB8AC3E}">
        <p14:creationId xmlns:p14="http://schemas.microsoft.com/office/powerpoint/2010/main" val="33342004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Compare match mode (CTC)</a:t>
            </a:r>
          </a:p>
        </p:txBody>
      </p:sp>
      <p:sp>
        <p:nvSpPr>
          <p:cNvPr id="3" name="Rectangle 2"/>
          <p:cNvSpPr/>
          <p:nvPr/>
        </p:nvSpPr>
        <p:spPr>
          <a:xfrm>
            <a:off x="457200" y="1066800"/>
            <a:ext cx="5105400" cy="2858988"/>
          </a:xfrm>
          <a:prstGeom prst="rect">
            <a:avLst/>
          </a:prstGeom>
        </p:spPr>
        <p:txBody>
          <a:bodyPr wrap="square">
            <a:spAutoFit/>
          </a:bodyPr>
          <a:lstStyle/>
          <a:p>
            <a:pPr>
              <a:lnSpc>
                <a:spcPct val="107000"/>
              </a:lnSpc>
              <a:spcAft>
                <a:spcPts val="0"/>
              </a:spcAft>
            </a:pP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#include &lt;</a:t>
            </a:r>
            <a:r>
              <a:rPr lang="en-US" dirty="0" err="1">
                <a:solidFill>
                  <a:srgbClr val="888888"/>
                </a:solidFill>
                <a:latin typeface="Courier New" panose="02070309020205020404" pitchFamily="49" charset="0"/>
                <a:ea typeface="Times New Roman" panose="02020603050405020304" pitchFamily="18" charset="0"/>
                <a:cs typeface="Arial" panose="020B0604020202020204" pitchFamily="34" charset="0"/>
              </a:rPr>
              <a:t>avr</a:t>
            </a: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a:t>
            </a:r>
            <a:r>
              <a:rPr lang="en-US" dirty="0" err="1">
                <a:solidFill>
                  <a:srgbClr val="888888"/>
                </a:solidFill>
                <a:latin typeface="Courier New" panose="02070309020205020404" pitchFamily="49" charset="0"/>
                <a:ea typeface="Times New Roman" panose="02020603050405020304" pitchFamily="18" charset="0"/>
                <a:cs typeface="Arial" panose="020B0604020202020204" pitchFamily="34" charset="0"/>
              </a:rPr>
              <a:t>io.h</a:t>
            </a: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&gt;</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#include &lt;</a:t>
            </a:r>
            <a:r>
              <a:rPr lang="en-US" dirty="0" err="1">
                <a:solidFill>
                  <a:srgbClr val="888888"/>
                </a:solidFill>
                <a:latin typeface="Courier New" panose="02070309020205020404" pitchFamily="49" charset="0"/>
                <a:ea typeface="Times New Roman" panose="02020603050405020304" pitchFamily="18" charset="0"/>
                <a:cs typeface="Arial" panose="020B0604020202020204" pitchFamily="34" charset="0"/>
              </a:rPr>
              <a:t>avr</a:t>
            </a: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a:t>
            </a:r>
            <a:r>
              <a:rPr lang="en-US" dirty="0" err="1">
                <a:solidFill>
                  <a:srgbClr val="888888"/>
                </a:solidFill>
                <a:latin typeface="Courier New" panose="02070309020205020404" pitchFamily="49" charset="0"/>
                <a:ea typeface="Times New Roman" panose="02020603050405020304" pitchFamily="18" charset="0"/>
                <a:cs typeface="Arial" panose="020B0604020202020204" pitchFamily="34" charset="0"/>
              </a:rPr>
              <a:t>interrupt.h</a:t>
            </a: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&gt;</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initialize timer, interrupt and variable</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void</a:t>
            </a:r>
            <a:r>
              <a:rPr lang="en-US" dirty="0">
                <a:solidFill>
                  <a:srgbClr val="888888"/>
                </a:solidFill>
                <a:latin typeface="Consolas" panose="020B0609020204030204" pitchFamily="49" charset="0"/>
                <a:ea typeface="Times New Roman" panose="02020603050405020304" pitchFamily="18" charset="0"/>
                <a:cs typeface="Arial" panose="020B0604020202020204" pitchFamily="34" charset="0"/>
              </a:rPr>
              <a:t> </a:t>
            </a: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timer1_init()</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set up timer with </a:t>
            </a:r>
            <a:r>
              <a:rPr lang="en-US" dirty="0" err="1">
                <a:solidFill>
                  <a:srgbClr val="00B050"/>
                </a:solidFill>
                <a:latin typeface="Courier New" panose="02070309020205020404" pitchFamily="49" charset="0"/>
                <a:ea typeface="Times New Roman" panose="02020603050405020304" pitchFamily="18" charset="0"/>
                <a:cs typeface="Arial" panose="020B0604020202020204" pitchFamily="34" charset="0"/>
              </a:rPr>
              <a:t>prescaler</a:t>
            </a:r>
            <a:r>
              <a:rPr lang="en-US"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64 and CTC mode</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TCCR1B |= (1 &lt;&lt; WGM12)|(1 &lt;&lt; CS01)|(1 &lt;&lt; CS00);</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set up timer OC1A pin in toggle mode</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TCCR1A |= (1 &lt;&lt; COM1A0);</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initialize counter</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TCNT1 = 0;</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initialize compare value</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OCR1A = 24999;</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a:t>
            </a:r>
            <a:endParaRPr lang="en-US" sz="16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457200" y="3913088"/>
            <a:ext cx="5410200" cy="2450799"/>
          </a:xfrm>
          <a:prstGeom prst="rect">
            <a:avLst/>
          </a:prstGeom>
          <a:ln w="12700">
            <a:noFill/>
          </a:ln>
        </p:spPr>
        <p:txBody>
          <a:bodyPr wrap="square">
            <a:spAutoFit/>
          </a:bodyPr>
          <a:lstStyle/>
          <a:p>
            <a:pPr>
              <a:lnSpc>
                <a:spcPct val="107000"/>
              </a:lnSpc>
              <a:spcAft>
                <a:spcPts val="0"/>
              </a:spcAft>
            </a:pP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void</a:t>
            </a:r>
            <a:r>
              <a:rPr lang="en-US" dirty="0">
                <a:solidFill>
                  <a:srgbClr val="888888"/>
                </a:solidFill>
                <a:latin typeface="Consolas" panose="020B0609020204030204" pitchFamily="49" charset="0"/>
                <a:ea typeface="Times New Roman" panose="02020603050405020304" pitchFamily="18" charset="0"/>
                <a:cs typeface="Arial" panose="020B0604020202020204" pitchFamily="34" charset="0"/>
              </a:rPr>
              <a:t> </a:t>
            </a: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main(void){</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connect led to pin PB1</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DDRB |= (1 &lt;&lt; 1);</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initialize timer</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timer1_init();</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while(1){</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        </a:t>
            </a:r>
            <a:r>
              <a:rPr lang="en-US"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do nothing</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whenever a match occurs</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OC1A is toggled automatically!</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 no need to keep track of any flag bits or ISR</a:t>
            </a:r>
            <a:endParaRPr lang="en-US" sz="16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en-US" dirty="0">
                <a:solidFill>
                  <a:srgbClr val="00B050"/>
                </a:solidFill>
                <a:latin typeface="Courier New" panose="02070309020205020404" pitchFamily="49" charset="0"/>
                <a:ea typeface="Times New Roman" panose="02020603050405020304" pitchFamily="18" charset="0"/>
                <a:cs typeface="Arial" panose="020B0604020202020204" pitchFamily="34" charset="0"/>
              </a:rPr>
              <a:t>    </a:t>
            </a:r>
            <a:r>
              <a:rPr lang="en-US" dirty="0">
                <a:solidFill>
                  <a:srgbClr val="888888"/>
                </a:solidFill>
                <a:latin typeface="Courier New" panose="02070309020205020404" pitchFamily="49" charset="0"/>
                <a:ea typeface="Times New Roman" panose="02020603050405020304" pitchFamily="18" charset="0"/>
                <a:cs typeface="Arial" panose="020B0604020202020204" pitchFamily="34" charset="0"/>
              </a:rPr>
              <a:t>}</a:t>
            </a:r>
            <a:endParaRPr lang="en-US" sz="1600" dirty="0">
              <a:latin typeface="Calibri" panose="020F0502020204030204" pitchFamily="34" charset="0"/>
              <a:ea typeface="Calibri" panose="020F0502020204030204" pitchFamily="34" charset="0"/>
              <a:cs typeface="Arial" panose="020B0604020202020204" pitchFamily="34" charset="0"/>
            </a:endParaRPr>
          </a:p>
          <a:p>
            <a:r>
              <a:rPr lang="en-US" dirty="0">
                <a:solidFill>
                  <a:srgbClr val="888888"/>
                </a:solidFill>
                <a:latin typeface="Courier New" panose="02070309020205020404" pitchFamily="49" charset="0"/>
                <a:ea typeface="Times New Roman" panose="02020603050405020304" pitchFamily="18" charset="0"/>
              </a:rPr>
              <a:t>}</a:t>
            </a:r>
            <a:endParaRPr lang="ar-EG" dirty="0"/>
          </a:p>
        </p:txBody>
      </p:sp>
    </p:spTree>
    <p:extLst>
      <p:ext uri="{BB962C8B-B14F-4D97-AF65-F5344CB8AC3E}">
        <p14:creationId xmlns:p14="http://schemas.microsoft.com/office/powerpoint/2010/main" val="131131687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Pulse width modulation mode (PWM)</a:t>
            </a:r>
          </a:p>
        </p:txBody>
      </p:sp>
      <p:sp>
        <p:nvSpPr>
          <p:cNvPr id="5" name="Rectangle 4"/>
          <p:cNvSpPr/>
          <p:nvPr/>
        </p:nvSpPr>
        <p:spPr>
          <a:xfrm>
            <a:off x="533400" y="1143000"/>
            <a:ext cx="8229600" cy="3293209"/>
          </a:xfrm>
          <a:prstGeom prst="rect">
            <a:avLst/>
          </a:prstGeom>
        </p:spPr>
        <p:txBody>
          <a:bodyPr wrap="square">
            <a:spAutoFit/>
          </a:bodyPr>
          <a:lstStyle/>
          <a:p>
            <a:pPr marL="285750" indent="-285750">
              <a:buFont typeface="Arial" panose="020B0604020202020204" pitchFamily="34" charset="0"/>
              <a:buChar char="•"/>
            </a:pPr>
            <a:r>
              <a:rPr lang="en-US" sz="1600" dirty="0"/>
              <a:t>Pulse Width Modulation (PWM) is a very common technique in telecommunication and power control. It is basically a modulation technique, in which the width of the carrier pulse is varied in accordance with the analog message signal. </a:t>
            </a:r>
          </a:p>
          <a:p>
            <a:pPr marL="285750" indent="-285750">
              <a:buFont typeface="Arial" panose="020B0604020202020204" pitchFamily="34" charset="0"/>
              <a:buChar char="•"/>
            </a:pPr>
            <a:r>
              <a:rPr lang="en-US" sz="1600" dirty="0"/>
              <a:t>Let us assume that a DC motor is connected to the power supply as follows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motor is rated 12V/300rpm. This means that (assuming ideal conditions) the motor will run at 300 rpm only when 12V DC is supplied to it. If we apply 6V, the motor will run at only 150 rpm. </a:t>
            </a:r>
          </a:p>
        </p:txBody>
      </p:sp>
      <p:pic>
        <p:nvPicPr>
          <p:cNvPr id="6" name="Picture 5"/>
          <p:cNvPicPr>
            <a:picLocks noChangeAspect="1"/>
          </p:cNvPicPr>
          <p:nvPr/>
        </p:nvPicPr>
        <p:blipFill>
          <a:blip r:embed="rId3"/>
          <a:stretch>
            <a:fillRect/>
          </a:stretch>
        </p:blipFill>
        <p:spPr>
          <a:xfrm>
            <a:off x="2904662" y="2249299"/>
            <a:ext cx="3148012" cy="1275920"/>
          </a:xfrm>
          <a:prstGeom prst="rect">
            <a:avLst/>
          </a:prstGeom>
        </p:spPr>
      </p:pic>
      <p:pic>
        <p:nvPicPr>
          <p:cNvPr id="7" name="Picture 6"/>
          <p:cNvPicPr>
            <a:picLocks noChangeAspect="1"/>
          </p:cNvPicPr>
          <p:nvPr/>
        </p:nvPicPr>
        <p:blipFill>
          <a:blip r:embed="rId4"/>
          <a:stretch>
            <a:fillRect/>
          </a:stretch>
        </p:blipFill>
        <p:spPr>
          <a:xfrm>
            <a:off x="6052674" y="4505325"/>
            <a:ext cx="2886538" cy="1895475"/>
          </a:xfrm>
          <a:prstGeom prst="rect">
            <a:avLst/>
          </a:prstGeom>
        </p:spPr>
      </p:pic>
      <p:sp>
        <p:nvSpPr>
          <p:cNvPr id="8" name="Rectangle 7"/>
          <p:cNvSpPr/>
          <p:nvPr/>
        </p:nvSpPr>
        <p:spPr>
          <a:xfrm>
            <a:off x="533400" y="4436209"/>
            <a:ext cx="5519274" cy="2062103"/>
          </a:xfrm>
          <a:prstGeom prst="rect">
            <a:avLst/>
          </a:prstGeom>
        </p:spPr>
        <p:txBody>
          <a:bodyPr wrap="square">
            <a:spAutoFit/>
          </a:bodyPr>
          <a:lstStyle/>
          <a:p>
            <a:pPr marL="285750" indent="-285750">
              <a:buFont typeface="Arial" panose="020B0604020202020204" pitchFamily="34" charset="0"/>
              <a:buChar char="•"/>
            </a:pPr>
            <a:r>
              <a:rPr lang="en-US" sz="1600" dirty="0"/>
              <a:t>Let us ask what will happen if we apply a periodic signal as shown?</a:t>
            </a:r>
          </a:p>
          <a:p>
            <a:pPr lvl="1"/>
            <a:r>
              <a:rPr lang="en-US" sz="1600" dirty="0"/>
              <a:t>It takes some time to reach its full speed. But before it happens, it is powered off, and so on. Thus, the overall effect of this action is that the motor rotates continuously, but at a lower speed. In this case, the motor will behave exactly as if a 6V DC is supplied to it, i.e. rotate at 150 rpm.</a:t>
            </a:r>
            <a:endParaRPr lang="ar-EG" sz="1600" dirty="0"/>
          </a:p>
        </p:txBody>
      </p:sp>
    </p:spTree>
    <p:extLst>
      <p:ext uri="{BB962C8B-B14F-4D97-AF65-F5344CB8AC3E}">
        <p14:creationId xmlns:p14="http://schemas.microsoft.com/office/powerpoint/2010/main" val="398358734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Pulse width modulation mode (PWM)</a:t>
            </a:r>
          </a:p>
        </p:txBody>
      </p:sp>
      <p:pic>
        <p:nvPicPr>
          <p:cNvPr id="4" name="Picture 3"/>
          <p:cNvPicPr>
            <a:picLocks noChangeAspect="1"/>
          </p:cNvPicPr>
          <p:nvPr/>
        </p:nvPicPr>
        <p:blipFill>
          <a:blip r:embed="rId3"/>
          <a:stretch>
            <a:fillRect/>
          </a:stretch>
        </p:blipFill>
        <p:spPr>
          <a:xfrm>
            <a:off x="5029200" y="1295400"/>
            <a:ext cx="3657600" cy="2601253"/>
          </a:xfrm>
          <a:prstGeom prst="rect">
            <a:avLst/>
          </a:prstGeom>
        </p:spPr>
      </p:pic>
      <p:pic>
        <p:nvPicPr>
          <p:cNvPr id="9" name="Picture 8"/>
          <p:cNvPicPr>
            <a:picLocks noChangeAspect="1"/>
          </p:cNvPicPr>
          <p:nvPr/>
        </p:nvPicPr>
        <p:blipFill>
          <a:blip r:embed="rId4"/>
          <a:stretch>
            <a:fillRect/>
          </a:stretch>
        </p:blipFill>
        <p:spPr>
          <a:xfrm>
            <a:off x="685800" y="1295400"/>
            <a:ext cx="3660054" cy="2601253"/>
          </a:xfrm>
          <a:prstGeom prst="rect">
            <a:avLst/>
          </a:prstGeom>
        </p:spPr>
      </p:pic>
      <mc:AlternateContent xmlns:mc="http://schemas.openxmlformats.org/markup-compatibility/2006" xmlns:a14="http://schemas.microsoft.com/office/drawing/2010/main">
        <mc:Choice Requires="a14">
          <p:sp>
            <p:nvSpPr>
              <p:cNvPr id="10" name="Rectangle 9"/>
              <p:cNvSpPr/>
              <p:nvPr/>
            </p:nvSpPr>
            <p:spPr>
              <a:xfrm>
                <a:off x="5029200" y="4038600"/>
                <a:ext cx="3657600" cy="1772537"/>
              </a:xfrm>
              <a:prstGeom prst="rect">
                <a:avLst/>
              </a:prstGeom>
            </p:spPr>
            <p:txBody>
              <a:bodyPr wrap="square">
                <a:spAutoFit/>
              </a:bodyPr>
              <a:lstStyle/>
              <a:p>
                <a:pPr algn="just"/>
                <a:r>
                  <a:rPr lang="en-US" sz="1600" dirty="0">
                    <a:solidFill>
                      <a:srgbClr val="444444"/>
                    </a:solidFill>
                    <a:latin typeface="Helvetica Neue"/>
                  </a:rPr>
                  <a:t>Since the on-time is less than the off-time, the effective speed of the motor reduced. In this case, the speed becomes 75 rpm (since on-time = </a:t>
                </a:r>
                <a14:m>
                  <m:oMath xmlns:m="http://schemas.openxmlformats.org/officeDocument/2006/math">
                    <m:f>
                      <m:fPr>
                        <m:ctrlPr>
                          <a:rPr lang="en-US" sz="1600" i="1" dirty="0" smtClean="0">
                            <a:solidFill>
                              <a:srgbClr val="444444"/>
                            </a:solidFill>
                            <a:latin typeface="Cambria Math" panose="02040503050406030204" pitchFamily="18" charset="0"/>
                          </a:rPr>
                        </m:ctrlPr>
                      </m:fPr>
                      <m:num>
                        <m:r>
                          <a:rPr lang="en-US" sz="1600" i="1" dirty="0" smtClean="0">
                            <a:solidFill>
                              <a:srgbClr val="444444"/>
                            </a:solidFill>
                            <a:latin typeface="Cambria Math" panose="02040503050406030204" pitchFamily="18" charset="0"/>
                          </a:rPr>
                          <m:t>1</m:t>
                        </m:r>
                      </m:num>
                      <m:den>
                        <m:r>
                          <a:rPr lang="en-US" sz="1600" i="1" dirty="0" smtClean="0">
                            <a:solidFill>
                              <a:srgbClr val="444444"/>
                            </a:solidFill>
                            <a:latin typeface="Cambria Math" panose="02040503050406030204" pitchFamily="18" charset="0"/>
                          </a:rPr>
                          <m:t>4</m:t>
                        </m:r>
                      </m:den>
                    </m:f>
                  </m:oMath>
                </a14:m>
                <a:r>
                  <a:rPr lang="en-US" sz="1600" dirty="0">
                    <a:solidFill>
                      <a:srgbClr val="444444"/>
                    </a:solidFill>
                    <a:latin typeface="Helvetica Neue"/>
                  </a:rPr>
                  <a:t> off-time, </a:t>
                </a:r>
              </a:p>
              <a:p>
                <a:pPr algn="just"/>
                <a:r>
                  <a:rPr lang="en-US" sz="1600" dirty="0">
                    <a:solidFill>
                      <a:srgbClr val="444444"/>
                    </a:solidFill>
                    <a:latin typeface="Helvetica Neue"/>
                  </a:rPr>
                  <a:t>i.e. </a:t>
                </a:r>
                <a14:m>
                  <m:oMath xmlns:m="http://schemas.openxmlformats.org/officeDocument/2006/math">
                    <m:r>
                      <a:rPr lang="en-US" sz="1600" i="1" dirty="0">
                        <a:solidFill>
                          <a:srgbClr val="444444"/>
                        </a:solidFill>
                        <a:latin typeface="Cambria Math" panose="02040503050406030204" pitchFamily="18" charset="0"/>
                      </a:rPr>
                      <m:t>𝑠𝑝𝑒𝑒𝑑</m:t>
                    </m:r>
                    <m:r>
                      <a:rPr lang="en-US" sz="1600" i="1" dirty="0">
                        <a:solidFill>
                          <a:srgbClr val="444444"/>
                        </a:solidFill>
                        <a:latin typeface="Cambria Math" panose="02040503050406030204" pitchFamily="18" charset="0"/>
                      </a:rPr>
                      <m:t> = </m:t>
                    </m:r>
                    <m:r>
                      <a:rPr lang="en-US" sz="1600" i="1" dirty="0">
                        <a:solidFill>
                          <a:srgbClr val="444444"/>
                        </a:solidFill>
                        <a:latin typeface="Cambria Math" panose="02040503050406030204" pitchFamily="18" charset="0"/>
                      </a:rPr>
                      <m:t>300</m:t>
                    </m:r>
                    <m:r>
                      <a:rPr lang="en-US" sz="1600" i="1" dirty="0">
                        <a:solidFill>
                          <a:srgbClr val="444444"/>
                        </a:solidFill>
                        <a:latin typeface="Cambria Math" panose="02040503050406030204" pitchFamily="18" charset="0"/>
                      </a:rPr>
                      <m:t>∗</m:t>
                    </m:r>
                    <m:f>
                      <m:fPr>
                        <m:ctrlPr>
                          <a:rPr lang="en-US" sz="1600" i="1" dirty="0">
                            <a:solidFill>
                              <a:srgbClr val="444444"/>
                            </a:solidFill>
                            <a:latin typeface="Cambria Math" panose="02040503050406030204" pitchFamily="18" charset="0"/>
                          </a:rPr>
                        </m:ctrlPr>
                      </m:fPr>
                      <m:num>
                        <m:r>
                          <a:rPr lang="en-US" sz="1600" b="0" i="1" dirty="0" smtClean="0">
                            <a:solidFill>
                              <a:srgbClr val="444444"/>
                            </a:solidFill>
                            <a:latin typeface="Cambria Math" panose="02040503050406030204" pitchFamily="18" charset="0"/>
                          </a:rPr>
                          <m:t>1</m:t>
                        </m:r>
                      </m:num>
                      <m:den>
                        <m:r>
                          <a:rPr lang="en-US" sz="1600" i="1" dirty="0">
                            <a:solidFill>
                              <a:srgbClr val="444444"/>
                            </a:solidFill>
                            <a:latin typeface="Cambria Math" panose="02040503050406030204" pitchFamily="18" charset="0"/>
                          </a:rPr>
                          <m:t>4</m:t>
                        </m:r>
                      </m:den>
                    </m:f>
                    <m:r>
                      <a:rPr lang="en-US" sz="1600" i="1" dirty="0">
                        <a:solidFill>
                          <a:srgbClr val="444444"/>
                        </a:solidFill>
                        <a:latin typeface="Cambria Math" panose="02040503050406030204" pitchFamily="18" charset="0"/>
                      </a:rPr>
                      <m:t> =</m:t>
                    </m:r>
                    <m:r>
                      <a:rPr lang="en-US" sz="1600" b="0" i="1" dirty="0" smtClean="0">
                        <a:solidFill>
                          <a:srgbClr val="444444"/>
                        </a:solidFill>
                        <a:latin typeface="Cambria Math" panose="02040503050406030204" pitchFamily="18" charset="0"/>
                      </a:rPr>
                      <m:t>75</m:t>
                    </m:r>
                    <m:r>
                      <a:rPr lang="en-US" sz="1600" i="1" dirty="0">
                        <a:solidFill>
                          <a:srgbClr val="444444"/>
                        </a:solidFill>
                        <a:latin typeface="Cambria Math" panose="02040503050406030204" pitchFamily="18" charset="0"/>
                      </a:rPr>
                      <m:t> </m:t>
                    </m:r>
                    <m:r>
                      <a:rPr lang="en-US" sz="1600" i="1" dirty="0">
                        <a:solidFill>
                          <a:srgbClr val="444444"/>
                        </a:solidFill>
                        <a:latin typeface="Cambria Math" panose="02040503050406030204" pitchFamily="18" charset="0"/>
                      </a:rPr>
                      <m:t>𝑟𝑝𝑚</m:t>
                    </m:r>
                  </m:oMath>
                </a14:m>
                <a:r>
                  <a:rPr lang="en-US" sz="1600" dirty="0">
                    <a:solidFill>
                      <a:srgbClr val="444444"/>
                    </a:solidFill>
                    <a:latin typeface="Helvetica Neue"/>
                  </a:rPr>
                  <a:t>).</a:t>
                </a:r>
                <a:endParaRPr lang="ar-EG" sz="1600" dirty="0"/>
              </a:p>
            </p:txBody>
          </p:sp>
        </mc:Choice>
        <mc:Fallback xmlns="">
          <p:sp>
            <p:nvSpPr>
              <p:cNvPr id="10" name="Rectangle 9"/>
              <p:cNvSpPr>
                <a:spLocks noRot="1" noChangeAspect="1" noMove="1" noResize="1" noEditPoints="1" noAdjustHandles="1" noChangeArrowheads="1" noChangeShapeType="1" noTextEdit="1"/>
              </p:cNvSpPr>
              <p:nvPr/>
            </p:nvSpPr>
            <p:spPr>
              <a:xfrm>
                <a:off x="5029200" y="4038600"/>
                <a:ext cx="3657600" cy="1772537"/>
              </a:xfrm>
              <a:prstGeom prst="rect">
                <a:avLst/>
              </a:prstGeom>
              <a:blipFill rotWithShape="0">
                <a:blip r:embed="rId5"/>
                <a:stretch>
                  <a:fillRect l="-833" t="-1034" r="-833" b="-345"/>
                </a:stretch>
              </a:blipFill>
            </p:spPr>
            <p:txBody>
              <a:bodyPr/>
              <a:lstStyle/>
              <a:p>
                <a:r>
                  <a:rPr lang="ar-EG">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685800" y="4114800"/>
                <a:ext cx="3657600" cy="1694695"/>
              </a:xfrm>
              <a:prstGeom prst="rect">
                <a:avLst/>
              </a:prstGeom>
            </p:spPr>
            <p:txBody>
              <a:bodyPr wrap="square">
                <a:spAutoFit/>
              </a:bodyPr>
              <a:lstStyle/>
              <a:p>
                <a:pPr algn="just"/>
                <a:r>
                  <a:rPr lang="en-US" sz="1600" dirty="0">
                    <a:solidFill>
                      <a:srgbClr val="444444"/>
                    </a:solidFill>
                    <a:latin typeface="Helvetica Neue"/>
                  </a:rPr>
                  <a:t>Since the on-time is more than the off-time, the effective speed of the motor increased. In this case, the speed becomes 225 rpm (since on-time = ¾ off-time, </a:t>
                </a:r>
              </a:p>
              <a:p>
                <a:pPr algn="just"/>
                <a:r>
                  <a:rPr lang="en-US" sz="1600" dirty="0">
                    <a:solidFill>
                      <a:srgbClr val="444444"/>
                    </a:solidFill>
                    <a:latin typeface="Helvetica Neue"/>
                  </a:rPr>
                  <a:t>i.e. </a:t>
                </a:r>
                <a14:m>
                  <m:oMath xmlns:m="http://schemas.openxmlformats.org/officeDocument/2006/math">
                    <m:r>
                      <a:rPr lang="en-US" sz="1600" i="1" dirty="0" smtClean="0">
                        <a:solidFill>
                          <a:srgbClr val="444444"/>
                        </a:solidFill>
                        <a:latin typeface="Cambria Math" panose="02040503050406030204" pitchFamily="18" charset="0"/>
                      </a:rPr>
                      <m:t>𝑠𝑝𝑒𝑒𝑑</m:t>
                    </m:r>
                    <m:r>
                      <a:rPr lang="en-US" sz="1600" i="1" dirty="0" smtClean="0">
                        <a:solidFill>
                          <a:srgbClr val="444444"/>
                        </a:solidFill>
                        <a:latin typeface="Cambria Math" panose="02040503050406030204" pitchFamily="18" charset="0"/>
                      </a:rPr>
                      <m:t> = </m:t>
                    </m:r>
                    <m:r>
                      <a:rPr lang="en-US" sz="1600" i="1" dirty="0" smtClean="0">
                        <a:solidFill>
                          <a:srgbClr val="444444"/>
                        </a:solidFill>
                        <a:latin typeface="Cambria Math" panose="02040503050406030204" pitchFamily="18" charset="0"/>
                      </a:rPr>
                      <m:t>300</m:t>
                    </m:r>
                    <m:r>
                      <a:rPr lang="en-US" sz="1600" i="1" dirty="0">
                        <a:solidFill>
                          <a:srgbClr val="444444"/>
                        </a:solidFill>
                        <a:latin typeface="Cambria Math" panose="02040503050406030204" pitchFamily="18" charset="0"/>
                      </a:rPr>
                      <m:t>∗</m:t>
                    </m:r>
                    <m:f>
                      <m:fPr>
                        <m:ctrlPr>
                          <a:rPr lang="en-US" sz="1600" b="0" i="1" dirty="0" smtClean="0">
                            <a:solidFill>
                              <a:srgbClr val="444444"/>
                            </a:solidFill>
                            <a:latin typeface="Cambria Math" panose="02040503050406030204" pitchFamily="18" charset="0"/>
                          </a:rPr>
                        </m:ctrlPr>
                      </m:fPr>
                      <m:num>
                        <m:r>
                          <a:rPr lang="en-US" sz="1600" b="0" i="1" dirty="0" smtClean="0">
                            <a:solidFill>
                              <a:srgbClr val="444444"/>
                            </a:solidFill>
                            <a:latin typeface="Cambria Math" panose="02040503050406030204" pitchFamily="18" charset="0"/>
                          </a:rPr>
                          <m:t>3</m:t>
                        </m:r>
                      </m:num>
                      <m:den>
                        <m:r>
                          <a:rPr lang="en-US" sz="1600" b="0" i="1" dirty="0" smtClean="0">
                            <a:solidFill>
                              <a:srgbClr val="444444"/>
                            </a:solidFill>
                            <a:latin typeface="Cambria Math" panose="02040503050406030204" pitchFamily="18" charset="0"/>
                          </a:rPr>
                          <m:t>4</m:t>
                        </m:r>
                      </m:den>
                    </m:f>
                    <m:r>
                      <a:rPr lang="en-US" sz="1600" i="1" dirty="0" smtClean="0">
                        <a:solidFill>
                          <a:srgbClr val="444444"/>
                        </a:solidFill>
                        <a:latin typeface="Cambria Math" panose="02040503050406030204" pitchFamily="18" charset="0"/>
                      </a:rPr>
                      <m:t> </m:t>
                    </m:r>
                    <m:r>
                      <a:rPr lang="en-US" sz="1600" i="1" dirty="0">
                        <a:solidFill>
                          <a:srgbClr val="444444"/>
                        </a:solidFill>
                        <a:latin typeface="Cambria Math" panose="02040503050406030204" pitchFamily="18" charset="0"/>
                      </a:rPr>
                      <m:t>=</m:t>
                    </m:r>
                    <m:r>
                      <a:rPr lang="en-US" sz="1600" b="0" i="1" dirty="0" smtClean="0">
                        <a:solidFill>
                          <a:srgbClr val="444444"/>
                        </a:solidFill>
                        <a:latin typeface="Cambria Math" panose="02040503050406030204" pitchFamily="18" charset="0"/>
                      </a:rPr>
                      <m:t>22</m:t>
                    </m:r>
                    <m:r>
                      <a:rPr lang="en-US" sz="1600" i="1" dirty="0">
                        <a:solidFill>
                          <a:srgbClr val="444444"/>
                        </a:solidFill>
                        <a:latin typeface="Cambria Math" panose="02040503050406030204" pitchFamily="18" charset="0"/>
                      </a:rPr>
                      <m:t>5</m:t>
                    </m:r>
                    <m:r>
                      <a:rPr lang="en-US" sz="1600" i="1" dirty="0">
                        <a:solidFill>
                          <a:srgbClr val="444444"/>
                        </a:solidFill>
                        <a:latin typeface="Cambria Math" panose="02040503050406030204" pitchFamily="18" charset="0"/>
                      </a:rPr>
                      <m:t> </m:t>
                    </m:r>
                    <m:r>
                      <a:rPr lang="en-US" sz="1600" i="1" dirty="0">
                        <a:solidFill>
                          <a:srgbClr val="444444"/>
                        </a:solidFill>
                        <a:latin typeface="Cambria Math" panose="02040503050406030204" pitchFamily="18" charset="0"/>
                      </a:rPr>
                      <m:t>𝑟𝑝𝑚</m:t>
                    </m:r>
                  </m:oMath>
                </a14:m>
                <a:r>
                  <a:rPr lang="en-US" sz="1600" dirty="0">
                    <a:solidFill>
                      <a:srgbClr val="444444"/>
                    </a:solidFill>
                    <a:latin typeface="Helvetica Neue"/>
                  </a:rPr>
                  <a:t>).</a:t>
                </a:r>
                <a:endParaRPr lang="ar-EG" sz="1600" dirty="0"/>
              </a:p>
            </p:txBody>
          </p:sp>
        </mc:Choice>
        <mc:Fallback xmlns="">
          <p:sp>
            <p:nvSpPr>
              <p:cNvPr id="11" name="Rectangle 10"/>
              <p:cNvSpPr>
                <a:spLocks noRot="1" noChangeAspect="1" noMove="1" noResize="1" noEditPoints="1" noAdjustHandles="1" noChangeArrowheads="1" noChangeShapeType="1" noTextEdit="1"/>
              </p:cNvSpPr>
              <p:nvPr/>
            </p:nvSpPr>
            <p:spPr>
              <a:xfrm>
                <a:off x="685800" y="4114800"/>
                <a:ext cx="3657600" cy="1694695"/>
              </a:xfrm>
              <a:prstGeom prst="rect">
                <a:avLst/>
              </a:prstGeom>
              <a:blipFill rotWithShape="0">
                <a:blip r:embed="rId6"/>
                <a:stretch>
                  <a:fillRect l="-1000" t="-1079" r="-833"/>
                </a:stretch>
              </a:blipFill>
            </p:spPr>
            <p:txBody>
              <a:bodyPr/>
              <a:lstStyle/>
              <a:p>
                <a:r>
                  <a:rPr lang="ar-EG">
                    <a:noFill/>
                  </a:rPr>
                  <a:t> </a:t>
                </a:r>
              </a:p>
            </p:txBody>
          </p:sp>
        </mc:Fallback>
      </mc:AlternateContent>
      <p:sp>
        <p:nvSpPr>
          <p:cNvPr id="3" name="Rectangle 2"/>
          <p:cNvSpPr/>
          <p:nvPr/>
        </p:nvSpPr>
        <p:spPr>
          <a:xfrm>
            <a:off x="1447800" y="5953084"/>
            <a:ext cx="6096000" cy="307777"/>
          </a:xfrm>
          <a:prstGeom prst="rect">
            <a:avLst/>
          </a:prstGeom>
        </p:spPr>
        <p:txBody>
          <a:bodyPr wrap="square">
            <a:spAutoFit/>
          </a:bodyPr>
          <a:lstStyle/>
          <a:p>
            <a:r>
              <a:rPr lang="en-US" sz="1400" dirty="0">
                <a:solidFill>
                  <a:srgbClr val="002060"/>
                </a:solidFill>
                <a:latin typeface="Helvetica Neue"/>
              </a:rPr>
              <a:t>This is what we call </a:t>
            </a:r>
            <a:r>
              <a:rPr lang="en-US" sz="1400" b="1" dirty="0">
                <a:solidFill>
                  <a:srgbClr val="002060"/>
                </a:solidFill>
                <a:latin typeface="Helvetica Neue"/>
              </a:rPr>
              <a:t>Pulse Width Modulation</a:t>
            </a:r>
            <a:r>
              <a:rPr lang="en-US" sz="1400" dirty="0">
                <a:solidFill>
                  <a:srgbClr val="002060"/>
                </a:solidFill>
                <a:latin typeface="Helvetica Neue"/>
              </a:rPr>
              <a:t>, commonly known as </a:t>
            </a:r>
            <a:r>
              <a:rPr lang="en-US" sz="1400" b="1" dirty="0">
                <a:solidFill>
                  <a:srgbClr val="002060"/>
                </a:solidFill>
                <a:latin typeface="Helvetica Neue"/>
              </a:rPr>
              <a:t>PWM</a:t>
            </a:r>
            <a:r>
              <a:rPr lang="en-US" sz="1400" dirty="0">
                <a:solidFill>
                  <a:srgbClr val="002060"/>
                </a:solidFill>
                <a:latin typeface="Helvetica Neue"/>
              </a:rPr>
              <a:t>.</a:t>
            </a:r>
            <a:endParaRPr lang="ar-EG" sz="1400" dirty="0">
              <a:solidFill>
                <a:srgbClr val="002060"/>
              </a:solidFill>
            </a:endParaRPr>
          </a:p>
        </p:txBody>
      </p:sp>
    </p:spTree>
    <p:extLst>
      <p:ext uri="{BB962C8B-B14F-4D97-AF65-F5344CB8AC3E}">
        <p14:creationId xmlns:p14="http://schemas.microsoft.com/office/powerpoint/2010/main" val="91790048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Pulse width modulation mode (PWM)</a:t>
            </a:r>
          </a:p>
        </p:txBody>
      </p:sp>
      <p:sp>
        <p:nvSpPr>
          <p:cNvPr id="5" name="Rectangle 4"/>
          <p:cNvSpPr/>
          <p:nvPr/>
        </p:nvSpPr>
        <p:spPr>
          <a:xfrm>
            <a:off x="685800" y="1234193"/>
            <a:ext cx="8229600" cy="584775"/>
          </a:xfrm>
          <a:prstGeom prst="rect">
            <a:avLst/>
          </a:prstGeom>
        </p:spPr>
        <p:txBody>
          <a:bodyPr wrap="square">
            <a:spAutoFit/>
          </a:bodyPr>
          <a:lstStyle/>
          <a:p>
            <a:r>
              <a:rPr lang="en-US" sz="1600" dirty="0">
                <a:solidFill>
                  <a:srgbClr val="444444"/>
                </a:solidFill>
                <a:latin typeface="Helvetica Neue"/>
              </a:rPr>
              <a:t>The simplest way to generate a PWM signal is by comparing the a predetermined waveform with a fixed voltage level as shown below.</a:t>
            </a:r>
            <a:endParaRPr lang="ar-EG" sz="1600" dirty="0">
              <a:solidFill>
                <a:srgbClr val="444444"/>
              </a:solidFill>
              <a:latin typeface="Helvetica Neue"/>
            </a:endParaRPr>
          </a:p>
        </p:txBody>
      </p:sp>
      <p:pic>
        <p:nvPicPr>
          <p:cNvPr id="6" name="Picture 5"/>
          <p:cNvPicPr>
            <a:picLocks noChangeAspect="1"/>
          </p:cNvPicPr>
          <p:nvPr/>
        </p:nvPicPr>
        <p:blipFill>
          <a:blip r:embed="rId3"/>
          <a:stretch>
            <a:fillRect/>
          </a:stretch>
        </p:blipFill>
        <p:spPr>
          <a:xfrm>
            <a:off x="5486400" y="1752600"/>
            <a:ext cx="3429000" cy="4653643"/>
          </a:xfrm>
          <a:prstGeom prst="rect">
            <a:avLst/>
          </a:prstGeom>
        </p:spPr>
      </p:pic>
      <p:sp>
        <p:nvSpPr>
          <p:cNvPr id="7" name="Rectangle 6"/>
          <p:cNvSpPr/>
          <p:nvPr/>
        </p:nvSpPr>
        <p:spPr>
          <a:xfrm>
            <a:off x="685800" y="1881928"/>
            <a:ext cx="4572000" cy="4031873"/>
          </a:xfrm>
          <a:prstGeom prst="rect">
            <a:avLst/>
          </a:prstGeom>
        </p:spPr>
        <p:txBody>
          <a:bodyPr>
            <a:spAutoFit/>
          </a:bodyPr>
          <a:lstStyle/>
          <a:p>
            <a:pPr algn="just"/>
            <a:r>
              <a:rPr lang="en-US" sz="1600" dirty="0">
                <a:solidFill>
                  <a:srgbClr val="444444"/>
                </a:solidFill>
                <a:latin typeface="Helvetica Neue"/>
              </a:rPr>
              <a:t>In the Figure shown, we have a predetermined waveform, </a:t>
            </a:r>
            <a:r>
              <a:rPr lang="en-US" sz="1600" dirty="0" err="1">
                <a:solidFill>
                  <a:srgbClr val="444444"/>
                </a:solidFill>
                <a:latin typeface="Helvetica Neue"/>
              </a:rPr>
              <a:t>sawtooth</a:t>
            </a:r>
            <a:r>
              <a:rPr lang="en-US" sz="1600" dirty="0">
                <a:solidFill>
                  <a:srgbClr val="444444"/>
                </a:solidFill>
                <a:latin typeface="Helvetica Neue"/>
              </a:rPr>
              <a:t> waveform. We compare this waveform with a fixed DC level. It has three compare output modes of operation:</a:t>
            </a:r>
          </a:p>
          <a:p>
            <a:pPr marL="285750" indent="-285750" algn="just">
              <a:buFont typeface="Arial" panose="020B0604020202020204" pitchFamily="34" charset="0"/>
              <a:buChar char="•"/>
            </a:pPr>
            <a:r>
              <a:rPr lang="en-US" sz="1600" b="1" dirty="0">
                <a:solidFill>
                  <a:srgbClr val="444444"/>
                </a:solidFill>
                <a:latin typeface="Helvetica Neue"/>
              </a:rPr>
              <a:t>Inverted Mode</a:t>
            </a:r>
            <a:r>
              <a:rPr lang="en-US" sz="1600" dirty="0">
                <a:solidFill>
                  <a:srgbClr val="444444"/>
                </a:solidFill>
                <a:latin typeface="Helvetica Neue"/>
              </a:rPr>
              <a:t>: In this mode, if the waveform value is greater than the compare level, then the output is set high, or else the output is low. This is represented in figure A.</a:t>
            </a:r>
          </a:p>
          <a:p>
            <a:pPr marL="285750" indent="-285750" algn="just">
              <a:buFont typeface="Arial" panose="020B0604020202020204" pitchFamily="34" charset="0"/>
              <a:buChar char="•"/>
            </a:pPr>
            <a:r>
              <a:rPr lang="en-US" sz="1600" b="1" dirty="0">
                <a:solidFill>
                  <a:srgbClr val="444444"/>
                </a:solidFill>
                <a:latin typeface="Helvetica Neue"/>
              </a:rPr>
              <a:t>Non-Inverted Mode</a:t>
            </a:r>
            <a:r>
              <a:rPr lang="en-US" sz="1600" dirty="0">
                <a:solidFill>
                  <a:srgbClr val="444444"/>
                </a:solidFill>
                <a:latin typeface="Helvetica Neue"/>
              </a:rPr>
              <a:t>: In this mode, the output is high whenever the compare level is greater than the waveform level and low otherwise. This is represented in figure B.</a:t>
            </a:r>
          </a:p>
          <a:p>
            <a:pPr marL="285750" indent="-285750" algn="just">
              <a:buFont typeface="Arial" panose="020B0604020202020204" pitchFamily="34" charset="0"/>
              <a:buChar char="•"/>
            </a:pPr>
            <a:r>
              <a:rPr lang="en-US" sz="1600" b="1" dirty="0">
                <a:solidFill>
                  <a:srgbClr val="444444"/>
                </a:solidFill>
                <a:latin typeface="Helvetica Neue"/>
              </a:rPr>
              <a:t>Toggle Mode: </a:t>
            </a:r>
            <a:r>
              <a:rPr lang="en-US" sz="1600" dirty="0">
                <a:solidFill>
                  <a:srgbClr val="444444"/>
                </a:solidFill>
                <a:latin typeface="Helvetica Neue"/>
              </a:rPr>
              <a:t>In this mode, the output toggles whenever there is a compare match. If the output is high, it becomes low, and vice-versa.</a:t>
            </a:r>
          </a:p>
        </p:txBody>
      </p:sp>
    </p:spTree>
    <p:extLst>
      <p:ext uri="{BB962C8B-B14F-4D97-AF65-F5344CB8AC3E}">
        <p14:creationId xmlns:p14="http://schemas.microsoft.com/office/powerpoint/2010/main" val="148496358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Pulse width modulation mode (PWM)</a:t>
            </a:r>
          </a:p>
        </p:txBody>
      </p:sp>
      <p:sp>
        <p:nvSpPr>
          <p:cNvPr id="5" name="Rectangle 4"/>
          <p:cNvSpPr/>
          <p:nvPr/>
        </p:nvSpPr>
        <p:spPr>
          <a:xfrm>
            <a:off x="685800" y="1234193"/>
            <a:ext cx="8229600" cy="1323439"/>
          </a:xfrm>
          <a:prstGeom prst="rect">
            <a:avLst/>
          </a:prstGeom>
        </p:spPr>
        <p:txBody>
          <a:bodyPr wrap="square">
            <a:spAutoFit/>
          </a:bodyPr>
          <a:lstStyle/>
          <a:p>
            <a:pPr marL="285750" indent="-285750" algn="just">
              <a:buFont typeface="Arial" panose="020B0604020202020204" pitchFamily="34" charset="0"/>
              <a:buChar char="•"/>
            </a:pPr>
            <a:r>
              <a:rPr lang="en-US" sz="1600" dirty="0"/>
              <a:t>I</a:t>
            </a:r>
            <a:r>
              <a:rPr lang="en-US" sz="1600" dirty="0">
                <a:solidFill>
                  <a:srgbClr val="444444"/>
                </a:solidFill>
                <a:latin typeface="Helvetica Neue"/>
              </a:rPr>
              <a:t>t’s always not necessary that we have a fixed compare level. Those who have had exposure in the field of analog/digital communication must have come across cases where a </a:t>
            </a:r>
            <a:r>
              <a:rPr lang="en-US" sz="1600" dirty="0" err="1">
                <a:solidFill>
                  <a:srgbClr val="444444"/>
                </a:solidFill>
                <a:latin typeface="Helvetica Neue"/>
              </a:rPr>
              <a:t>sawtooth</a:t>
            </a:r>
            <a:r>
              <a:rPr lang="en-US" sz="1600" dirty="0">
                <a:solidFill>
                  <a:srgbClr val="444444"/>
                </a:solidFill>
                <a:latin typeface="Helvetica Neue"/>
              </a:rPr>
              <a:t> carrier wave is compared with a sinusoidal message signal as shown below.</a:t>
            </a:r>
          </a:p>
          <a:p>
            <a:pPr marL="285750" indent="-285750" algn="just">
              <a:buFont typeface="Arial" panose="020B0604020202020204" pitchFamily="34" charset="0"/>
              <a:buChar char="•"/>
            </a:pPr>
            <a:endParaRPr lang="ar-EG" sz="1600" dirty="0">
              <a:solidFill>
                <a:srgbClr val="444444"/>
              </a:solidFill>
              <a:latin typeface="Helvetica Neue"/>
            </a:endParaRPr>
          </a:p>
        </p:txBody>
      </p:sp>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2286000" y="2557631"/>
            <a:ext cx="4876800" cy="3298417"/>
          </a:xfrm>
          <a:prstGeom prst="rect">
            <a:avLst/>
          </a:prstGeom>
        </p:spPr>
      </p:pic>
    </p:spTree>
    <p:extLst>
      <p:ext uri="{BB962C8B-B14F-4D97-AF65-F5344CB8AC3E}">
        <p14:creationId xmlns:p14="http://schemas.microsoft.com/office/powerpoint/2010/main" val="66399351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Pulse width modulation mode (PWM)</a:t>
            </a:r>
          </a:p>
        </p:txBody>
      </p:sp>
      <p:sp>
        <p:nvSpPr>
          <p:cNvPr id="5" name="Rectangle 4"/>
          <p:cNvSpPr/>
          <p:nvPr/>
        </p:nvSpPr>
        <p:spPr>
          <a:xfrm>
            <a:off x="685800" y="1234193"/>
            <a:ext cx="8229600" cy="892552"/>
          </a:xfrm>
          <a:prstGeom prst="rect">
            <a:avLst/>
          </a:prstGeom>
        </p:spPr>
        <p:txBody>
          <a:bodyPr wrap="square">
            <a:spAutoFit/>
          </a:bodyPr>
          <a:lstStyle/>
          <a:p>
            <a:r>
              <a:rPr lang="en-US" sz="2000" b="1" dirty="0"/>
              <a:t>Duty Cycle</a:t>
            </a:r>
          </a:p>
          <a:p>
            <a:r>
              <a:rPr lang="en-US" sz="1600" dirty="0"/>
              <a:t>The Duty Cycle of a PWM Waveform is given by</a:t>
            </a:r>
          </a:p>
          <a:p>
            <a:pPr marL="285750" indent="-285750" algn="just">
              <a:buFont typeface="Arial" panose="020B0604020202020204" pitchFamily="34" charset="0"/>
              <a:buChar char="•"/>
            </a:pPr>
            <a:endParaRPr lang="ar-EG" sz="1600" dirty="0">
              <a:solidFill>
                <a:srgbClr val="444444"/>
              </a:solidFill>
              <a:latin typeface="Helvetica Neue"/>
            </a:endParaRPr>
          </a:p>
        </p:txBody>
      </p:sp>
      <p:pic>
        <p:nvPicPr>
          <p:cNvPr id="4" name="Picture 3"/>
          <p:cNvPicPr>
            <a:picLocks noChangeAspect="1"/>
          </p:cNvPicPr>
          <p:nvPr/>
        </p:nvPicPr>
        <p:blipFill>
          <a:blip r:embed="rId3"/>
          <a:stretch>
            <a:fillRect/>
          </a:stretch>
        </p:blipFill>
        <p:spPr>
          <a:xfrm>
            <a:off x="5334000" y="1469520"/>
            <a:ext cx="3448050" cy="657225"/>
          </a:xfrm>
          <a:prstGeom prst="rect">
            <a:avLst/>
          </a:prstGeom>
        </p:spPr>
      </p:pic>
      <p:pic>
        <p:nvPicPr>
          <p:cNvPr id="6" name="Picture 5"/>
          <p:cNvPicPr>
            <a:picLocks noChangeAspect="1"/>
          </p:cNvPicPr>
          <p:nvPr/>
        </p:nvPicPr>
        <p:blipFill>
          <a:blip r:embed="rId4"/>
          <a:stretch>
            <a:fillRect/>
          </a:stretch>
        </p:blipFill>
        <p:spPr>
          <a:xfrm>
            <a:off x="1143000" y="2264868"/>
            <a:ext cx="2971800" cy="1959820"/>
          </a:xfrm>
          <a:prstGeom prst="rect">
            <a:avLst/>
          </a:prstGeom>
        </p:spPr>
      </p:pic>
      <p:pic>
        <p:nvPicPr>
          <p:cNvPr id="7" name="Picture 6"/>
          <p:cNvPicPr>
            <a:picLocks noChangeAspect="1"/>
          </p:cNvPicPr>
          <p:nvPr/>
        </p:nvPicPr>
        <p:blipFill>
          <a:blip r:embed="rId5"/>
          <a:stretch>
            <a:fillRect/>
          </a:stretch>
        </p:blipFill>
        <p:spPr>
          <a:xfrm>
            <a:off x="4953000" y="2205887"/>
            <a:ext cx="3124200" cy="2077781"/>
          </a:xfrm>
          <a:prstGeom prst="rect">
            <a:avLst/>
          </a:prstGeom>
        </p:spPr>
      </p:pic>
      <p:pic>
        <p:nvPicPr>
          <p:cNvPr id="8" name="Picture 7"/>
          <p:cNvPicPr>
            <a:picLocks noChangeAspect="1"/>
          </p:cNvPicPr>
          <p:nvPr/>
        </p:nvPicPr>
        <p:blipFill>
          <a:blip r:embed="rId6"/>
          <a:stretch>
            <a:fillRect/>
          </a:stretch>
        </p:blipFill>
        <p:spPr>
          <a:xfrm>
            <a:off x="2895600" y="4362810"/>
            <a:ext cx="3010976" cy="2014538"/>
          </a:xfrm>
          <a:prstGeom prst="rect">
            <a:avLst/>
          </a:prstGeom>
        </p:spPr>
      </p:pic>
    </p:spTree>
    <p:extLst>
      <p:ext uri="{BB962C8B-B14F-4D97-AF65-F5344CB8AC3E}">
        <p14:creationId xmlns:p14="http://schemas.microsoft.com/office/powerpoint/2010/main" val="11587794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Pulse width modulation mode (PWM)</a:t>
            </a:r>
          </a:p>
        </p:txBody>
      </p:sp>
      <p:sp>
        <p:nvSpPr>
          <p:cNvPr id="5" name="Rectangle 4"/>
          <p:cNvSpPr/>
          <p:nvPr/>
        </p:nvSpPr>
        <p:spPr>
          <a:xfrm>
            <a:off x="685800" y="1234193"/>
            <a:ext cx="8229600" cy="338554"/>
          </a:xfrm>
          <a:prstGeom prst="rect">
            <a:avLst/>
          </a:prstGeom>
        </p:spPr>
        <p:txBody>
          <a:bodyPr wrap="square">
            <a:spAutoFit/>
          </a:bodyPr>
          <a:lstStyle/>
          <a:p>
            <a:r>
              <a:rPr lang="en-US" sz="1600" dirty="0"/>
              <a:t>Consider the following timer diagram:</a:t>
            </a:r>
            <a:endParaRPr lang="ar-EG" sz="1600" dirty="0">
              <a:solidFill>
                <a:srgbClr val="444444"/>
              </a:solidFill>
              <a:latin typeface="Helvetica Neue"/>
            </a:endParaRPr>
          </a:p>
        </p:txBody>
      </p:sp>
      <p:pic>
        <p:nvPicPr>
          <p:cNvPr id="3" name="Picture 2"/>
          <p:cNvPicPr>
            <a:picLocks noChangeAspect="1"/>
          </p:cNvPicPr>
          <p:nvPr/>
        </p:nvPicPr>
        <p:blipFill>
          <a:blip r:embed="rId3"/>
          <a:stretch>
            <a:fillRect/>
          </a:stretch>
        </p:blipFill>
        <p:spPr>
          <a:xfrm>
            <a:off x="381000" y="1766945"/>
            <a:ext cx="2791588" cy="1841260"/>
          </a:xfrm>
          <a:prstGeom prst="rect">
            <a:avLst/>
          </a:prstGeom>
        </p:spPr>
      </p:pic>
      <p:pic>
        <p:nvPicPr>
          <p:cNvPr id="9" name="Picture 8"/>
          <p:cNvPicPr>
            <a:picLocks noChangeAspect="1"/>
          </p:cNvPicPr>
          <p:nvPr/>
        </p:nvPicPr>
        <p:blipFill>
          <a:blip r:embed="rId4"/>
          <a:stretch>
            <a:fillRect/>
          </a:stretch>
        </p:blipFill>
        <p:spPr>
          <a:xfrm>
            <a:off x="3263646" y="1759904"/>
            <a:ext cx="2791588" cy="1836745"/>
          </a:xfrm>
          <a:prstGeom prst="rect">
            <a:avLst/>
          </a:prstGeom>
        </p:spPr>
      </p:pic>
      <p:pic>
        <p:nvPicPr>
          <p:cNvPr id="10" name="Picture 9"/>
          <p:cNvPicPr>
            <a:picLocks noChangeAspect="1"/>
          </p:cNvPicPr>
          <p:nvPr/>
        </p:nvPicPr>
        <p:blipFill>
          <a:blip r:embed="rId5"/>
          <a:stretch>
            <a:fillRect/>
          </a:stretch>
        </p:blipFill>
        <p:spPr>
          <a:xfrm>
            <a:off x="6146292" y="1752600"/>
            <a:ext cx="2819400" cy="1890656"/>
          </a:xfrm>
          <a:prstGeom prst="rect">
            <a:avLst/>
          </a:prstGeom>
        </p:spPr>
      </p:pic>
      <p:sp>
        <p:nvSpPr>
          <p:cNvPr id="11" name="Rectangle 10"/>
          <p:cNvSpPr/>
          <p:nvPr/>
        </p:nvSpPr>
        <p:spPr>
          <a:xfrm>
            <a:off x="381000" y="3802403"/>
            <a:ext cx="8584692" cy="2308324"/>
          </a:xfrm>
          <a:prstGeom prst="rect">
            <a:avLst/>
          </a:prstGeom>
        </p:spPr>
        <p:txBody>
          <a:bodyPr wrap="square">
            <a:spAutoFit/>
          </a:bodyPr>
          <a:lstStyle/>
          <a:p>
            <a:pPr marL="285750" indent="-285750">
              <a:buFont typeface="Arial" panose="020B0604020202020204" pitchFamily="34" charset="0"/>
              <a:buChar char="•"/>
            </a:pPr>
            <a:r>
              <a:rPr lang="en-US" sz="1600" dirty="0"/>
              <a:t>We are very well aware that the AVR provides us with an option of 8 and 16 bit timers. 8bit timers count from 0 to 255, then back to zero and so on. 16bit timers count from 0 to 65535, then back to zero. Thus for a 8bit timer, MAX = 255 and for a 16bit timer, MAX = 65535.</a:t>
            </a:r>
          </a:p>
          <a:p>
            <a:pPr marL="285750" indent="-285750">
              <a:buFont typeface="Arial" panose="020B0604020202020204" pitchFamily="34" charset="0"/>
              <a:buChar char="•"/>
            </a:pPr>
            <a:r>
              <a:rPr lang="en-US" sz="1600" dirty="0"/>
              <a:t>The timer </a:t>
            </a:r>
            <a:r>
              <a:rPr lang="en-US" sz="1600" i="1" dirty="0"/>
              <a:t>always</a:t>
            </a:r>
            <a:r>
              <a:rPr lang="en-US" sz="1600" dirty="0"/>
              <a:t> counts from 0 to TOP, then overflows back to zero. In figure A shown above, TOP = MAX. </a:t>
            </a:r>
          </a:p>
          <a:p>
            <a:pPr marL="285750" indent="-285750">
              <a:buFont typeface="Arial" panose="020B0604020202020204" pitchFamily="34" charset="0"/>
              <a:buChar char="•"/>
            </a:pPr>
            <a:r>
              <a:rPr lang="en-US" sz="1600" dirty="0"/>
              <a:t>Due to this, the value of TOP can be reduced as shown in figure B. The yellow line shows how the timer would have gone in normal mode.</a:t>
            </a:r>
          </a:p>
          <a:p>
            <a:pPr marL="285750" indent="-285750">
              <a:buFont typeface="Arial" panose="020B0604020202020204" pitchFamily="34" charset="0"/>
              <a:buChar char="•"/>
            </a:pPr>
            <a:r>
              <a:rPr lang="en-US" sz="1600" dirty="0"/>
              <a:t>Now, the CTC Mode can be extended to introduce variable TOP as shown in figure C</a:t>
            </a:r>
            <a:endParaRPr lang="ar-EG" sz="1600" dirty="0"/>
          </a:p>
        </p:txBody>
      </p:sp>
    </p:spTree>
    <p:extLst>
      <p:ext uri="{BB962C8B-B14F-4D97-AF65-F5344CB8AC3E}">
        <p14:creationId xmlns:p14="http://schemas.microsoft.com/office/powerpoint/2010/main" val="377434666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Pulse width modulation mode (PWM)</a:t>
            </a:r>
          </a:p>
        </p:txBody>
      </p:sp>
      <p:sp>
        <p:nvSpPr>
          <p:cNvPr id="5" name="Rectangle 4"/>
          <p:cNvSpPr/>
          <p:nvPr/>
        </p:nvSpPr>
        <p:spPr>
          <a:xfrm>
            <a:off x="685800" y="1234193"/>
            <a:ext cx="8229600" cy="1323439"/>
          </a:xfrm>
          <a:prstGeom prst="rect">
            <a:avLst/>
          </a:prstGeom>
        </p:spPr>
        <p:txBody>
          <a:bodyPr wrap="square">
            <a:spAutoFit/>
          </a:bodyPr>
          <a:lstStyle/>
          <a:p>
            <a:r>
              <a:rPr lang="en-US" sz="1600" b="1" i="1" dirty="0"/>
              <a:t>PWM Modes of Operation:</a:t>
            </a:r>
            <a:endParaRPr lang="en-US" sz="1600" dirty="0"/>
          </a:p>
          <a:p>
            <a:r>
              <a:rPr lang="en-US" sz="1600" dirty="0"/>
              <a:t>There are three modes of operation of PWM Timers:</a:t>
            </a:r>
          </a:p>
          <a:p>
            <a:pPr marL="285750" indent="-285750">
              <a:buFont typeface="Arial" panose="020B0604020202020204" pitchFamily="34" charset="0"/>
              <a:buChar char="•"/>
            </a:pPr>
            <a:r>
              <a:rPr lang="en-US" sz="1600" dirty="0"/>
              <a:t>Fast PWM</a:t>
            </a:r>
          </a:p>
          <a:p>
            <a:pPr marL="285750" indent="-285750">
              <a:buFont typeface="Arial" panose="020B0604020202020204" pitchFamily="34" charset="0"/>
              <a:buChar char="•"/>
            </a:pPr>
            <a:r>
              <a:rPr lang="en-US" sz="1600" dirty="0"/>
              <a:t>Phase Correct PWM</a:t>
            </a:r>
          </a:p>
          <a:p>
            <a:pPr marL="285750" indent="-285750">
              <a:buFont typeface="Arial" panose="020B0604020202020204" pitchFamily="34" charset="0"/>
              <a:buChar char="•"/>
            </a:pPr>
            <a:r>
              <a:rPr lang="en-US" sz="1600" dirty="0"/>
              <a:t>Frequency and Phase Correct PWM</a:t>
            </a:r>
          </a:p>
        </p:txBody>
      </p:sp>
      <p:sp>
        <p:nvSpPr>
          <p:cNvPr id="4" name="Rectangle 3"/>
          <p:cNvSpPr/>
          <p:nvPr/>
        </p:nvSpPr>
        <p:spPr>
          <a:xfrm>
            <a:off x="682752" y="2590800"/>
            <a:ext cx="1143262" cy="338554"/>
          </a:xfrm>
          <a:prstGeom prst="rect">
            <a:avLst/>
          </a:prstGeom>
        </p:spPr>
        <p:txBody>
          <a:bodyPr wrap="none">
            <a:spAutoFit/>
          </a:bodyPr>
          <a:lstStyle/>
          <a:p>
            <a:r>
              <a:rPr lang="en-US" sz="1600" i="1" dirty="0">
                <a:solidFill>
                  <a:srgbClr val="FF3300"/>
                </a:solidFill>
              </a:rPr>
              <a:t>Fast PWM</a:t>
            </a:r>
          </a:p>
        </p:txBody>
      </p:sp>
      <p:pic>
        <p:nvPicPr>
          <p:cNvPr id="6" name="Picture 5"/>
          <p:cNvPicPr>
            <a:picLocks noChangeAspect="1"/>
          </p:cNvPicPr>
          <p:nvPr/>
        </p:nvPicPr>
        <p:blipFill>
          <a:blip r:embed="rId3"/>
          <a:stretch>
            <a:fillRect/>
          </a:stretch>
        </p:blipFill>
        <p:spPr>
          <a:xfrm>
            <a:off x="682752" y="2929354"/>
            <a:ext cx="3545803" cy="2286000"/>
          </a:xfrm>
          <a:prstGeom prst="rect">
            <a:avLst/>
          </a:prstGeom>
        </p:spPr>
      </p:pic>
      <p:pic>
        <p:nvPicPr>
          <p:cNvPr id="7" name="Picture 6"/>
          <p:cNvPicPr>
            <a:picLocks noChangeAspect="1"/>
          </p:cNvPicPr>
          <p:nvPr/>
        </p:nvPicPr>
        <p:blipFill>
          <a:blip r:embed="rId4"/>
          <a:stretch>
            <a:fillRect/>
          </a:stretch>
        </p:blipFill>
        <p:spPr>
          <a:xfrm>
            <a:off x="4794504" y="2929355"/>
            <a:ext cx="3562121" cy="2286000"/>
          </a:xfrm>
          <a:prstGeom prst="rect">
            <a:avLst/>
          </a:prstGeom>
        </p:spPr>
      </p:pic>
      <p:sp>
        <p:nvSpPr>
          <p:cNvPr id="8" name="Rectangle 7"/>
          <p:cNvSpPr/>
          <p:nvPr/>
        </p:nvSpPr>
        <p:spPr>
          <a:xfrm>
            <a:off x="609600" y="5215354"/>
            <a:ext cx="7747025" cy="830997"/>
          </a:xfrm>
          <a:prstGeom prst="rect">
            <a:avLst/>
          </a:prstGeom>
        </p:spPr>
        <p:txBody>
          <a:bodyPr wrap="square">
            <a:spAutoFit/>
          </a:bodyPr>
          <a:lstStyle/>
          <a:p>
            <a:pPr marL="171450" indent="-171450">
              <a:buFont typeface="Arial" panose="020B0604020202020204" pitchFamily="34" charset="0"/>
              <a:buChar char="•"/>
            </a:pPr>
            <a:r>
              <a:rPr lang="en-US" dirty="0">
                <a:solidFill>
                  <a:srgbClr val="444444"/>
                </a:solidFill>
                <a:latin typeface="Helvetica Neue"/>
              </a:rPr>
              <a:t> We have a </a:t>
            </a:r>
            <a:r>
              <a:rPr lang="en-US" dirty="0" err="1">
                <a:solidFill>
                  <a:srgbClr val="444444"/>
                </a:solidFill>
                <a:latin typeface="Helvetica Neue"/>
              </a:rPr>
              <a:t>sawtooth</a:t>
            </a:r>
            <a:r>
              <a:rPr lang="en-US" dirty="0">
                <a:solidFill>
                  <a:srgbClr val="444444"/>
                </a:solidFill>
                <a:latin typeface="Helvetica Neue"/>
              </a:rPr>
              <a:t> waveform, and we compare it with a fixed voltage level (say A), and thus we get a PWM output as shown (in A). Now suppose we increase the compare voltage level (to, say B). In this case, as we can see, the pulse width has reduced, and hence the duty cycle. </a:t>
            </a:r>
            <a:r>
              <a:rPr lang="en-US" i="1" dirty="0">
                <a:solidFill>
                  <a:srgbClr val="444444"/>
                </a:solidFill>
                <a:latin typeface="Helvetica Neue"/>
              </a:rPr>
              <a:t>But,</a:t>
            </a:r>
            <a:r>
              <a:rPr lang="en-US" dirty="0">
                <a:solidFill>
                  <a:srgbClr val="444444"/>
                </a:solidFill>
                <a:latin typeface="Helvetica Neue"/>
              </a:rPr>
              <a:t> as you can see, both the pulses (A and B) end at the same time irrespective of their starting time.</a:t>
            </a:r>
            <a:endParaRPr lang="ar-EG" dirty="0"/>
          </a:p>
        </p:txBody>
      </p:sp>
    </p:spTree>
    <p:extLst>
      <p:ext uri="{BB962C8B-B14F-4D97-AF65-F5344CB8AC3E}">
        <p14:creationId xmlns:p14="http://schemas.microsoft.com/office/powerpoint/2010/main" val="54361491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Pulse width modulation mode (PWM)</a:t>
            </a:r>
          </a:p>
        </p:txBody>
      </p:sp>
      <p:sp>
        <p:nvSpPr>
          <p:cNvPr id="4" name="Rectangle 3"/>
          <p:cNvSpPr/>
          <p:nvPr/>
        </p:nvSpPr>
        <p:spPr>
          <a:xfrm>
            <a:off x="685800" y="1219200"/>
            <a:ext cx="2055371" cy="338554"/>
          </a:xfrm>
          <a:prstGeom prst="rect">
            <a:avLst/>
          </a:prstGeom>
        </p:spPr>
        <p:txBody>
          <a:bodyPr wrap="none">
            <a:spAutoFit/>
          </a:bodyPr>
          <a:lstStyle/>
          <a:p>
            <a:r>
              <a:rPr lang="en-US" sz="1600" i="1" dirty="0">
                <a:solidFill>
                  <a:srgbClr val="FF3300"/>
                </a:solidFill>
              </a:rPr>
              <a:t>Phase Correct PWM</a:t>
            </a:r>
          </a:p>
        </p:txBody>
      </p:sp>
      <p:pic>
        <p:nvPicPr>
          <p:cNvPr id="3" name="Picture 2"/>
          <p:cNvPicPr>
            <a:picLocks noChangeAspect="1"/>
          </p:cNvPicPr>
          <p:nvPr/>
        </p:nvPicPr>
        <p:blipFill>
          <a:blip r:embed="rId3"/>
          <a:stretch>
            <a:fillRect/>
          </a:stretch>
        </p:blipFill>
        <p:spPr>
          <a:xfrm>
            <a:off x="732539" y="1676400"/>
            <a:ext cx="3447984" cy="2252246"/>
          </a:xfrm>
          <a:prstGeom prst="rect">
            <a:avLst/>
          </a:prstGeom>
        </p:spPr>
      </p:pic>
      <p:pic>
        <p:nvPicPr>
          <p:cNvPr id="9" name="Picture 8"/>
          <p:cNvPicPr>
            <a:picLocks noChangeAspect="1"/>
          </p:cNvPicPr>
          <p:nvPr/>
        </p:nvPicPr>
        <p:blipFill>
          <a:blip r:embed="rId4"/>
          <a:stretch>
            <a:fillRect/>
          </a:stretch>
        </p:blipFill>
        <p:spPr>
          <a:xfrm>
            <a:off x="5105400" y="1676400"/>
            <a:ext cx="3467100" cy="2327910"/>
          </a:xfrm>
          <a:prstGeom prst="rect">
            <a:avLst/>
          </a:prstGeom>
        </p:spPr>
      </p:pic>
      <p:sp>
        <p:nvSpPr>
          <p:cNvPr id="10" name="Rectangle 9"/>
          <p:cNvSpPr/>
          <p:nvPr/>
        </p:nvSpPr>
        <p:spPr>
          <a:xfrm>
            <a:off x="664464" y="4274611"/>
            <a:ext cx="7908036" cy="1600438"/>
          </a:xfrm>
          <a:prstGeom prst="rect">
            <a:avLst/>
          </a:prstGeom>
        </p:spPr>
        <p:txBody>
          <a:bodyPr wrap="square">
            <a:spAutoFit/>
          </a:bodyPr>
          <a:lstStyle/>
          <a:p>
            <a:pPr marL="171450" indent="-171450">
              <a:buFont typeface="Arial" panose="020B0604020202020204" pitchFamily="34" charset="0"/>
              <a:buChar char="•"/>
            </a:pPr>
            <a:r>
              <a:rPr lang="en-US" sz="1400" dirty="0">
                <a:solidFill>
                  <a:srgbClr val="444444"/>
                </a:solidFill>
                <a:latin typeface="Helvetica Neue"/>
              </a:rPr>
              <a:t>Here instead of a </a:t>
            </a:r>
            <a:r>
              <a:rPr lang="en-US" sz="1400" dirty="0" err="1">
                <a:solidFill>
                  <a:srgbClr val="444444"/>
                </a:solidFill>
                <a:latin typeface="Helvetica Neue"/>
              </a:rPr>
              <a:t>sawtooth</a:t>
            </a:r>
            <a:r>
              <a:rPr lang="en-US" sz="1400" dirty="0">
                <a:solidFill>
                  <a:srgbClr val="444444"/>
                </a:solidFill>
                <a:latin typeface="Helvetica Neue"/>
              </a:rPr>
              <a:t> waveform, we have used a triangular waveform. Even here, you can see how PWM is generated. We can see that upon increasing the compare voltage level, the duty cycle reduces. </a:t>
            </a:r>
            <a:r>
              <a:rPr lang="en-US" sz="1400" dirty="0"/>
              <a:t>But unlike Fast PWM, in Phase correct PWM, </a:t>
            </a:r>
            <a:r>
              <a:rPr lang="en-US" sz="1400" dirty="0">
                <a:solidFill>
                  <a:srgbClr val="444444"/>
                </a:solidFill>
                <a:latin typeface="Helvetica Neue"/>
              </a:rPr>
              <a:t>both the pulses (A and B) end and start in different time.</a:t>
            </a:r>
          </a:p>
          <a:p>
            <a:pPr marL="171450" indent="-171450">
              <a:buFont typeface="Arial" panose="020B0604020202020204" pitchFamily="34" charset="0"/>
              <a:buChar char="•"/>
            </a:pPr>
            <a:endParaRPr lang="en-US" sz="1400" dirty="0">
              <a:solidFill>
                <a:srgbClr val="444444"/>
              </a:solidFill>
              <a:latin typeface="Helvetica Neue"/>
            </a:endParaRPr>
          </a:p>
          <a:p>
            <a:pPr marL="171450" indent="-171450">
              <a:buFont typeface="Arial" panose="020B0604020202020204" pitchFamily="34" charset="0"/>
              <a:buChar char="•"/>
            </a:pPr>
            <a:r>
              <a:rPr lang="en-US" sz="1400" dirty="0"/>
              <a:t>By visual inspection, we can clearly see that the frequency of Fast PWM is twice that of Phase Correct PWM.</a:t>
            </a:r>
            <a:endParaRPr lang="ar-EG" sz="1400" dirty="0"/>
          </a:p>
        </p:txBody>
      </p:sp>
    </p:spTree>
    <p:extLst>
      <p:ext uri="{BB962C8B-B14F-4D97-AF65-F5344CB8AC3E}">
        <p14:creationId xmlns:p14="http://schemas.microsoft.com/office/powerpoint/2010/main" val="219335642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Timer Input Capture Mode (ICU)</a:t>
            </a:r>
          </a:p>
        </p:txBody>
      </p:sp>
      <p:sp>
        <p:nvSpPr>
          <p:cNvPr id="4" name="Rectangle 3"/>
          <p:cNvSpPr/>
          <p:nvPr/>
        </p:nvSpPr>
        <p:spPr>
          <a:xfrm>
            <a:off x="685800" y="2211696"/>
            <a:ext cx="5891356" cy="1077218"/>
          </a:xfrm>
          <a:prstGeom prst="rect">
            <a:avLst/>
          </a:prstGeom>
        </p:spPr>
        <p:txBody>
          <a:bodyPr wrap="none">
            <a:spAutoFit/>
          </a:bodyPr>
          <a:lstStyle/>
          <a:p>
            <a:pPr marL="285750" indent="-285750">
              <a:buFont typeface="Arial" panose="020B0604020202020204" pitchFamily="34" charset="0"/>
              <a:buChar char="•"/>
            </a:pPr>
            <a:r>
              <a:rPr lang="en-US" sz="1600" dirty="0"/>
              <a:t>Input capture function is used in many applications such as:</a:t>
            </a:r>
          </a:p>
          <a:p>
            <a:pPr marL="742950" lvl="1" indent="-285750">
              <a:buFont typeface="Wingdings" panose="05000000000000000000" pitchFamily="2" charset="2"/>
              <a:buChar char="Ø"/>
            </a:pPr>
            <a:r>
              <a:rPr lang="en-US" sz="1600" dirty="0"/>
              <a:t>Pulse width measurement</a:t>
            </a:r>
          </a:p>
          <a:p>
            <a:pPr marL="742950" lvl="1" indent="-285750">
              <a:buFont typeface="Wingdings" panose="05000000000000000000" pitchFamily="2" charset="2"/>
              <a:buChar char="Ø"/>
            </a:pPr>
            <a:r>
              <a:rPr lang="en-US" sz="1600" dirty="0"/>
              <a:t>Period measurement</a:t>
            </a:r>
          </a:p>
          <a:p>
            <a:pPr marL="742950" lvl="1" indent="-285750">
              <a:buFont typeface="Wingdings" panose="05000000000000000000" pitchFamily="2" charset="2"/>
              <a:buChar char="Ø"/>
            </a:pPr>
            <a:r>
              <a:rPr lang="en-US" sz="1600" dirty="0"/>
              <a:t>Capturing the time of an event</a:t>
            </a:r>
          </a:p>
        </p:txBody>
      </p:sp>
      <p:sp>
        <p:nvSpPr>
          <p:cNvPr id="3" name="TextBox 2"/>
          <p:cNvSpPr txBox="1"/>
          <p:nvPr/>
        </p:nvSpPr>
        <p:spPr>
          <a:xfrm>
            <a:off x="675564" y="3324171"/>
            <a:ext cx="8011236" cy="1323439"/>
          </a:xfrm>
          <a:prstGeom prst="rect">
            <a:avLst/>
          </a:prstGeom>
          <a:noFill/>
        </p:spPr>
        <p:txBody>
          <a:bodyPr wrap="square" rtlCol="1">
            <a:spAutoFit/>
          </a:bodyPr>
          <a:lstStyle/>
          <a:p>
            <a:pPr marL="0" lvl="1"/>
            <a:r>
              <a:rPr lang="en-US" sz="1600" dirty="0"/>
              <a:t>In AVR ATmega32, Timer1 can be used as an input capture to detect and measure events happening outside the microcontroller. Upon detection of a defined event i.e. rising edge or falling edge on ICP1 pin (PORTB.0), TCNT1(Timer / Counter register) value is loaded into the ICR1 (input capture) register and the ICF1 (in TIFR1) flag will get set.</a:t>
            </a:r>
          </a:p>
        </p:txBody>
      </p:sp>
      <p:sp>
        <p:nvSpPr>
          <p:cNvPr id="7" name="TextBox 6"/>
          <p:cNvSpPr txBox="1"/>
          <p:nvPr/>
        </p:nvSpPr>
        <p:spPr>
          <a:xfrm>
            <a:off x="609600" y="1371600"/>
            <a:ext cx="8077200" cy="830997"/>
          </a:xfrm>
          <a:prstGeom prst="rect">
            <a:avLst/>
          </a:prstGeom>
          <a:noFill/>
        </p:spPr>
        <p:txBody>
          <a:bodyPr wrap="square" rtlCol="1">
            <a:spAutoFit/>
          </a:bodyPr>
          <a:lstStyle/>
          <a:p>
            <a:r>
              <a:rPr lang="en-US" sz="1600" dirty="0"/>
              <a:t>An Input Capture unit is a peripheral that is able to listen from an input pin in MCU, if any transition change (HIGH to LOW or </a:t>
            </a:r>
            <a:r>
              <a:rPr lang="en-US" sz="1600" dirty="0" err="1"/>
              <a:t>viceversa</a:t>
            </a:r>
            <a:r>
              <a:rPr lang="en-US" sz="1600" dirty="0"/>
              <a:t> ) happens on this pin, a flag will be </a:t>
            </a:r>
            <a:r>
              <a:rPr lang="en-US" sz="1600" dirty="0" err="1"/>
              <a:t>rised</a:t>
            </a:r>
            <a:r>
              <a:rPr lang="en-US" sz="1600" dirty="0"/>
              <a:t> and time will be captured and saved into a register.</a:t>
            </a:r>
            <a:endParaRPr lang="ar-EG" dirty="0"/>
          </a:p>
        </p:txBody>
      </p:sp>
      <p:pic>
        <p:nvPicPr>
          <p:cNvPr id="10" name="Picture 9"/>
          <p:cNvPicPr>
            <a:picLocks noChangeAspect="1"/>
          </p:cNvPicPr>
          <p:nvPr/>
        </p:nvPicPr>
        <p:blipFill>
          <a:blip r:embed="rId3"/>
          <a:stretch>
            <a:fillRect/>
          </a:stretch>
        </p:blipFill>
        <p:spPr>
          <a:xfrm>
            <a:off x="990600" y="4401389"/>
            <a:ext cx="6630111" cy="1959091"/>
          </a:xfrm>
          <a:prstGeom prst="rect">
            <a:avLst/>
          </a:prstGeom>
        </p:spPr>
      </p:pic>
    </p:spTree>
    <p:extLst>
      <p:ext uri="{BB962C8B-B14F-4D97-AF65-F5344CB8AC3E}">
        <p14:creationId xmlns:p14="http://schemas.microsoft.com/office/powerpoint/2010/main" val="184806320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Timer Input Capture Mode (ICU)</a:t>
            </a:r>
          </a:p>
        </p:txBody>
      </p:sp>
      <p:sp>
        <p:nvSpPr>
          <p:cNvPr id="4" name="Rectangle 3"/>
          <p:cNvSpPr/>
          <p:nvPr/>
        </p:nvSpPr>
        <p:spPr>
          <a:xfrm>
            <a:off x="609600" y="1295400"/>
            <a:ext cx="4926733" cy="1200329"/>
          </a:xfrm>
          <a:prstGeom prst="rect">
            <a:avLst/>
          </a:prstGeom>
        </p:spPr>
        <p:txBody>
          <a:bodyPr wrap="none">
            <a:spAutoFit/>
          </a:bodyPr>
          <a:lstStyle/>
          <a:p>
            <a:pPr marL="285750" indent="-285750">
              <a:buFont typeface="Arial" panose="020B0604020202020204" pitchFamily="34" charset="0"/>
              <a:buChar char="•"/>
            </a:pPr>
            <a:r>
              <a:rPr lang="en-US" sz="2000" dirty="0"/>
              <a:t>Programming:</a:t>
            </a:r>
          </a:p>
          <a:p>
            <a:pPr marL="285750" indent="-285750">
              <a:buFont typeface="Arial" panose="020B0604020202020204" pitchFamily="34" charset="0"/>
              <a:buChar char="•"/>
            </a:pPr>
            <a:endParaRPr lang="en-US" sz="2000" dirty="0"/>
          </a:p>
          <a:p>
            <a:pPr marL="742950" lvl="1" indent="-285750">
              <a:buFont typeface="Wingdings" panose="05000000000000000000" pitchFamily="2" charset="2"/>
              <a:buChar char="Ø"/>
            </a:pPr>
            <a:r>
              <a:rPr lang="en-US" sz="1600" b="1" dirty="0"/>
              <a:t>TCCR1B: </a:t>
            </a:r>
            <a:r>
              <a:rPr lang="en-US" sz="1600" dirty="0"/>
              <a:t>Timer Counter Control Register B</a:t>
            </a:r>
          </a:p>
          <a:p>
            <a:pPr marL="742950" lvl="1" indent="-285750">
              <a:buFont typeface="Wingdings" panose="05000000000000000000" pitchFamily="2" charset="2"/>
              <a:buChar char="Ø"/>
            </a:pPr>
            <a:endParaRPr lang="en-US" sz="1600" dirty="0"/>
          </a:p>
        </p:txBody>
      </p:sp>
      <p:pic>
        <p:nvPicPr>
          <p:cNvPr id="5" name="Picture 4"/>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1371600" y="2209800"/>
            <a:ext cx="7315200" cy="767008"/>
          </a:xfrm>
          <a:prstGeom prst="rect">
            <a:avLst/>
          </a:prstGeom>
        </p:spPr>
      </p:pic>
      <p:sp>
        <p:nvSpPr>
          <p:cNvPr id="6" name="Rectangle 5"/>
          <p:cNvSpPr/>
          <p:nvPr/>
        </p:nvSpPr>
        <p:spPr>
          <a:xfrm>
            <a:off x="1378424" y="2976808"/>
            <a:ext cx="7308376" cy="2800767"/>
          </a:xfrm>
          <a:prstGeom prst="rect">
            <a:avLst/>
          </a:prstGeom>
        </p:spPr>
        <p:txBody>
          <a:bodyPr wrap="square">
            <a:spAutoFit/>
          </a:bodyPr>
          <a:lstStyle/>
          <a:p>
            <a:r>
              <a:rPr lang="en-US" sz="1600" b="1" dirty="0">
                <a:solidFill>
                  <a:srgbClr val="000000"/>
                </a:solidFill>
                <a:latin typeface="Roboto"/>
              </a:rPr>
              <a:t>Bit 7 - ICNC1: </a:t>
            </a:r>
            <a:r>
              <a:rPr lang="en-US" sz="1600" dirty="0">
                <a:solidFill>
                  <a:srgbClr val="000000"/>
                </a:solidFill>
                <a:latin typeface="Roboto"/>
              </a:rPr>
              <a:t>Input Capture Noise canceller</a:t>
            </a:r>
          </a:p>
          <a:p>
            <a:pPr lvl="1"/>
            <a:r>
              <a:rPr lang="en-US" sz="1600" dirty="0">
                <a:solidFill>
                  <a:srgbClr val="000000"/>
                </a:solidFill>
                <a:latin typeface="Roboto"/>
              </a:rPr>
              <a:t>Setting this bit activates noise canceller. It causes a delay of 4 clock</a:t>
            </a:r>
          </a:p>
          <a:p>
            <a:pPr lvl="1"/>
            <a:r>
              <a:rPr lang="en-US" sz="1600" dirty="0">
                <a:solidFill>
                  <a:srgbClr val="000000"/>
                </a:solidFill>
                <a:latin typeface="Roboto"/>
              </a:rPr>
              <a:t>cycles as it considers a change only if it persists for at least 4 successive system clocks.</a:t>
            </a:r>
          </a:p>
          <a:p>
            <a:r>
              <a:rPr lang="en-US" sz="1600" b="1" dirty="0">
                <a:solidFill>
                  <a:srgbClr val="000000"/>
                </a:solidFill>
                <a:latin typeface="Roboto"/>
              </a:rPr>
              <a:t>Bit 6 - ICES1: </a:t>
            </a:r>
            <a:r>
              <a:rPr lang="en-US" sz="1600" dirty="0">
                <a:solidFill>
                  <a:srgbClr val="000000"/>
                </a:solidFill>
                <a:latin typeface="Roboto"/>
              </a:rPr>
              <a:t>Input Capture Edge select</a:t>
            </a:r>
          </a:p>
          <a:p>
            <a:pPr lvl="1"/>
            <a:r>
              <a:rPr lang="en-US" sz="1600" dirty="0">
                <a:solidFill>
                  <a:srgbClr val="000000"/>
                </a:solidFill>
                <a:latin typeface="Roboto"/>
              </a:rPr>
              <a:t>Select edge detection for input capture function.</a:t>
            </a:r>
          </a:p>
          <a:p>
            <a:pPr lvl="1"/>
            <a:r>
              <a:rPr lang="en-US" sz="1600" b="1" dirty="0">
                <a:solidFill>
                  <a:srgbClr val="000000"/>
                </a:solidFill>
                <a:latin typeface="Roboto"/>
              </a:rPr>
              <a:t>        0 = </a:t>
            </a:r>
            <a:r>
              <a:rPr lang="en-US" sz="1600" dirty="0">
                <a:solidFill>
                  <a:srgbClr val="000000"/>
                </a:solidFill>
                <a:latin typeface="Roboto"/>
              </a:rPr>
              <a:t>Capture on falling edge</a:t>
            </a:r>
          </a:p>
          <a:p>
            <a:pPr lvl="1"/>
            <a:r>
              <a:rPr lang="en-US" sz="1600" b="1" dirty="0">
                <a:solidFill>
                  <a:srgbClr val="000000"/>
                </a:solidFill>
                <a:latin typeface="Roboto"/>
              </a:rPr>
              <a:t>        1 = </a:t>
            </a:r>
            <a:r>
              <a:rPr lang="en-US" sz="1600" dirty="0">
                <a:solidFill>
                  <a:srgbClr val="000000"/>
                </a:solidFill>
                <a:latin typeface="Roboto"/>
              </a:rPr>
              <a:t>Capture on rising edge</a:t>
            </a:r>
          </a:p>
          <a:p>
            <a:r>
              <a:rPr lang="en-US" sz="1600" b="1" dirty="0">
                <a:solidFill>
                  <a:srgbClr val="000000"/>
                </a:solidFill>
                <a:latin typeface="Roboto"/>
              </a:rPr>
              <a:t>Bit 4: 3 - WGM13 : WGM12: </a:t>
            </a:r>
            <a:r>
              <a:rPr lang="en-US" sz="1600" dirty="0">
                <a:solidFill>
                  <a:srgbClr val="000000"/>
                </a:solidFill>
                <a:latin typeface="Roboto"/>
              </a:rPr>
              <a:t>Timer1 Mode select</a:t>
            </a:r>
          </a:p>
          <a:p>
            <a:pPr lvl="1"/>
            <a:r>
              <a:rPr lang="en-US" sz="1600" dirty="0">
                <a:solidFill>
                  <a:srgbClr val="000000"/>
                </a:solidFill>
                <a:latin typeface="Roboto"/>
              </a:rPr>
              <a:t>These bits are used for mode selection like Normal mode, PWM mode, CTC mode etc. here we will select normal mode, so set these bits to zero.</a:t>
            </a:r>
          </a:p>
        </p:txBody>
      </p:sp>
    </p:spTree>
    <p:extLst>
      <p:ext uri="{BB962C8B-B14F-4D97-AF65-F5344CB8AC3E}">
        <p14:creationId xmlns:p14="http://schemas.microsoft.com/office/powerpoint/2010/main" val="727003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Timer Input Capture Mode (ICU)</a:t>
            </a:r>
          </a:p>
        </p:txBody>
      </p:sp>
      <p:sp>
        <p:nvSpPr>
          <p:cNvPr id="4" name="Rectangle 3"/>
          <p:cNvSpPr/>
          <p:nvPr/>
        </p:nvSpPr>
        <p:spPr>
          <a:xfrm>
            <a:off x="609600" y="1295400"/>
            <a:ext cx="4926733" cy="1200329"/>
          </a:xfrm>
          <a:prstGeom prst="rect">
            <a:avLst/>
          </a:prstGeom>
        </p:spPr>
        <p:txBody>
          <a:bodyPr wrap="none">
            <a:spAutoFit/>
          </a:bodyPr>
          <a:lstStyle/>
          <a:p>
            <a:pPr marL="285750" indent="-285750">
              <a:buFont typeface="Arial" panose="020B0604020202020204" pitchFamily="34" charset="0"/>
              <a:buChar char="•"/>
            </a:pPr>
            <a:r>
              <a:rPr lang="en-US" sz="2000" dirty="0"/>
              <a:t>Programming:</a:t>
            </a:r>
          </a:p>
          <a:p>
            <a:pPr marL="285750" indent="-285750">
              <a:buFont typeface="Arial" panose="020B0604020202020204" pitchFamily="34" charset="0"/>
              <a:buChar char="•"/>
            </a:pPr>
            <a:endParaRPr lang="en-US" sz="2000" dirty="0"/>
          </a:p>
          <a:p>
            <a:pPr marL="742950" lvl="1" indent="-285750">
              <a:buFont typeface="Wingdings" panose="05000000000000000000" pitchFamily="2" charset="2"/>
              <a:buChar char="Ø"/>
            </a:pPr>
            <a:r>
              <a:rPr lang="en-US" sz="1600" b="1" dirty="0"/>
              <a:t>TCCR1B: </a:t>
            </a:r>
            <a:r>
              <a:rPr lang="en-US" sz="1600" dirty="0"/>
              <a:t>Timer Counter Control Register B</a:t>
            </a:r>
          </a:p>
          <a:p>
            <a:pPr marL="742950" lvl="1" indent="-285750">
              <a:buFont typeface="Wingdings" panose="05000000000000000000" pitchFamily="2" charset="2"/>
              <a:buChar char="Ø"/>
            </a:pPr>
            <a:endParaRPr lang="en-US" sz="1600" dirty="0"/>
          </a:p>
        </p:txBody>
      </p:sp>
      <p:pic>
        <p:nvPicPr>
          <p:cNvPr id="5" name="Picture 4"/>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1371600" y="2209800"/>
            <a:ext cx="7315200" cy="767008"/>
          </a:xfrm>
          <a:prstGeom prst="rect">
            <a:avLst/>
          </a:prstGeom>
        </p:spPr>
      </p:pic>
      <p:sp>
        <p:nvSpPr>
          <p:cNvPr id="6" name="Rectangle 5"/>
          <p:cNvSpPr/>
          <p:nvPr/>
        </p:nvSpPr>
        <p:spPr>
          <a:xfrm>
            <a:off x="1378424" y="2976808"/>
            <a:ext cx="7308376" cy="338554"/>
          </a:xfrm>
          <a:prstGeom prst="rect">
            <a:avLst/>
          </a:prstGeom>
        </p:spPr>
        <p:txBody>
          <a:bodyPr wrap="square">
            <a:spAutoFit/>
          </a:bodyPr>
          <a:lstStyle/>
          <a:p>
            <a:r>
              <a:rPr lang="en-US" sz="1600" b="1" dirty="0"/>
              <a:t>Bit 2: 0 - CS12: CS10:</a:t>
            </a:r>
            <a:r>
              <a:rPr lang="en-US" sz="1600" dirty="0"/>
              <a:t>Timer1 Clock Select</a:t>
            </a:r>
          </a:p>
        </p:txBody>
      </p:sp>
      <p:pic>
        <p:nvPicPr>
          <p:cNvPr id="3" name="Picture 2"/>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tretch>
            <a:fillRect/>
          </a:stretch>
        </p:blipFill>
        <p:spPr>
          <a:xfrm>
            <a:off x="1676400" y="3299440"/>
            <a:ext cx="6029325" cy="3114675"/>
          </a:xfrm>
          <a:prstGeom prst="rect">
            <a:avLst/>
          </a:prstGeom>
        </p:spPr>
      </p:pic>
    </p:spTree>
    <p:extLst>
      <p:ext uri="{BB962C8B-B14F-4D97-AF65-F5344CB8AC3E}">
        <p14:creationId xmlns:p14="http://schemas.microsoft.com/office/powerpoint/2010/main" val="35894858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Timer Input Capture Mode (ICU)</a:t>
            </a:r>
          </a:p>
        </p:txBody>
      </p:sp>
      <p:sp>
        <p:nvSpPr>
          <p:cNvPr id="4" name="Rectangle 3"/>
          <p:cNvSpPr/>
          <p:nvPr/>
        </p:nvSpPr>
        <p:spPr>
          <a:xfrm>
            <a:off x="609600" y="1295400"/>
            <a:ext cx="8382000" cy="3539430"/>
          </a:xfrm>
          <a:prstGeom prst="rect">
            <a:avLst/>
          </a:prstGeom>
        </p:spPr>
        <p:txBody>
          <a:bodyPr wrap="square">
            <a:spAutoFit/>
          </a:bodyPr>
          <a:lstStyle/>
          <a:p>
            <a:pPr marL="285750" indent="-285750">
              <a:buFont typeface="Arial" panose="020B0604020202020204" pitchFamily="34" charset="0"/>
              <a:buChar char="•"/>
            </a:pPr>
            <a:r>
              <a:rPr lang="en-US" sz="2000" dirty="0"/>
              <a:t>Programming:</a:t>
            </a:r>
          </a:p>
          <a:p>
            <a:endParaRPr lang="en-US" dirty="0"/>
          </a:p>
          <a:p>
            <a:pPr marL="742950" lvl="1" indent="-285750">
              <a:buFont typeface="Wingdings" panose="05000000000000000000" pitchFamily="2" charset="2"/>
              <a:buChar char="Ø"/>
            </a:pPr>
            <a:r>
              <a:rPr lang="en-US" sz="1600" dirty="0"/>
              <a:t>Steps to Program</a:t>
            </a:r>
          </a:p>
          <a:p>
            <a:pPr marL="742950" lvl="1" indent="-285750">
              <a:buFont typeface="Wingdings" panose="05000000000000000000" pitchFamily="2" charset="2"/>
              <a:buChar char="Ø"/>
            </a:pPr>
            <a:endParaRPr lang="en-US" sz="1600" dirty="0"/>
          </a:p>
          <a:p>
            <a:pPr marL="1200150" lvl="2" indent="-285750">
              <a:buFont typeface="Wingdings" panose="05000000000000000000" pitchFamily="2" charset="2"/>
              <a:buChar char="ü"/>
            </a:pPr>
            <a:r>
              <a:rPr lang="en-US" sz="1600" dirty="0"/>
              <a:t>Initialize the TCCR1A and TCCR1B for proper timer mode (any mode other than 8, 10, 12, 14), to select the edge (Positive or Negative).</a:t>
            </a:r>
          </a:p>
          <a:p>
            <a:pPr marL="1200150" lvl="2" indent="-285750">
              <a:buFont typeface="Wingdings" panose="05000000000000000000" pitchFamily="2" charset="2"/>
              <a:buChar char="ü"/>
            </a:pPr>
            <a:endParaRPr lang="en-US" sz="1600" dirty="0"/>
          </a:p>
          <a:p>
            <a:pPr marL="1200150" lvl="2" indent="-285750">
              <a:buFont typeface="Wingdings" panose="05000000000000000000" pitchFamily="2" charset="2"/>
              <a:buChar char="ü"/>
            </a:pPr>
            <a:r>
              <a:rPr lang="en-US" sz="1600" dirty="0"/>
              <a:t>Monitor the ICF1 flag in TIFR register to see if edge is arrived. Upon the arrival of the edge, the TCNT1 value is loaded in to ICR1 register automatically by controller.</a:t>
            </a:r>
          </a:p>
          <a:p>
            <a:pPr lvl="2"/>
            <a:endParaRPr lang="en-US" sz="1600" b="1" dirty="0"/>
          </a:p>
          <a:p>
            <a:pPr lvl="2"/>
            <a:r>
              <a:rPr lang="en-US" sz="1600" b="1" dirty="0"/>
              <a:t>Note:</a:t>
            </a:r>
            <a:r>
              <a:rPr lang="en-US" sz="1600" dirty="0"/>
              <a:t> Input capture pin, which is PORTB.0 (ICP pin), has one more function i.e. output of analog comparator. We can use this function by setting this pin to logic HIGH.</a:t>
            </a:r>
          </a:p>
        </p:txBody>
      </p:sp>
    </p:spTree>
    <p:extLst>
      <p:ext uri="{BB962C8B-B14F-4D97-AF65-F5344CB8AC3E}">
        <p14:creationId xmlns:p14="http://schemas.microsoft.com/office/powerpoint/2010/main" val="87983647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790700" y="1884289"/>
            <a:ext cx="6019800" cy="4602859"/>
          </a:xfrm>
          <a:prstGeom prst="rect">
            <a:avLst/>
          </a:prstGeom>
        </p:spPr>
      </p:pic>
      <p:sp>
        <p:nvSpPr>
          <p:cNvPr id="2" name="Title 1"/>
          <p:cNvSpPr>
            <a:spLocks noGrp="1"/>
          </p:cNvSpPr>
          <p:nvPr>
            <p:ph type="title"/>
          </p:nvPr>
        </p:nvSpPr>
        <p:spPr/>
        <p:txBody>
          <a:bodyPr/>
          <a:lstStyle/>
          <a:p>
            <a:r>
              <a:rPr lang="en-US" dirty="0"/>
              <a:t>AVR Timer Input Capture Mode (ICU)</a:t>
            </a:r>
          </a:p>
        </p:txBody>
      </p:sp>
      <p:sp>
        <p:nvSpPr>
          <p:cNvPr id="4" name="Rectangle 3"/>
          <p:cNvSpPr/>
          <p:nvPr/>
        </p:nvSpPr>
        <p:spPr>
          <a:xfrm>
            <a:off x="76200" y="1003110"/>
            <a:ext cx="9149687" cy="892552"/>
          </a:xfrm>
          <a:prstGeom prst="rect">
            <a:avLst/>
          </a:prstGeom>
        </p:spPr>
        <p:txBody>
          <a:bodyPr wrap="square">
            <a:spAutoFit/>
          </a:bodyPr>
          <a:lstStyle/>
          <a:p>
            <a:pPr marL="285750" indent="-285750">
              <a:buFont typeface="Arial" panose="020B0604020202020204" pitchFamily="34" charset="0"/>
              <a:buChar char="•"/>
            </a:pPr>
            <a:r>
              <a:rPr lang="en-US" sz="2000" dirty="0"/>
              <a:t>Example1:</a:t>
            </a:r>
            <a:endParaRPr lang="en-US" dirty="0"/>
          </a:p>
          <a:p>
            <a:pPr marL="742950" lvl="1" indent="-285750">
              <a:buFont typeface="Wingdings" panose="05000000000000000000" pitchFamily="2" charset="2"/>
              <a:buChar char="Ø"/>
            </a:pPr>
            <a:r>
              <a:rPr lang="en-US" sz="1600" dirty="0"/>
              <a:t>Assuming that the clock pulses are fed into the pin ICP1, following program will read TCNT1 value at every rising edge and place the result on PORTA and PORTB.</a:t>
            </a:r>
          </a:p>
        </p:txBody>
      </p:sp>
    </p:spTree>
    <p:extLst>
      <p:ext uri="{BB962C8B-B14F-4D97-AF65-F5344CB8AC3E}">
        <p14:creationId xmlns:p14="http://schemas.microsoft.com/office/powerpoint/2010/main" val="152681988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Timer Input Capture Mode (ICU)</a:t>
            </a:r>
          </a:p>
        </p:txBody>
      </p:sp>
      <p:sp>
        <p:nvSpPr>
          <p:cNvPr id="4" name="Rectangle 3"/>
          <p:cNvSpPr/>
          <p:nvPr/>
        </p:nvSpPr>
        <p:spPr>
          <a:xfrm>
            <a:off x="304800" y="990600"/>
            <a:ext cx="9149687" cy="892552"/>
          </a:xfrm>
          <a:prstGeom prst="rect">
            <a:avLst/>
          </a:prstGeom>
        </p:spPr>
        <p:txBody>
          <a:bodyPr wrap="square">
            <a:spAutoFit/>
          </a:bodyPr>
          <a:lstStyle/>
          <a:p>
            <a:pPr marL="285750" indent="-285750">
              <a:buFont typeface="Arial" panose="020B0604020202020204" pitchFamily="34" charset="0"/>
              <a:buChar char="•"/>
            </a:pPr>
            <a:r>
              <a:rPr lang="en-US" sz="2000" dirty="0"/>
              <a:t>Example2:</a:t>
            </a:r>
          </a:p>
          <a:p>
            <a:pPr marL="742950" lvl="1" indent="-285750">
              <a:buFont typeface="Wingdings" panose="05000000000000000000" pitchFamily="2" charset="2"/>
              <a:buChar char="Ø"/>
            </a:pPr>
            <a:r>
              <a:rPr lang="en-US" sz="1600" dirty="0"/>
              <a:t>We want to measure the frequency and duty cycle and displaying it on PORTA and PORTB.</a:t>
            </a:r>
          </a:p>
        </p:txBody>
      </p:sp>
      <p:pic>
        <p:nvPicPr>
          <p:cNvPr id="5" name="Picture 4"/>
          <p:cNvPicPr>
            <a:picLocks noChangeAspect="1"/>
          </p:cNvPicPr>
          <p:nvPr/>
        </p:nvPicPr>
        <p:blipFill>
          <a:blip r:embed="rId3"/>
          <a:stretch>
            <a:fillRect/>
          </a:stretch>
        </p:blipFill>
        <p:spPr>
          <a:xfrm>
            <a:off x="2286000" y="1752600"/>
            <a:ext cx="6396917" cy="4639349"/>
          </a:xfrm>
          <a:prstGeom prst="rect">
            <a:avLst/>
          </a:prstGeom>
        </p:spPr>
      </p:pic>
    </p:spTree>
    <p:extLst>
      <p:ext uri="{BB962C8B-B14F-4D97-AF65-F5344CB8AC3E}">
        <p14:creationId xmlns:p14="http://schemas.microsoft.com/office/powerpoint/2010/main" val="265584047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Timer Input Capture Mode (ICU)</a:t>
            </a:r>
          </a:p>
        </p:txBody>
      </p:sp>
      <p:sp>
        <p:nvSpPr>
          <p:cNvPr id="4" name="Rectangle 3"/>
          <p:cNvSpPr/>
          <p:nvPr/>
        </p:nvSpPr>
        <p:spPr>
          <a:xfrm>
            <a:off x="304800" y="998561"/>
            <a:ext cx="9149687" cy="892552"/>
          </a:xfrm>
          <a:prstGeom prst="rect">
            <a:avLst/>
          </a:prstGeom>
        </p:spPr>
        <p:txBody>
          <a:bodyPr wrap="square">
            <a:spAutoFit/>
          </a:bodyPr>
          <a:lstStyle/>
          <a:p>
            <a:pPr marL="285750" indent="-285750">
              <a:buFont typeface="Arial" panose="020B0604020202020204" pitchFamily="34" charset="0"/>
              <a:buChar char="•"/>
            </a:pPr>
            <a:r>
              <a:rPr lang="en-US" sz="2000" dirty="0"/>
              <a:t>Example2:</a:t>
            </a:r>
          </a:p>
          <a:p>
            <a:pPr marL="742950" lvl="1" indent="-285750">
              <a:buFont typeface="Wingdings" panose="05000000000000000000" pitchFamily="2" charset="2"/>
              <a:buChar char="Ø"/>
            </a:pPr>
            <a:r>
              <a:rPr lang="en-US" sz="1600" dirty="0"/>
              <a:t>We want to measure the frequency and duty cycle and displaying it on PORTA and PORTB.</a:t>
            </a:r>
          </a:p>
        </p:txBody>
      </p:sp>
      <p:pic>
        <p:nvPicPr>
          <p:cNvPr id="3" name="Picture 2"/>
          <p:cNvPicPr>
            <a:picLocks noChangeAspect="1"/>
          </p:cNvPicPr>
          <p:nvPr/>
        </p:nvPicPr>
        <p:blipFill>
          <a:blip r:embed="rId3"/>
          <a:stretch>
            <a:fillRect/>
          </a:stretch>
        </p:blipFill>
        <p:spPr>
          <a:xfrm>
            <a:off x="2133600" y="1646029"/>
            <a:ext cx="6784181" cy="4800600"/>
          </a:xfrm>
          <a:prstGeom prst="rect">
            <a:avLst/>
          </a:prstGeom>
        </p:spPr>
      </p:pic>
    </p:spTree>
    <p:extLst>
      <p:ext uri="{BB962C8B-B14F-4D97-AF65-F5344CB8AC3E}">
        <p14:creationId xmlns:p14="http://schemas.microsoft.com/office/powerpoint/2010/main" val="28561278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AVR Timer Input Capture Mode (ICU)</a:t>
            </a:r>
          </a:p>
        </p:txBody>
      </p:sp>
      <p:sp>
        <p:nvSpPr>
          <p:cNvPr id="4" name="Rectangle 3"/>
          <p:cNvSpPr/>
          <p:nvPr/>
        </p:nvSpPr>
        <p:spPr>
          <a:xfrm>
            <a:off x="304801" y="998561"/>
            <a:ext cx="8686800" cy="2862322"/>
          </a:xfrm>
          <a:prstGeom prst="rect">
            <a:avLst/>
          </a:prstGeom>
        </p:spPr>
        <p:txBody>
          <a:bodyPr wrap="square">
            <a:spAutoFit/>
          </a:bodyPr>
          <a:lstStyle/>
          <a:p>
            <a:pPr marL="285750" indent="-285750">
              <a:buFont typeface="Arial" panose="020B0604020202020204" pitchFamily="34" charset="0"/>
              <a:buChar char="•"/>
            </a:pPr>
            <a:r>
              <a:rPr lang="en-US" sz="2000" dirty="0"/>
              <a:t>Example3 (Unsolved):</a:t>
            </a:r>
          </a:p>
          <a:p>
            <a:pPr marL="800100" lvl="1" indent="-342900">
              <a:buFont typeface="Wingdings" panose="05000000000000000000" pitchFamily="2" charset="2"/>
              <a:buChar char="Ø"/>
            </a:pPr>
            <a:r>
              <a:rPr lang="en-US" sz="1600" dirty="0"/>
              <a:t>We want to measure the distance using Ultrasonic Sensor.</a:t>
            </a:r>
          </a:p>
          <a:p>
            <a:pPr marL="800100" lvl="1" indent="-342900">
              <a:buFont typeface="Wingdings" panose="05000000000000000000" pitchFamily="2" charset="2"/>
              <a:buChar char="Ø"/>
            </a:pPr>
            <a:endParaRPr lang="en-US" sz="1600" dirty="0"/>
          </a:p>
          <a:p>
            <a:pPr marL="800100" lvl="1" indent="-342900">
              <a:buFont typeface="Wingdings" panose="05000000000000000000" pitchFamily="2" charset="2"/>
              <a:buChar char="Ø"/>
            </a:pPr>
            <a:r>
              <a:rPr lang="en-US" sz="1600" dirty="0"/>
              <a:t>Ultrasonic Sensor:</a:t>
            </a:r>
          </a:p>
          <a:p>
            <a:pPr marL="1200150" lvl="2" indent="-285750">
              <a:buFontTx/>
              <a:buChar char="-"/>
            </a:pPr>
            <a:r>
              <a:rPr lang="en-US" sz="1600" dirty="0"/>
              <a:t>This sensor uses a technique called “ECHO” which is something you get when sound reflects back after striking with a surface.</a:t>
            </a:r>
          </a:p>
          <a:p>
            <a:pPr marL="1200150" lvl="2" indent="-285750">
              <a:buFontTx/>
              <a:buChar char="-"/>
            </a:pPr>
            <a:r>
              <a:rPr lang="en-US" sz="1600" b="1" dirty="0"/>
              <a:t>Ultrasonic sensor “HC-SR04”</a:t>
            </a:r>
            <a:r>
              <a:rPr lang="en-US" sz="1600" dirty="0"/>
              <a:t> provides an output signal proportional to distance based on the echo. The sensor here generates a sound vibration in ultrasonic range upon giving a trigger, after that it waits for the sound vibration to return. Now based on the parameters, sound speed (340m/s) and time taken for the echo to reach the source, it provides output pulse proportional to distance.</a:t>
            </a:r>
          </a:p>
        </p:txBody>
      </p:sp>
      <p:pic>
        <p:nvPicPr>
          <p:cNvPr id="5" name="Picture 4"/>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2133600" y="3868844"/>
            <a:ext cx="5638800" cy="2503077"/>
          </a:xfrm>
          <a:prstGeom prst="rect">
            <a:avLst/>
          </a:prstGeom>
        </p:spPr>
      </p:pic>
    </p:spTree>
    <p:extLst>
      <p:ext uri="{BB962C8B-B14F-4D97-AF65-F5344CB8AC3E}">
        <p14:creationId xmlns:p14="http://schemas.microsoft.com/office/powerpoint/2010/main" val="330904130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5800726" y="1696875"/>
            <a:ext cx="3190875" cy="2764564"/>
          </a:xfrm>
          <a:prstGeom prst="rect">
            <a:avLst/>
          </a:prstGeom>
        </p:spPr>
      </p:pic>
      <p:sp>
        <p:nvSpPr>
          <p:cNvPr id="2" name="Title 1"/>
          <p:cNvSpPr>
            <a:spLocks noGrp="1"/>
          </p:cNvSpPr>
          <p:nvPr>
            <p:ph type="title"/>
          </p:nvPr>
        </p:nvSpPr>
        <p:spPr/>
        <p:txBody>
          <a:bodyPr/>
          <a:lstStyle/>
          <a:p>
            <a:r>
              <a:rPr lang="en-US" dirty="0"/>
              <a:t>AVR Timer Input Capture Mode (ICU)</a:t>
            </a:r>
          </a:p>
        </p:txBody>
      </p:sp>
      <p:sp>
        <p:nvSpPr>
          <p:cNvPr id="4" name="Rectangle 3"/>
          <p:cNvSpPr/>
          <p:nvPr/>
        </p:nvSpPr>
        <p:spPr>
          <a:xfrm>
            <a:off x="304801" y="998561"/>
            <a:ext cx="6172199" cy="2616101"/>
          </a:xfrm>
          <a:prstGeom prst="rect">
            <a:avLst/>
          </a:prstGeom>
        </p:spPr>
        <p:txBody>
          <a:bodyPr wrap="square">
            <a:spAutoFit/>
          </a:bodyPr>
          <a:lstStyle/>
          <a:p>
            <a:pPr marL="285750" indent="-285750">
              <a:buFont typeface="Arial" panose="020B0604020202020204" pitchFamily="34" charset="0"/>
              <a:buChar char="•"/>
            </a:pPr>
            <a:r>
              <a:rPr lang="en-US" sz="2000" dirty="0"/>
              <a:t>Example3 (Unsolved):</a:t>
            </a:r>
          </a:p>
          <a:p>
            <a:pPr marL="800100" lvl="1" indent="-342900">
              <a:buFont typeface="Wingdings" panose="05000000000000000000" pitchFamily="2" charset="2"/>
              <a:buChar char="Ø"/>
            </a:pPr>
            <a:r>
              <a:rPr lang="en-US" sz="1600" dirty="0"/>
              <a:t>We want to measure the distance using Ultrasonic Sensor.</a:t>
            </a:r>
          </a:p>
          <a:p>
            <a:pPr marL="800100" lvl="1" indent="-342900">
              <a:buFont typeface="Wingdings" panose="05000000000000000000" pitchFamily="2" charset="2"/>
              <a:buChar char="Ø"/>
            </a:pPr>
            <a:r>
              <a:rPr lang="en-US" sz="1600" dirty="0"/>
              <a:t>Ultrasonic Sensor Connection with MCU:</a:t>
            </a:r>
          </a:p>
          <a:p>
            <a:pPr lvl="1"/>
            <a:r>
              <a:rPr lang="en-US" sz="1600" dirty="0"/>
              <a:t>	It consists of 4 pins (VCC, Trig, Echo, GND)</a:t>
            </a:r>
          </a:p>
          <a:p>
            <a:pPr lvl="1"/>
            <a:r>
              <a:rPr lang="en-US" sz="1600" dirty="0"/>
              <a:t>	Trig pin: is connected with an output pin in MCU.</a:t>
            </a:r>
          </a:p>
          <a:p>
            <a:pPr lvl="1"/>
            <a:r>
              <a:rPr lang="en-US" sz="1600" dirty="0"/>
              <a:t>	Echo pin: is connected with ICP pin (PORTB0).</a:t>
            </a:r>
          </a:p>
          <a:p>
            <a:pPr lvl="2"/>
            <a:endParaRPr lang="en-US" sz="1600" dirty="0"/>
          </a:p>
          <a:p>
            <a:pPr lvl="1"/>
            <a:endParaRPr lang="en-US" sz="1600" dirty="0"/>
          </a:p>
          <a:p>
            <a:pPr lvl="1"/>
            <a:r>
              <a:rPr lang="en-US" sz="1600" dirty="0"/>
              <a:t>	 </a:t>
            </a:r>
          </a:p>
        </p:txBody>
      </p:sp>
      <p:pic>
        <p:nvPicPr>
          <p:cNvPr id="3" name="Picture 2"/>
          <p:cNvPicPr>
            <a:picLocks noChangeAspect="1"/>
          </p:cNvPicPr>
          <p:nvPr/>
        </p:nvPicPr>
        <p:blipFill>
          <a:blip r:embed="rId4"/>
          <a:stretch>
            <a:fillRect/>
          </a:stretch>
        </p:blipFill>
        <p:spPr>
          <a:xfrm>
            <a:off x="1905000" y="4267200"/>
            <a:ext cx="5029200" cy="16891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968563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2419350" y="4267200"/>
            <a:ext cx="4762500" cy="2114085"/>
          </a:xfrm>
          <a:prstGeom prst="rect">
            <a:avLst/>
          </a:prstGeom>
        </p:spPr>
      </p:pic>
      <p:sp>
        <p:nvSpPr>
          <p:cNvPr id="2" name="Title 1"/>
          <p:cNvSpPr>
            <a:spLocks noGrp="1"/>
          </p:cNvSpPr>
          <p:nvPr>
            <p:ph type="title"/>
          </p:nvPr>
        </p:nvSpPr>
        <p:spPr/>
        <p:txBody>
          <a:bodyPr/>
          <a:lstStyle/>
          <a:p>
            <a:r>
              <a:rPr lang="en-US" dirty="0"/>
              <a:t>AVR Timer Input Capture Mode (ICU)</a:t>
            </a:r>
          </a:p>
        </p:txBody>
      </p:sp>
      <mc:AlternateContent xmlns:mc="http://schemas.openxmlformats.org/markup-compatibility/2006">
        <mc:Choice xmlns:a14="http://schemas.microsoft.com/office/drawing/2010/main" Requires="a14">
          <p:sp>
            <p:nvSpPr>
              <p:cNvPr id="4" name="Rectangle 3"/>
              <p:cNvSpPr/>
              <p:nvPr/>
            </p:nvSpPr>
            <p:spPr>
              <a:xfrm>
                <a:off x="304801" y="998561"/>
                <a:ext cx="8534399" cy="4000454"/>
              </a:xfrm>
              <a:prstGeom prst="rect">
                <a:avLst/>
              </a:prstGeom>
            </p:spPr>
            <p:txBody>
              <a:bodyPr wrap="square">
                <a:spAutoFit/>
              </a:bodyPr>
              <a:lstStyle/>
              <a:p>
                <a:pPr marL="742950" lvl="1" indent="-285750">
                  <a:buFont typeface="Wingdings" panose="05000000000000000000" pitchFamily="2" charset="2"/>
                  <a:buChar char="Ø"/>
                </a:pPr>
                <a:r>
                  <a:rPr lang="en-US" sz="1600" dirty="0"/>
                  <a:t>The idea:</a:t>
                </a:r>
              </a:p>
              <a:p>
                <a:pPr lvl="2"/>
                <a:r>
                  <a:rPr lang="en-US" sz="1600" dirty="0"/>
                  <a:t>1- MUC has to send a pulse signal (&gt;=10usec) to Trig pin by set the output pin to high for (&gt;=10usec) then set it to low.</a:t>
                </a:r>
              </a:p>
              <a:p>
                <a:pPr lvl="2"/>
                <a:r>
                  <a:rPr lang="en-US" sz="1600" dirty="0"/>
                  <a:t>2- Set capture in ICU configuration to rising edge.</a:t>
                </a:r>
              </a:p>
              <a:p>
                <a:pPr lvl="2"/>
                <a:r>
                  <a:rPr lang="en-US" sz="1600" dirty="0"/>
                  <a:t>3- Clear flag of ICU (ICF flag).</a:t>
                </a:r>
              </a:p>
              <a:p>
                <a:pPr lvl="2"/>
                <a:r>
                  <a:rPr lang="en-US" sz="1600" dirty="0"/>
                  <a:t>4- Wait until capture pin PORT0 (ICP) read high. for rising edge,</a:t>
                </a:r>
              </a:p>
              <a:p>
                <a:pPr lvl="2"/>
                <a:r>
                  <a:rPr lang="en-US" sz="1600" dirty="0"/>
                  <a:t>5- Clear timer register (TCNT) and ICU flag (ICF flag).</a:t>
                </a:r>
              </a:p>
              <a:p>
                <a:pPr lvl="2"/>
                <a:r>
                  <a:rPr lang="en-US" sz="1600" dirty="0"/>
                  <a:t>6- Set capture mode to falling edge.</a:t>
                </a:r>
              </a:p>
              <a:p>
                <a:pPr lvl="2"/>
                <a:r>
                  <a:rPr lang="en-US" sz="1600" dirty="0"/>
                  <a:t>7- Wait until capture pin PORT0 (ICP) read low. for falling edge.</a:t>
                </a:r>
              </a:p>
              <a:p>
                <a:pPr lvl="2"/>
                <a:r>
                  <a:rPr lang="en-US" sz="1600" dirty="0"/>
                  <a:t>8- Store the value in Timer counter register (OCR) in a variable </a:t>
                </a:r>
                <a:r>
                  <a:rPr lang="en-US" sz="1600" dirty="0" err="1"/>
                  <a:t>e.x</a:t>
                </a:r>
                <a:r>
                  <a:rPr lang="en-US" sz="1600" dirty="0"/>
                  <a:t>: (</a:t>
                </a:r>
                <a:r>
                  <a:rPr lang="en-US" sz="1600" dirty="0" err="1"/>
                  <a:t>tcount</a:t>
                </a:r>
                <a:r>
                  <a:rPr lang="en-US" sz="1600" dirty="0"/>
                  <a:t>).</a:t>
                </a:r>
              </a:p>
              <a:p>
                <a:pPr lvl="2"/>
                <a:r>
                  <a:rPr lang="en-US" sz="1600" dirty="0"/>
                  <a:t>9- Calculate the distance by the following formula: </a:t>
                </a:r>
              </a:p>
              <a:p>
                <a:pPr lvl="2"/>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𝐷𝑖𝑠𝑡𝑎𝑛𝑐𝑒</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𝑡</m:t>
                              </m:r>
                            </m:e>
                            <m:sub>
                              <m:r>
                                <a:rPr lang="en-US" sz="1600" i="1">
                                  <a:latin typeface="Cambria Math" panose="02040503050406030204" pitchFamily="18" charset="0"/>
                                </a:rPr>
                                <m:t>𝑐𝑜𝑢𝑛𝑡</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𝑡</m:t>
                              </m:r>
                            </m:e>
                            <m:sub>
                              <m:r>
                                <a:rPr lang="en-US" sz="1600" i="1">
                                  <a:latin typeface="Cambria Math" panose="02040503050406030204" pitchFamily="18" charset="0"/>
                                </a:rPr>
                                <m:t>𝐹𝑟𝑒𝑞</m:t>
                              </m:r>
                              <m:d>
                                <m:dPr>
                                  <m:ctrlPr>
                                    <a:rPr lang="en-US" sz="1600" i="1">
                                      <a:latin typeface="Cambria Math" panose="02040503050406030204" pitchFamily="18" charset="0"/>
                                    </a:rPr>
                                  </m:ctrlPr>
                                </m:dPr>
                                <m:e>
                                  <m:r>
                                    <a:rPr lang="en-US" sz="1600" i="1">
                                      <a:latin typeface="Cambria Math" panose="02040503050406030204" pitchFamily="18" charset="0"/>
                                    </a:rPr>
                                    <m:t>𝑡𝑖𝑐𝑘</m:t>
                                  </m:r>
                                </m:e>
                              </m:d>
                            </m:sub>
                          </m:sSub>
                        </m:num>
                        <m:den>
                          <m:r>
                            <a:rPr lang="en-US" sz="1600" b="0" i="1" smtClean="0">
                              <a:latin typeface="Cambria Math" panose="02040503050406030204" pitchFamily="18" charset="0"/>
                            </a:rPr>
                            <m:t>2</m:t>
                          </m:r>
                        </m:den>
                      </m:f>
                      <m:r>
                        <a:rPr lang="en-US" sz="1600" b="0" i="1" smtClean="0">
                          <a:latin typeface="Cambria Math" panose="02040503050406030204" pitchFamily="18" charset="0"/>
                        </a:rPr>
                        <m:t>∗</m:t>
                      </m:r>
                      <m:r>
                        <a:rPr lang="en-US" sz="1600" b="0" i="1" smtClean="0">
                          <a:latin typeface="Cambria Math" panose="02040503050406030204" pitchFamily="18" charset="0"/>
                        </a:rPr>
                        <m:t>340</m:t>
                      </m:r>
                      <m:r>
                        <a:rPr lang="en-US" sz="1600" b="0" i="1" smtClean="0">
                          <a:latin typeface="Cambria Math" panose="02040503050406030204" pitchFamily="18" charset="0"/>
                        </a:rPr>
                        <m:t>=…(</m:t>
                      </m:r>
                      <m:r>
                        <a:rPr lang="en-US" sz="1600" b="0" i="1" smtClean="0">
                          <a:latin typeface="Cambria Math" panose="02040503050406030204" pitchFamily="18" charset="0"/>
                        </a:rPr>
                        <m:t>𝑚</m:t>
                      </m:r>
                      <m:r>
                        <a:rPr lang="en-US" sz="1600" b="0" i="1" smtClean="0">
                          <a:latin typeface="Cambria Math" panose="02040503050406030204" pitchFamily="18" charset="0"/>
                        </a:rPr>
                        <m:t>)</m:t>
                      </m:r>
                    </m:oMath>
                  </m:oMathPara>
                </a14:m>
                <a:endParaRPr lang="en-US" sz="1600" dirty="0"/>
              </a:p>
              <a:p>
                <a:pPr lvl="2"/>
                <a:endParaRPr lang="en-US" sz="1600" dirty="0"/>
              </a:p>
              <a:p>
                <a:pPr lvl="1"/>
                <a:endParaRPr lang="en-US" sz="1600" dirty="0"/>
              </a:p>
              <a:p>
                <a:pPr lvl="1"/>
                <a:r>
                  <a:rPr lang="en-US" sz="1600" dirty="0"/>
                  <a:t>	 </a:t>
                </a:r>
              </a:p>
            </p:txBody>
          </p:sp>
        </mc:Choice>
        <mc:Fallback>
          <p:sp>
            <p:nvSpPr>
              <p:cNvPr id="4" name="Rectangle 3"/>
              <p:cNvSpPr>
                <a:spLocks noRot="1" noChangeAspect="1" noMove="1" noResize="1" noEditPoints="1" noAdjustHandles="1" noChangeArrowheads="1" noChangeShapeType="1" noTextEdit="1"/>
              </p:cNvSpPr>
              <p:nvPr/>
            </p:nvSpPr>
            <p:spPr>
              <a:xfrm>
                <a:off x="304801" y="998561"/>
                <a:ext cx="8534399" cy="4000454"/>
              </a:xfrm>
              <a:prstGeom prst="rect">
                <a:avLst/>
              </a:prstGeom>
              <a:blipFill>
                <a:blip r:embed="rId5"/>
                <a:stretch>
                  <a:fillRect t="-457"/>
                </a:stretch>
              </a:blipFill>
            </p:spPr>
            <p:txBody>
              <a:bodyPr/>
              <a:lstStyle/>
              <a:p>
                <a:r>
                  <a:rPr lang="en-US">
                    <a:noFill/>
                  </a:rPr>
                  <a:t> </a:t>
                </a:r>
              </a:p>
            </p:txBody>
          </p:sp>
        </mc:Fallback>
      </mc:AlternateContent>
    </p:spTree>
    <p:extLst>
      <p:ext uri="{BB962C8B-B14F-4D97-AF65-F5344CB8AC3E}">
        <p14:creationId xmlns:p14="http://schemas.microsoft.com/office/powerpoint/2010/main" val="412770437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theme1.xml><?xml version="1.0" encoding="utf-8"?>
<a:theme xmlns:a="http://schemas.openxmlformats.org/drawingml/2006/main" name="notes">
  <a:themeElements>
    <a:clrScheme name="note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not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defRPr>
        </a:defPPr>
      </a:lstStyle>
    </a:lnDef>
  </a:objectDefaults>
  <a:extraClrSchemeLst>
    <a:extraClrScheme>
      <a:clrScheme name="note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note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notes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notes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note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note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note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25535</TotalTime>
  <Words>5224</Words>
  <Application>Microsoft Office PowerPoint</Application>
  <PresentationFormat>On-screen Show (4:3)</PresentationFormat>
  <Paragraphs>576</Paragraphs>
  <Slides>46</Slides>
  <Notes>46</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46</vt:i4>
      </vt:variant>
    </vt:vector>
  </HeadingPairs>
  <TitlesOfParts>
    <vt:vector size="60" baseType="lpstr">
      <vt:lpstr>Abel</vt:lpstr>
      <vt:lpstr>Arial</vt:lpstr>
      <vt:lpstr>Calibri</vt:lpstr>
      <vt:lpstr>Cambria Math</vt:lpstr>
      <vt:lpstr>Consolas</vt:lpstr>
      <vt:lpstr>Courier New</vt:lpstr>
      <vt:lpstr>Helvetica Neue</vt:lpstr>
      <vt:lpstr>inherit</vt:lpstr>
      <vt:lpstr>Open Sans</vt:lpstr>
      <vt:lpstr>Roboto</vt:lpstr>
      <vt:lpstr>Times New Roman</vt:lpstr>
      <vt:lpstr>Verdana</vt:lpstr>
      <vt:lpstr>Wingdings</vt:lpstr>
      <vt:lpstr>notes</vt:lpstr>
      <vt:lpstr>AVR Interfacing   Timer</vt:lpstr>
      <vt:lpstr> Agenda</vt:lpstr>
      <vt:lpstr> Timer Introduction</vt:lpstr>
      <vt:lpstr> Timer Introduction</vt:lpstr>
      <vt:lpstr> Timer Introduction</vt:lpstr>
      <vt:lpstr> AVR Overflow mode</vt:lpstr>
      <vt:lpstr>AVR Overflow mode</vt:lpstr>
      <vt:lpstr> AVR Overflow mode</vt:lpstr>
      <vt:lpstr>AVR Overflow mode</vt:lpstr>
      <vt:lpstr>AVR Overflow mode</vt:lpstr>
      <vt:lpstr>AVR Overflow mode</vt:lpstr>
      <vt:lpstr>AVR Overflow mode</vt:lpstr>
      <vt:lpstr>AVR Overflow mode</vt:lpstr>
      <vt:lpstr>AVR Overflow mode</vt:lpstr>
      <vt:lpstr>AVR Compare match mode (CTC)</vt:lpstr>
      <vt:lpstr>AVR Compare match mode (CTC)</vt:lpstr>
      <vt:lpstr>AVR Compare match mode (CTC)</vt:lpstr>
      <vt:lpstr>AVR Compare match mode (CTC)</vt:lpstr>
      <vt:lpstr>AVR Compare match mode (CTC)</vt:lpstr>
      <vt:lpstr>AVR Compare match mode (CTC)</vt:lpstr>
      <vt:lpstr>AVR Compare match mode (CTC)</vt:lpstr>
      <vt:lpstr>AVR Compare match mode (CTC)</vt:lpstr>
      <vt:lpstr>AVR Compare match mode (CTC)</vt:lpstr>
      <vt:lpstr>AVR Compare match mode (CTC)</vt:lpstr>
      <vt:lpstr>AVR Compare match mode (CTC)</vt:lpstr>
      <vt:lpstr>AVR Compare match mode (CTC)</vt:lpstr>
      <vt:lpstr>AVR Compare match mode (CTC)</vt:lpstr>
      <vt:lpstr>AVR Compare match mode (CTC)</vt:lpstr>
      <vt:lpstr>AVR Pulse width modulation mode (PWM)</vt:lpstr>
      <vt:lpstr>AVR Pulse width modulation mode (PWM)</vt:lpstr>
      <vt:lpstr>AVR Pulse width modulation mode (PWM)</vt:lpstr>
      <vt:lpstr>AVR Pulse width modulation mode (PWM)</vt:lpstr>
      <vt:lpstr>AVR Pulse width modulation mode (PWM)</vt:lpstr>
      <vt:lpstr>AVR Pulse width modulation mode (PWM)</vt:lpstr>
      <vt:lpstr>AVR Pulse width modulation mode (PWM)</vt:lpstr>
      <vt:lpstr>AVR Pulse width modulation mode (PWM)</vt:lpstr>
      <vt:lpstr>AVR Timer Input Capture Mode (ICU)</vt:lpstr>
      <vt:lpstr>AVR Timer Input Capture Mode (ICU)</vt:lpstr>
      <vt:lpstr>AVR Timer Input Capture Mode (ICU)</vt:lpstr>
      <vt:lpstr>AVR Timer Input Capture Mode (ICU)</vt:lpstr>
      <vt:lpstr>AVR Timer Input Capture Mode (ICU)</vt:lpstr>
      <vt:lpstr>AVR Timer Input Capture Mode (ICU)</vt:lpstr>
      <vt:lpstr>AVR Timer Input Capture Mode (ICU)</vt:lpstr>
      <vt:lpstr>AVR Timer Input Capture Mode (ICU)</vt:lpstr>
      <vt:lpstr>AVR Timer Input Capture Mode (ICU)</vt:lpstr>
      <vt:lpstr>AVR Timer Input Capture Mode (ICU)</vt:lpstr>
    </vt:vector>
  </TitlesOfParts>
  <Company>PyramidTech,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Magnetostatic Fields</dc:title>
  <dc:creator>Ahmed Abou-Auf</dc:creator>
  <cp:lastModifiedBy>mostafa mahmoud</cp:lastModifiedBy>
  <cp:revision>685</cp:revision>
  <cp:lastPrinted>2005-07-04T07:58:56Z</cp:lastPrinted>
  <dcterms:created xsi:type="dcterms:W3CDTF">2005-04-15T08:10:26Z</dcterms:created>
  <dcterms:modified xsi:type="dcterms:W3CDTF">2022-03-11T14:54:10Z</dcterms:modified>
</cp:coreProperties>
</file>